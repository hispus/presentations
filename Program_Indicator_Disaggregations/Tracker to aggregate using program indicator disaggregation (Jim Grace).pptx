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9"/>
  </p:notesMasterIdLst>
  <p:sldIdLst>
    <p:sldId id="256" r:id="rId2"/>
    <p:sldId id="259" r:id="rId3"/>
    <p:sldId id="270" r:id="rId4"/>
    <p:sldId id="273" r:id="rId5"/>
    <p:sldId id="292" r:id="rId6"/>
    <p:sldId id="271" r:id="rId7"/>
    <p:sldId id="272" r:id="rId8"/>
    <p:sldId id="287" r:id="rId9"/>
    <p:sldId id="286" r:id="rId10"/>
    <p:sldId id="274" r:id="rId11"/>
    <p:sldId id="275" r:id="rId12"/>
    <p:sldId id="276" r:id="rId13"/>
    <p:sldId id="288" r:id="rId14"/>
    <p:sldId id="277" r:id="rId15"/>
    <p:sldId id="293" r:id="rId16"/>
    <p:sldId id="280" r:id="rId17"/>
    <p:sldId id="289" r:id="rId18"/>
    <p:sldId id="294" r:id="rId19"/>
    <p:sldId id="282" r:id="rId20"/>
    <p:sldId id="290" r:id="rId21"/>
    <p:sldId id="291" r:id="rId22"/>
    <p:sldId id="295" r:id="rId23"/>
    <p:sldId id="278" r:id="rId24"/>
    <p:sldId id="283" r:id="rId25"/>
    <p:sldId id="284" r:id="rId26"/>
    <p:sldId id="285" r:id="rId27"/>
    <p:sldId id="269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FAF35E-2E90-4628-B703-AAD4FDC42FBE}">
  <a:tblStyle styleId="{A1FAF35E-2E90-4628-B703-AAD4FDC42F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11"/>
    <p:restoredTop sz="94650"/>
  </p:normalViewPr>
  <p:slideViewPr>
    <p:cSldViewPr snapToGrid="0">
      <p:cViewPr varScale="1">
        <p:scale>
          <a:sx n="166" d="100"/>
          <a:sy n="166" d="100"/>
        </p:scale>
        <p:origin x="32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da1b95e4c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" name="Google Shape;85;g35da1b95e4c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B4D4027-22E0-9AFC-3B57-4F9553E4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A7C14603-8C63-B79C-2808-ACED0E2C7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C4E5AD42-484F-BEF2-11BB-5116B3F9B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7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286DA7B-5893-0994-5EAE-3A7C4741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70DF5590-BF1B-0D23-54EE-1BD4790ED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D1689106-0122-B1C9-3C19-1C5408C9F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935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820A720-1100-647B-4931-17C0B6B0F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14883150-797C-F6D9-BE14-84735EF3F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98F1B260-9CC0-A078-73DE-0398C7A9A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94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210A549-BBD2-AA30-1B11-368E1827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5ECAC39A-A17C-411D-A2AA-DA9D877D3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24E4AD9C-3C92-479D-A0CD-C3988A8CB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878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78516B0-ECDC-87D5-4F06-566481E2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E24FF5C9-6A10-E473-F350-2A68F4938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6F0B08AC-23B8-00DB-AC0D-A02826D3D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087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CD4615-DBE6-9D1C-6B33-ADEB842A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EC5DABBC-08CA-C367-D50F-58B5D125F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56A08BDF-6AD5-DF12-FFFB-B1F80B215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553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AF8B8ED-A460-8036-A52B-C87E453F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22F4F1A2-6F3B-5F36-C0A6-F305EE896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89597C21-5522-1F32-5D8F-0B8217A4E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630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727D6B5-A19B-6D94-E7DE-5D976EEE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3431C32B-96EC-3506-8882-1298BFD98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83D7B45E-D6DB-B00F-D23F-D6D1D4F83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809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1E3D341E-5624-46D2-EB23-8217B4F8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48DA2A66-CCD5-6188-C04B-A7FC76370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50F628E7-DE6D-1940-98CE-EA65ECB7C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873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9056DA3-A002-382E-5708-58F01110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A52D02F3-2C44-8853-CB58-01EEA7961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3536A31A-3DBC-C87A-AD70-69CA1F6E6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920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B65A6441-B914-BA7B-F66B-A714DC68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F9673295-2AFC-8ACB-6A49-F8DB1756D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CFF6ED82-8D10-FE21-C3E8-FB1FD61D3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984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B200F9-1C92-759D-2506-D9710321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C54148FD-B2D2-42DB-414D-3C6C832D3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39C527D0-800C-E162-B8A1-1F5E3ED12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346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6B686A5-AFCA-45A6-2587-6CF63974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4BEB8D76-07F0-0B90-FCA3-CEDA25CF6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CB6EFA9C-E447-1DBE-ED52-1F8AAF44B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382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343E19E-9E81-13C7-2E11-E9E4BF3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6B744FF3-1D53-2763-EADB-80A22299C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5E2E61D3-03BF-E14D-3B70-29ADA26DF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395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73AFA8F-762D-F857-3B0E-9DA9C7D4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a1b95e4c_0_425:notes">
            <a:extLst>
              <a:ext uri="{FF2B5EF4-FFF2-40B4-BE49-F238E27FC236}">
                <a16:creationId xmlns:a16="http://schemas.microsoft.com/office/drawing/2014/main" id="{956E8F72-F0EB-2494-3170-C5D234F48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" name="Google Shape;106;g35da1b95e4c_0_425:notes">
            <a:extLst>
              <a:ext uri="{FF2B5EF4-FFF2-40B4-BE49-F238E27FC236}">
                <a16:creationId xmlns:a16="http://schemas.microsoft.com/office/drawing/2014/main" id="{0190B9A8-FDFD-C2C6-6420-A52BDE90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9151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804C60F-78AC-4583-4532-BA277403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AC911C55-B1B5-814F-86F6-7950CEAF8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833A600F-D06F-1940-E27F-97C5B2D32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762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516EF4E-9B0B-F500-A683-03BEDDF0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1666BB24-F22D-9C18-0146-11DD58840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61659091-8F1D-8472-0DAE-8B636AFF0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550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4195BF2-FF21-6027-41CB-BBB8A224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137FF832-445B-CCA5-F706-FE06D2C83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E6C1FE14-BA52-5079-FCD1-8EDB4FDC0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151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B2DAE90-92F3-0957-AA42-4917F502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DC605F43-B2A1-308B-BBAE-F13ED5F38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CCD103B0-0247-196D-08BA-44585F653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937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0F7C042-B57A-4C7B-11CF-F7A6A281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1C564B77-0059-73AD-93C7-FA46ACD7E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112FB930-D2BD-F851-507D-F4024D0E7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1803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EE56831-50DE-EDA5-F614-9815D4DF3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48EF0D51-4C43-5BDF-8F36-80C140BAB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6AC7C722-CCB3-8E0F-028A-FAA8EFC7F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380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272DCBC-2147-32C3-0D4A-A044C03D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E7705522-8347-6DFA-7AB7-F4AF24948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F624F0BA-B2B5-8C3C-D3D7-3B55B1FBB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816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1A7F21D3-9377-8DC3-2ADB-17D3619F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0c8d65c45_0_136:notes">
            <a:extLst>
              <a:ext uri="{FF2B5EF4-FFF2-40B4-BE49-F238E27FC236}">
                <a16:creationId xmlns:a16="http://schemas.microsoft.com/office/drawing/2014/main" id="{C22EF22A-EA4E-A476-DA06-37D756644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2" name="Google Shape;132;g360c8d65c45_0_136:notes">
            <a:extLst>
              <a:ext uri="{FF2B5EF4-FFF2-40B4-BE49-F238E27FC236}">
                <a16:creationId xmlns:a16="http://schemas.microsoft.com/office/drawing/2014/main" id="{A9C621A7-93D2-EFCB-E6AB-BDC06B4BA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7847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daa11abdd_0_2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Google Shape;200;g35daa11abdd_0_2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9337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8100" y="-36375"/>
            <a:ext cx="9250500" cy="5213700"/>
          </a:xfrm>
          <a:prstGeom prst="rect">
            <a:avLst/>
          </a:prstGeom>
          <a:gradFill>
            <a:gsLst>
              <a:gs pos="0">
                <a:srgbClr val="4AB660"/>
              </a:gs>
              <a:gs pos="0">
                <a:srgbClr val="4AB660"/>
              </a:gs>
              <a:gs pos="79000">
                <a:srgbClr val="13487E"/>
              </a:gs>
              <a:gs pos="100000">
                <a:srgbClr val="09337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57850" y="1423400"/>
            <a:ext cx="6971400" cy="7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57850" y="4400850"/>
            <a:ext cx="50967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93371"/>
              </a:buClr>
              <a:buSzPts val="1700"/>
              <a:buNone/>
              <a:defRPr sz="2300">
                <a:solidFill>
                  <a:srgbClr val="09337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12;p2" title="Logo_DAC2026_RGB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7045" y="308375"/>
            <a:ext cx="2421151" cy="5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59300" y="19222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/>
          <p:nvPr/>
        </p:nvSpPr>
        <p:spPr>
          <a:xfrm rot="10800000">
            <a:off x="8942850" y="-15950"/>
            <a:ext cx="200100" cy="4588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33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8942850" y="4296775"/>
            <a:ext cx="203100" cy="846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B6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85101" y="4367050"/>
            <a:ext cx="125500" cy="1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 rot="5400000">
            <a:off x="8389875" y="3869950"/>
            <a:ext cx="1318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#DAC2026</a:t>
            </a:r>
            <a:endParaRPr sz="1100" b="1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/>
          <p:nvPr/>
        </p:nvSpPr>
        <p:spPr>
          <a:xfrm rot="10800000">
            <a:off x="8942850" y="-15950"/>
            <a:ext cx="200100" cy="4588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33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8942850" y="4296775"/>
            <a:ext cx="203100" cy="846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B6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85101" y="4367050"/>
            <a:ext cx="125500" cy="1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/>
        </p:nvSpPr>
        <p:spPr>
          <a:xfrm rot="5400000">
            <a:off x="8389875" y="3869950"/>
            <a:ext cx="1318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#DAC2026</a:t>
            </a:r>
            <a:endParaRPr sz="1100" b="1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 rot="10800000">
            <a:off x="8942850" y="-15950"/>
            <a:ext cx="200100" cy="4588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33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8942850" y="4296775"/>
            <a:ext cx="203100" cy="846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B6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85101" y="4367050"/>
            <a:ext cx="125500" cy="1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/>
        </p:nvSpPr>
        <p:spPr>
          <a:xfrm rot="5400000">
            <a:off x="8389875" y="3869950"/>
            <a:ext cx="1318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#DAC2026</a:t>
            </a:r>
            <a:endParaRPr sz="1100" b="1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8"/>
          <p:cNvSpPr/>
          <p:nvPr/>
        </p:nvSpPr>
        <p:spPr>
          <a:xfrm rot="10800000">
            <a:off x="8942850" y="-15950"/>
            <a:ext cx="200100" cy="4588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33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8942850" y="4296775"/>
            <a:ext cx="203100" cy="846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B6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85101" y="4367050"/>
            <a:ext cx="125500" cy="1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/>
        </p:nvSpPr>
        <p:spPr>
          <a:xfrm rot="5400000">
            <a:off x="8389875" y="3869950"/>
            <a:ext cx="13182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#DAC2026</a:t>
            </a:r>
            <a:endParaRPr sz="1100" b="1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9337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646350" y="497350"/>
            <a:ext cx="5988600" cy="4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ubik SemiBold"/>
              <a:buNone/>
              <a:defRPr sz="2600" i="1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bg>
      <p:bgPr>
        <a:solidFill>
          <a:srgbClr val="09337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-38100" y="-36375"/>
            <a:ext cx="9250500" cy="5213700"/>
          </a:xfrm>
          <a:prstGeom prst="rect">
            <a:avLst/>
          </a:prstGeom>
          <a:gradFill>
            <a:gsLst>
              <a:gs pos="0">
                <a:srgbClr val="4AB660"/>
              </a:gs>
              <a:gs pos="0">
                <a:srgbClr val="4AB660"/>
              </a:gs>
              <a:gs pos="79000">
                <a:srgbClr val="13487E"/>
              </a:gs>
              <a:gs pos="100000">
                <a:srgbClr val="09337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/>
        </p:nvSpPr>
        <p:spPr>
          <a:xfrm>
            <a:off x="8576155" y="4771208"/>
            <a:ext cx="31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457200" y="273844"/>
            <a:ext cx="8229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457200" y="1107281"/>
            <a:ext cx="8229600" cy="3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08337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bg>
      <p:bgPr>
        <a:solidFill>
          <a:srgbClr val="4AB66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his2.org/en/full/develop/dhis-core-version-master/developer-manual.html#webapi_program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7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657850" y="1423400"/>
            <a:ext cx="6971400" cy="1148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Tracker to aggregate using</a:t>
            </a:r>
            <a:br>
              <a:rPr lang="en" dirty="0"/>
            </a:br>
            <a:r>
              <a:rPr lang="en" dirty="0"/>
              <a:t>program indicator disaggregation</a:t>
            </a:r>
            <a:endParaRPr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7A0EBB3-3CBC-CAA9-81E1-A201B899731F}"/>
              </a:ext>
            </a:extLst>
          </p:cNvPr>
          <p:cNvSpPr txBox="1"/>
          <p:nvPr/>
        </p:nvSpPr>
        <p:spPr>
          <a:xfrm>
            <a:off x="1788376" y="4089498"/>
            <a:ext cx="1568720" cy="7364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576" rIns="0" bIns="45720" rtlCol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600" dirty="0">
                <a:solidFill>
                  <a:schemeClr val="tx1"/>
                </a:solidFill>
                <a:latin typeface="Tahoma"/>
                <a:cs typeface="Tahoma"/>
              </a:rPr>
              <a:t>Jim Grace</a:t>
            </a:r>
          </a:p>
          <a:p>
            <a:pPr algn="ctr">
              <a:lnSpc>
                <a:spcPts val="2670"/>
              </a:lnSpc>
            </a:pP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jim@dhis2.org </a:t>
            </a:r>
            <a:endParaRPr sz="18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1059FBA-0858-FE96-3357-93881D09F91F}"/>
              </a:ext>
            </a:extLst>
          </p:cNvPr>
          <p:cNvSpPr txBox="1"/>
          <p:nvPr/>
        </p:nvSpPr>
        <p:spPr>
          <a:xfrm>
            <a:off x="4572000" y="4100772"/>
            <a:ext cx="2467562" cy="7364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576" rIns="0" bIns="45720" rtlCol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Elmarie Claasen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elmarie@hisp.org</a:t>
            </a:r>
            <a:endParaRPr lang="en-US" sz="1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990"/>
            </a:pPr>
            <a:r>
              <a:rPr lang="en" sz="3000" dirty="0">
                <a:solidFill>
                  <a:srgbClr val="093371"/>
                </a:solidFill>
              </a:rPr>
              <a:t>Agenda</a:t>
            </a:r>
            <a:endParaRPr sz="3000"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1288911" y="1689651"/>
            <a:ext cx="6566178" cy="2859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sz="2400" dirty="0"/>
              <a:t>How it works</a:t>
            </a:r>
            <a:endParaRPr lang="en-US" sz="2000" dirty="0"/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Implementations (Ghana and South Africa)</a:t>
            </a:r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Tips and Tricks</a:t>
            </a:r>
            <a:endParaRPr lang="en-US" sz="2000" dirty="0"/>
          </a:p>
        </p:txBody>
      </p:sp>
      <p:cxnSp>
        <p:nvCxnSpPr>
          <p:cNvPr id="2" name="Google Shape;141;p22">
            <a:extLst>
              <a:ext uri="{FF2B5EF4-FFF2-40B4-BE49-F238E27FC236}">
                <a16:creationId xmlns:a16="http://schemas.microsoft.com/office/drawing/2014/main" id="{F86F9372-B67A-5DC8-DBB9-E7011A8121C2}"/>
              </a:ext>
            </a:extLst>
          </p:cNvPr>
          <p:cNvCxnSpPr>
            <a:cxnSpLocks/>
          </p:cNvCxnSpPr>
          <p:nvPr/>
        </p:nvCxnSpPr>
        <p:spPr>
          <a:xfrm>
            <a:off x="488012" y="2035036"/>
            <a:ext cx="543273" cy="3460"/>
          </a:xfrm>
          <a:prstGeom prst="straightConnector1">
            <a:avLst/>
          </a:prstGeom>
          <a:ln w="603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87;p24">
            <a:extLst>
              <a:ext uri="{FF2B5EF4-FFF2-40B4-BE49-F238E27FC236}">
                <a16:creationId xmlns:a16="http://schemas.microsoft.com/office/drawing/2014/main" id="{F34A7A58-B9A6-0765-94E0-2D0619649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2304" y="3780278"/>
            <a:ext cx="4087367" cy="1149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Faster analytics using summarized aggregate data values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A3CA7C56-42F5-69F7-D2AC-3582D5AB5590}"/>
              </a:ext>
            </a:extLst>
          </p:cNvPr>
          <p:cNvSpPr/>
          <p:nvPr/>
        </p:nvSpPr>
        <p:spPr>
          <a:xfrm>
            <a:off x="6384898" y="1252728"/>
            <a:ext cx="1966532" cy="2765477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08;p21">
            <a:extLst>
              <a:ext uri="{FF2B5EF4-FFF2-40B4-BE49-F238E27FC236}">
                <a16:creationId xmlns:a16="http://schemas.microsoft.com/office/drawing/2014/main" id="{3878FB71-3623-2D3C-1950-F6BE72B7F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US" sz="3200" dirty="0"/>
              <a:t>Tracker to Aggregate (T-to-A)</a:t>
            </a:r>
            <a:endParaRPr sz="3000" dirty="0"/>
          </a:p>
        </p:txBody>
      </p:sp>
      <p:sp>
        <p:nvSpPr>
          <p:cNvPr id="30" name="Google Shape;145;p22">
            <a:extLst>
              <a:ext uri="{FF2B5EF4-FFF2-40B4-BE49-F238E27FC236}">
                <a16:creationId xmlns:a16="http://schemas.microsoft.com/office/drawing/2014/main" id="{A90E157F-4897-FD57-BC8A-6572581A9E63}"/>
              </a:ext>
            </a:extLst>
          </p:cNvPr>
          <p:cNvSpPr txBox="1"/>
          <p:nvPr/>
        </p:nvSpPr>
        <p:spPr>
          <a:xfrm>
            <a:off x="6384896" y="2156888"/>
            <a:ext cx="1966533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Event analytics</a:t>
            </a:r>
          </a:p>
          <a:p>
            <a:pPr lvl="0" algn="ctr"/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data values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4FCB98E1-63C0-E88B-268B-220CC2C7F4AA}"/>
              </a:ext>
            </a:extLst>
          </p:cNvPr>
          <p:cNvSpPr/>
          <p:nvPr/>
        </p:nvSpPr>
        <p:spPr>
          <a:xfrm>
            <a:off x="4571947" y="2443090"/>
            <a:ext cx="1812948" cy="976766"/>
          </a:xfrm>
          <a:custGeom>
            <a:avLst/>
            <a:gdLst>
              <a:gd name="csX0" fmla="*/ 1664261 w 1664261"/>
              <a:gd name="csY0" fmla="*/ 0 h 1170432"/>
              <a:gd name="csX1" fmla="*/ 53 w 1664261"/>
              <a:gd name="csY1" fmla="*/ 365760 h 1170432"/>
              <a:gd name="csX2" fmla="*/ 1618541 w 1664261"/>
              <a:gd name="csY2" fmla="*/ 1170432 h 1170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64261" h="1170432">
                <a:moveTo>
                  <a:pt x="1664261" y="0"/>
                </a:moveTo>
                <a:cubicBezTo>
                  <a:pt x="835967" y="85344"/>
                  <a:pt x="7673" y="170688"/>
                  <a:pt x="53" y="365760"/>
                </a:cubicBezTo>
                <a:cubicBezTo>
                  <a:pt x="-7567" y="560832"/>
                  <a:pt x="805487" y="865632"/>
                  <a:pt x="1618541" y="1170432"/>
                </a:cubicBezTo>
              </a:path>
            </a:pathLst>
          </a:custGeom>
          <a:noFill/>
          <a:ln>
            <a:tailEnd type="arrow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Google Shape;145;p22">
            <a:extLst>
              <a:ext uri="{FF2B5EF4-FFF2-40B4-BE49-F238E27FC236}">
                <a16:creationId xmlns:a16="http://schemas.microsoft.com/office/drawing/2014/main" id="{DE104368-45CE-01C3-2BF5-1CE42CF0A6EE}"/>
              </a:ext>
            </a:extLst>
          </p:cNvPr>
          <p:cNvSpPr txBox="1"/>
          <p:nvPr/>
        </p:nvSpPr>
        <p:spPr>
          <a:xfrm>
            <a:off x="3227275" y="2156888"/>
            <a:ext cx="210504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Program indicator(s)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" name="Google Shape;145;p22">
            <a:extLst>
              <a:ext uri="{FF2B5EF4-FFF2-40B4-BE49-F238E27FC236}">
                <a16:creationId xmlns:a16="http://schemas.microsoft.com/office/drawing/2014/main" id="{34C28E30-3F85-6391-B77A-CB17247F0ABE}"/>
              </a:ext>
            </a:extLst>
          </p:cNvPr>
          <p:cNvSpPr txBox="1"/>
          <p:nvPr/>
        </p:nvSpPr>
        <p:spPr>
          <a:xfrm>
            <a:off x="2881728" y="2988999"/>
            <a:ext cx="245059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 Data Exchange</a:t>
            </a:r>
            <a:endParaRPr sz="1600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8CDA3FF-935E-4F78-2C20-79860418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gnetic Disk 14">
            <a:extLst>
              <a:ext uri="{FF2B5EF4-FFF2-40B4-BE49-F238E27FC236}">
                <a16:creationId xmlns:a16="http://schemas.microsoft.com/office/drawing/2014/main" id="{E4253989-EA66-B139-A4DF-96F82688E7F2}"/>
              </a:ext>
            </a:extLst>
          </p:cNvPr>
          <p:cNvSpPr/>
          <p:nvPr/>
        </p:nvSpPr>
        <p:spPr>
          <a:xfrm>
            <a:off x="584554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87;p24">
            <a:extLst>
              <a:ext uri="{FF2B5EF4-FFF2-40B4-BE49-F238E27FC236}">
                <a16:creationId xmlns:a16="http://schemas.microsoft.com/office/drawing/2014/main" id="{8976E20B-F79C-24A6-93F9-8BA0FE7AE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45920" y="3229349"/>
            <a:ext cx="5414968" cy="1534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Faster analytics using summarized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aggregate data values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Tracker data need not exist on target instance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4AC81BB2-120D-435D-F656-16CFFE71E492}"/>
              </a:ext>
            </a:extLst>
          </p:cNvPr>
          <p:cNvSpPr/>
          <p:nvPr/>
        </p:nvSpPr>
        <p:spPr>
          <a:xfrm>
            <a:off x="6384898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08;p21">
            <a:extLst>
              <a:ext uri="{FF2B5EF4-FFF2-40B4-BE49-F238E27FC236}">
                <a16:creationId xmlns:a16="http://schemas.microsoft.com/office/drawing/2014/main" id="{0AEB037B-32AA-CC3A-DD19-CE1B690BA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US" sz="3200" dirty="0"/>
              <a:t>Tracker to Aggregate (T-to-A), different instances</a:t>
            </a:r>
            <a:endParaRPr sz="3000" dirty="0"/>
          </a:p>
        </p:txBody>
      </p:sp>
      <p:cxnSp>
        <p:nvCxnSpPr>
          <p:cNvPr id="29" name="Google Shape;141;p22">
            <a:extLst>
              <a:ext uri="{FF2B5EF4-FFF2-40B4-BE49-F238E27FC236}">
                <a16:creationId xmlns:a16="http://schemas.microsoft.com/office/drawing/2014/main" id="{1F2A2C45-ECE8-9DBF-9D59-C264A59E2EDE}"/>
              </a:ext>
            </a:extLst>
          </p:cNvPr>
          <p:cNvCxnSpPr>
            <a:cxnSpLocks/>
          </p:cNvCxnSpPr>
          <p:nvPr/>
        </p:nvCxnSpPr>
        <p:spPr>
          <a:xfrm>
            <a:off x="2551086" y="2570378"/>
            <a:ext cx="383381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Google Shape;145;p22">
            <a:extLst>
              <a:ext uri="{FF2B5EF4-FFF2-40B4-BE49-F238E27FC236}">
                <a16:creationId xmlns:a16="http://schemas.microsoft.com/office/drawing/2014/main" id="{41228EC9-B6C9-A97D-FEF1-39D2A93F9F48}"/>
              </a:ext>
            </a:extLst>
          </p:cNvPr>
          <p:cNvSpPr txBox="1"/>
          <p:nvPr/>
        </p:nvSpPr>
        <p:spPr>
          <a:xfrm>
            <a:off x="6384896" y="2321480"/>
            <a:ext cx="196653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" name="Google Shape;145;p22">
            <a:extLst>
              <a:ext uri="{FF2B5EF4-FFF2-40B4-BE49-F238E27FC236}">
                <a16:creationId xmlns:a16="http://schemas.microsoft.com/office/drawing/2014/main" id="{DFA7BF8A-611B-2311-04CC-51BCD2F033BF}"/>
              </a:ext>
            </a:extLst>
          </p:cNvPr>
          <p:cNvSpPr txBox="1"/>
          <p:nvPr/>
        </p:nvSpPr>
        <p:spPr>
          <a:xfrm>
            <a:off x="578138" y="2326386"/>
            <a:ext cx="197294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Event analytics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45;p22">
            <a:extLst>
              <a:ext uri="{FF2B5EF4-FFF2-40B4-BE49-F238E27FC236}">
                <a16:creationId xmlns:a16="http://schemas.microsoft.com/office/drawing/2014/main" id="{3B01378F-5DB0-3149-3394-08AEE05B3675}"/>
              </a:ext>
            </a:extLst>
          </p:cNvPr>
          <p:cNvSpPr txBox="1"/>
          <p:nvPr/>
        </p:nvSpPr>
        <p:spPr>
          <a:xfrm>
            <a:off x="3236976" y="2139521"/>
            <a:ext cx="221284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Program indicator(s)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Google Shape;145;p22">
            <a:extLst>
              <a:ext uri="{FF2B5EF4-FFF2-40B4-BE49-F238E27FC236}">
                <a16:creationId xmlns:a16="http://schemas.microsoft.com/office/drawing/2014/main" id="{F962F779-BA2D-498A-4C37-B56B326EA5B6}"/>
              </a:ext>
            </a:extLst>
          </p:cNvPr>
          <p:cNvSpPr txBox="1"/>
          <p:nvPr/>
        </p:nvSpPr>
        <p:spPr>
          <a:xfrm>
            <a:off x="3163824" y="2536343"/>
            <a:ext cx="245059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 Data Exchange</a:t>
            </a:r>
            <a:endParaRPr sz="1600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44506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6818E18-27A8-A96E-9E90-C3D987CA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86285D5A-D634-E715-7AFC-53E491709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 b="1" dirty="0">
                <a:solidFill>
                  <a:srgbClr val="093371"/>
                </a:solidFill>
                <a:latin typeface="Rubik"/>
                <a:ea typeface="Rubik"/>
                <a:cs typeface="Rubik"/>
                <a:sym typeface="Rubik"/>
              </a:rPr>
              <a:t>Program </a:t>
            </a:r>
            <a:r>
              <a:rPr lang="en" sz="3000" dirty="0">
                <a:solidFill>
                  <a:srgbClr val="093371"/>
                </a:solidFill>
              </a:rPr>
              <a:t>i</a:t>
            </a:r>
            <a:r>
              <a:rPr lang="en" sz="3000" b="1" dirty="0">
                <a:solidFill>
                  <a:srgbClr val="093371"/>
                </a:solidFill>
                <a:latin typeface="Rubik"/>
                <a:ea typeface="Rubik"/>
                <a:cs typeface="Rubik"/>
                <a:sym typeface="Rubik"/>
              </a:rPr>
              <a:t>ndicator disaggregation</a:t>
            </a:r>
            <a:endParaRPr sz="3000" dirty="0"/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2D7BB351-BC65-3A70-8A95-8ACE19502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61618"/>
            <a:ext cx="8520600" cy="3695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sz="2400" dirty="0"/>
              <a:t>Adds disaggregation dimensions to a program indicator</a:t>
            </a:r>
            <a:br>
              <a:rPr lang="en-US" sz="2400" dirty="0"/>
            </a:br>
            <a:r>
              <a:rPr lang="en-US" sz="2400" dirty="0"/>
              <a:t>(for example, age and gender)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sz="2000" dirty="0"/>
              <a:t>category option combinations (COC)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sz="2000" dirty="0"/>
              <a:t>and/or attribute option combinations (AOC)</a:t>
            </a:r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Simplifies and speeds up T-to-A: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sz="2000" dirty="0"/>
              <a:t>Fewer program indicators needed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sz="2000" dirty="0"/>
              <a:t>Faster data access</a:t>
            </a:r>
          </a:p>
        </p:txBody>
      </p:sp>
    </p:spTree>
    <p:extLst>
      <p:ext uri="{BB962C8B-B14F-4D97-AF65-F5344CB8AC3E}">
        <p14:creationId xmlns:p14="http://schemas.microsoft.com/office/powerpoint/2010/main" val="20072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CC6909-E93F-F626-585A-9752B95B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gnetic Disk 14">
            <a:extLst>
              <a:ext uri="{FF2B5EF4-FFF2-40B4-BE49-F238E27FC236}">
                <a16:creationId xmlns:a16="http://schemas.microsoft.com/office/drawing/2014/main" id="{B45DB8A3-FBD7-D048-0D76-EBDBC5C29840}"/>
              </a:ext>
            </a:extLst>
          </p:cNvPr>
          <p:cNvSpPr/>
          <p:nvPr/>
        </p:nvSpPr>
        <p:spPr>
          <a:xfrm>
            <a:off x="584554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Google Shape;137;p22">
            <a:extLst>
              <a:ext uri="{FF2B5EF4-FFF2-40B4-BE49-F238E27FC236}">
                <a16:creationId xmlns:a16="http://schemas.microsoft.com/office/drawing/2014/main" id="{053FCAD5-29C6-BE5A-B68E-10B819373206}"/>
              </a:ext>
            </a:extLst>
          </p:cNvPr>
          <p:cNvSpPr/>
          <p:nvPr/>
        </p:nvSpPr>
        <p:spPr>
          <a:xfrm>
            <a:off x="3398452" y="1883872"/>
            <a:ext cx="2126250" cy="1366092"/>
          </a:xfrm>
          <a:prstGeom prst="flowChartMultidocumen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Count enrollments where dose = BCG AND age = 0-11 months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B8547C2A-8197-729B-01A7-6D9A6115008B}"/>
              </a:ext>
            </a:extLst>
          </p:cNvPr>
          <p:cNvSpPr txBox="1"/>
          <p:nvPr/>
        </p:nvSpPr>
        <p:spPr>
          <a:xfrm>
            <a:off x="3490731" y="1415297"/>
            <a:ext cx="21262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Program indicators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" name="Google Shape;187;p24">
            <a:extLst>
              <a:ext uri="{FF2B5EF4-FFF2-40B4-BE49-F238E27FC236}">
                <a16:creationId xmlns:a16="http://schemas.microsoft.com/office/drawing/2014/main" id="{21042390-F3B1-D566-4AA2-13197F0BB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38254" y="3460337"/>
            <a:ext cx="4109433" cy="1421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One program indicator for each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category option combination / attribute option combination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999E0D61-17D1-566D-2D9C-36864CFA5DA1}"/>
              </a:ext>
            </a:extLst>
          </p:cNvPr>
          <p:cNvSpPr/>
          <p:nvPr/>
        </p:nvSpPr>
        <p:spPr>
          <a:xfrm>
            <a:off x="6384898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08;p21">
            <a:extLst>
              <a:ext uri="{FF2B5EF4-FFF2-40B4-BE49-F238E27FC236}">
                <a16:creationId xmlns:a16="http://schemas.microsoft.com/office/drawing/2014/main" id="{A1F56A02-2C5E-F62A-52B9-4A7028F22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US" sz="3200" dirty="0"/>
              <a:t>T-to-A without program indicator disaggregation</a:t>
            </a:r>
            <a:br>
              <a:rPr lang="en-US" sz="3200" dirty="0"/>
            </a:br>
            <a:endParaRPr sz="3000" dirty="0"/>
          </a:p>
        </p:txBody>
      </p:sp>
      <p:cxnSp>
        <p:nvCxnSpPr>
          <p:cNvPr id="24" name="Google Shape;141;p22">
            <a:extLst>
              <a:ext uri="{FF2B5EF4-FFF2-40B4-BE49-F238E27FC236}">
                <a16:creationId xmlns:a16="http://schemas.microsoft.com/office/drawing/2014/main" id="{769567F0-1BA2-45BC-74CC-DD1F83246BD6}"/>
              </a:ext>
            </a:extLst>
          </p:cNvPr>
          <p:cNvCxnSpPr>
            <a:cxnSpLocks/>
          </p:cNvCxnSpPr>
          <p:nvPr/>
        </p:nvCxnSpPr>
        <p:spPr>
          <a:xfrm>
            <a:off x="2538255" y="2563416"/>
            <a:ext cx="860195" cy="346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Google Shape;141;p22">
            <a:extLst>
              <a:ext uri="{FF2B5EF4-FFF2-40B4-BE49-F238E27FC236}">
                <a16:creationId xmlns:a16="http://schemas.microsoft.com/office/drawing/2014/main" id="{34890EF6-CA10-B582-1FA9-F046E522EEA3}"/>
              </a:ext>
            </a:extLst>
          </p:cNvPr>
          <p:cNvCxnSpPr>
            <a:cxnSpLocks/>
          </p:cNvCxnSpPr>
          <p:nvPr/>
        </p:nvCxnSpPr>
        <p:spPr>
          <a:xfrm>
            <a:off x="5524702" y="2566918"/>
            <a:ext cx="860195" cy="346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Google Shape;145;p22">
            <a:extLst>
              <a:ext uri="{FF2B5EF4-FFF2-40B4-BE49-F238E27FC236}">
                <a16:creationId xmlns:a16="http://schemas.microsoft.com/office/drawing/2014/main" id="{4BDBCCEB-528D-F664-08F2-6182C50D1464}"/>
              </a:ext>
            </a:extLst>
          </p:cNvPr>
          <p:cNvSpPr txBox="1"/>
          <p:nvPr/>
        </p:nvSpPr>
        <p:spPr>
          <a:xfrm>
            <a:off x="6384896" y="2321480"/>
            <a:ext cx="196653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" name="Google Shape;145;p22">
            <a:extLst>
              <a:ext uri="{FF2B5EF4-FFF2-40B4-BE49-F238E27FC236}">
                <a16:creationId xmlns:a16="http://schemas.microsoft.com/office/drawing/2014/main" id="{4465158E-1007-F0B4-9718-5EAE592410F1}"/>
              </a:ext>
            </a:extLst>
          </p:cNvPr>
          <p:cNvSpPr txBox="1"/>
          <p:nvPr/>
        </p:nvSpPr>
        <p:spPr>
          <a:xfrm>
            <a:off x="578138" y="2326386"/>
            <a:ext cx="197294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Event analytics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86397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FDBB129-CCF6-492A-B628-405E29B9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gnetic Disk 14">
            <a:extLst>
              <a:ext uri="{FF2B5EF4-FFF2-40B4-BE49-F238E27FC236}">
                <a16:creationId xmlns:a16="http://schemas.microsoft.com/office/drawing/2014/main" id="{8D26C041-558A-0A13-73AC-1882DB970BBC}"/>
              </a:ext>
            </a:extLst>
          </p:cNvPr>
          <p:cNvSpPr/>
          <p:nvPr/>
        </p:nvSpPr>
        <p:spPr>
          <a:xfrm>
            <a:off x="584554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586D0D4B-9FD3-749F-CC9B-1F833A92A6A0}"/>
              </a:ext>
            </a:extLst>
          </p:cNvPr>
          <p:cNvSpPr txBox="1"/>
          <p:nvPr/>
        </p:nvSpPr>
        <p:spPr>
          <a:xfrm>
            <a:off x="3398452" y="1488449"/>
            <a:ext cx="21262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One program indicator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" name="Google Shape;187;p24">
            <a:extLst>
              <a:ext uri="{FF2B5EF4-FFF2-40B4-BE49-F238E27FC236}">
                <a16:creationId xmlns:a16="http://schemas.microsoft.com/office/drawing/2014/main" id="{52928AAD-17B4-18D5-1450-5A8B21D97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51085" y="3460238"/>
            <a:ext cx="3833811" cy="1421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One program indicator for </a:t>
            </a:r>
            <a:r>
              <a:rPr lang="en-US" sz="2000" b="1" i="1" dirty="0">
                <a:solidFill>
                  <a:schemeClr val="accent2"/>
                </a:solidFill>
              </a:rPr>
              <a:t>all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category option combinations and attribute option combinations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F0B72867-C133-339C-4BE4-5F4B77DD6455}"/>
              </a:ext>
            </a:extLst>
          </p:cNvPr>
          <p:cNvSpPr/>
          <p:nvPr/>
        </p:nvSpPr>
        <p:spPr>
          <a:xfrm>
            <a:off x="6384898" y="1911407"/>
            <a:ext cx="1966532" cy="1224501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08;p21">
            <a:extLst>
              <a:ext uri="{FF2B5EF4-FFF2-40B4-BE49-F238E27FC236}">
                <a16:creationId xmlns:a16="http://schemas.microsoft.com/office/drawing/2014/main" id="{51CF5C89-B116-98A8-7611-AC3F0DEB3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US" sz="3200" dirty="0"/>
              <a:t>T-to-A using program indicator disaggregation</a:t>
            </a:r>
            <a:br>
              <a:rPr lang="en-US" sz="3200" dirty="0"/>
            </a:br>
            <a:endParaRPr sz="3000" dirty="0"/>
          </a:p>
        </p:txBody>
      </p:sp>
      <p:cxnSp>
        <p:nvCxnSpPr>
          <p:cNvPr id="24" name="Google Shape;141;p22">
            <a:extLst>
              <a:ext uri="{FF2B5EF4-FFF2-40B4-BE49-F238E27FC236}">
                <a16:creationId xmlns:a16="http://schemas.microsoft.com/office/drawing/2014/main" id="{FFED2BE7-FE7B-BA47-C6EE-CF8BBB6CD4C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538255" y="2563416"/>
            <a:ext cx="933347" cy="1352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Google Shape;141;p22">
            <a:extLst>
              <a:ext uri="{FF2B5EF4-FFF2-40B4-BE49-F238E27FC236}">
                <a16:creationId xmlns:a16="http://schemas.microsoft.com/office/drawing/2014/main" id="{16002F2B-8D8E-11DE-5265-95AF94CA752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5444550" y="2570378"/>
            <a:ext cx="940347" cy="65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Google Shape;145;p22">
            <a:extLst>
              <a:ext uri="{FF2B5EF4-FFF2-40B4-BE49-F238E27FC236}">
                <a16:creationId xmlns:a16="http://schemas.microsoft.com/office/drawing/2014/main" id="{090D34EF-89CC-B0ED-99B0-C4D5B7D022A6}"/>
              </a:ext>
            </a:extLst>
          </p:cNvPr>
          <p:cNvSpPr txBox="1"/>
          <p:nvPr/>
        </p:nvSpPr>
        <p:spPr>
          <a:xfrm>
            <a:off x="6384896" y="2321480"/>
            <a:ext cx="196653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" name="Google Shape;145;p22">
            <a:extLst>
              <a:ext uri="{FF2B5EF4-FFF2-40B4-BE49-F238E27FC236}">
                <a16:creationId xmlns:a16="http://schemas.microsoft.com/office/drawing/2014/main" id="{71539D26-5D30-532B-988F-41FACD1D9D7C}"/>
              </a:ext>
            </a:extLst>
          </p:cNvPr>
          <p:cNvSpPr txBox="1"/>
          <p:nvPr/>
        </p:nvSpPr>
        <p:spPr>
          <a:xfrm>
            <a:off x="578138" y="2326386"/>
            <a:ext cx="197294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Event analytics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d</a:t>
            </a:r>
            <a:r>
              <a:rPr lang="en" sz="1600" i="1" dirty="0">
                <a:solidFill>
                  <a:schemeClr val="accent2"/>
                </a:solidFill>
                <a:latin typeface="Rubik"/>
                <a:ea typeface="Rubik"/>
                <a:cs typeface="Rubik"/>
                <a:sym typeface="Rubik"/>
              </a:rPr>
              <a:t>ata values</a:t>
            </a:r>
            <a:endParaRPr sz="1600" i="1" dirty="0">
              <a:solidFill>
                <a:schemeClr val="accent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E0236CAA-328E-2E8C-3ACA-6A8FD9E829AD}"/>
              </a:ext>
            </a:extLst>
          </p:cNvPr>
          <p:cNvSpPr/>
          <p:nvPr/>
        </p:nvSpPr>
        <p:spPr>
          <a:xfrm>
            <a:off x="3471602" y="2011094"/>
            <a:ext cx="1972948" cy="1131702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Count enrollments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(all disaggregations)</a:t>
            </a:r>
          </a:p>
        </p:txBody>
      </p:sp>
    </p:spTree>
    <p:extLst>
      <p:ext uri="{BB962C8B-B14F-4D97-AF65-F5344CB8AC3E}">
        <p14:creationId xmlns:p14="http://schemas.microsoft.com/office/powerpoint/2010/main" val="77405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85108A8-97EB-7157-E29E-B5DCF0E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ADDD91A9-0E10-0BF9-7524-45FC962969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 b="1" dirty="0">
                <a:solidFill>
                  <a:srgbClr val="093371"/>
                </a:solidFill>
                <a:latin typeface="Rubik"/>
                <a:ea typeface="Rubik"/>
                <a:cs typeface="Rubik"/>
                <a:sym typeface="Rubik"/>
              </a:rPr>
              <a:t>Category option filters</a:t>
            </a:r>
            <a:endParaRPr sz="3000" dirty="0"/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45FF2C8D-D98B-0DD9-8401-E2DB665AF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888" y="1445083"/>
            <a:ext cx="8585412" cy="3072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Category: </a:t>
            </a:r>
            <a:r>
              <a:rPr lang="en-US" sz="1900" b="1" dirty="0">
                <a:solidFill>
                  <a:schemeClr val="accent2"/>
                </a:solidFill>
              </a:rPr>
              <a:t>Gender</a:t>
            </a:r>
          </a:p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Female: #{Zj7UnCAulEk.oZg33kd9taw} == 'Female'</a:t>
            </a:r>
          </a:p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Male: #{Zj7UnCAulEk.oZg33kd9taw} == 'Male'</a:t>
            </a:r>
          </a:p>
          <a:p>
            <a:pPr marL="114300" indent="0">
              <a:buNone/>
            </a:pPr>
            <a:endParaRPr lang="en-US" sz="1900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Category: </a:t>
            </a:r>
            <a:r>
              <a:rPr lang="en-US" sz="1900" b="1" dirty="0">
                <a:solidFill>
                  <a:schemeClr val="accent2"/>
                </a:solidFill>
              </a:rPr>
              <a:t>Age</a:t>
            </a:r>
          </a:p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&lt;15: d2:yearsBetween(#{wYTF0YCHMWr.AZLp9Shoab9},V{</a:t>
            </a:r>
            <a:r>
              <a:rPr lang="en-US" sz="1900" dirty="0" err="1">
                <a:solidFill>
                  <a:schemeClr val="accent2"/>
                </a:solidFill>
              </a:rPr>
              <a:t>event_date</a:t>
            </a:r>
            <a:r>
              <a:rPr lang="en-US" sz="1900" dirty="0">
                <a:solidFill>
                  <a:schemeClr val="accent2"/>
                </a:solidFill>
              </a:rPr>
              <a:t>})&lt;15</a:t>
            </a:r>
          </a:p>
          <a:p>
            <a:pPr marL="114300" indent="0">
              <a:buNone/>
            </a:pPr>
            <a:r>
              <a:rPr lang="en-US" sz="1900" dirty="0">
                <a:solidFill>
                  <a:schemeClr val="accent2"/>
                </a:solidFill>
              </a:rPr>
              <a:t>15+: d2:yearsBetween(#{wYTF0YCHMWr.AZLp9Shoab9},V{</a:t>
            </a:r>
            <a:r>
              <a:rPr lang="en-US" sz="1900" dirty="0" err="1">
                <a:solidFill>
                  <a:schemeClr val="accent2"/>
                </a:solidFill>
              </a:rPr>
              <a:t>event_date</a:t>
            </a:r>
            <a:r>
              <a:rPr lang="en-US" sz="1900" dirty="0">
                <a:solidFill>
                  <a:schemeClr val="accent2"/>
                </a:solidFill>
              </a:rPr>
              <a:t>})&gt;=15</a:t>
            </a:r>
          </a:p>
          <a:p>
            <a:pPr marL="114300" indent="0">
              <a:buNone/>
            </a:pPr>
            <a:endParaRPr lang="en-US" sz="1900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endParaRPr lang="en-US" sz="1900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90890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9067668-205B-F566-515E-1EC651F9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0FEE6F3F-1BB7-98F0-839C-CC837E4B2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 b="1" dirty="0">
                <a:solidFill>
                  <a:srgbClr val="093371"/>
                </a:solidFill>
                <a:latin typeface="Rubik"/>
                <a:ea typeface="Rubik"/>
                <a:cs typeface="Rubik"/>
                <a:sym typeface="Rubik"/>
              </a:rPr>
              <a:t>Category mappings</a:t>
            </a:r>
            <a:endParaRPr sz="3000" dirty="0"/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3DF5F502-B168-FACB-A2F4-0FF9F1C5E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888" y="1161288"/>
            <a:ext cx="8659368" cy="370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700" dirty="0"/>
              <a:t>Category: </a:t>
            </a:r>
            <a:r>
              <a:rPr lang="en-US" sz="1700" b="1" dirty="0"/>
              <a:t>Gender</a:t>
            </a:r>
            <a:br>
              <a:rPr lang="en-US" sz="1700" dirty="0"/>
            </a:br>
            <a:r>
              <a:rPr lang="en-US" sz="1700" dirty="0"/>
              <a:t>Mapping: </a:t>
            </a:r>
            <a:r>
              <a:rPr lang="en-US" sz="1700" b="1" i="1" dirty="0"/>
              <a:t>standard Gender mapping</a:t>
            </a:r>
            <a:br>
              <a:rPr lang="en-US" sz="1700" b="1" i="1" dirty="0"/>
            </a:br>
            <a:r>
              <a:rPr lang="en-US" sz="1700" dirty="0"/>
              <a:t>Female: #{Zj7UnCAulEk.oZg33kd9taw} == 'Female’</a:t>
            </a:r>
            <a:br>
              <a:rPr lang="en-US" sz="1700" dirty="0"/>
            </a:br>
            <a:r>
              <a:rPr lang="en-US" sz="1700" dirty="0"/>
              <a:t>Male: #{Zj7UnCAulEk.oZg33kd9taw} == 'Male’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Category: </a:t>
            </a:r>
            <a:r>
              <a:rPr lang="en-US" sz="1700" b="1" dirty="0"/>
              <a:t>Age</a:t>
            </a:r>
            <a:br>
              <a:rPr lang="en-US" sz="1700" dirty="0"/>
            </a:br>
            <a:r>
              <a:rPr lang="en-US" sz="1700" dirty="0"/>
              <a:t>Mapping: </a:t>
            </a:r>
            <a:r>
              <a:rPr lang="en-US" sz="1700" b="1" i="1" dirty="0"/>
              <a:t>age at event</a:t>
            </a:r>
            <a:br>
              <a:rPr lang="en-US" sz="1700" dirty="0"/>
            </a:br>
            <a:r>
              <a:rPr lang="en-US" sz="1700" dirty="0"/>
              <a:t>&lt;15: d2:yearsBetween(#{wYTF0YCHMWr.AZLp9Shoab9},V{</a:t>
            </a:r>
            <a:r>
              <a:rPr lang="en-US" sz="1700" dirty="0" err="1"/>
              <a:t>event_date</a:t>
            </a:r>
            <a:r>
              <a:rPr lang="en-US" sz="1700" dirty="0"/>
              <a:t>})&lt;15</a:t>
            </a:r>
            <a:br>
              <a:rPr lang="en-US" sz="1700" dirty="0"/>
            </a:br>
            <a:r>
              <a:rPr lang="en-US" sz="1700" dirty="0"/>
              <a:t>15+: d2:yearsBetween(#{wYTF0YCHMWr.AZLp9Shoab9},V{</a:t>
            </a:r>
            <a:r>
              <a:rPr lang="en-US" sz="1700" dirty="0" err="1"/>
              <a:t>event_date</a:t>
            </a:r>
            <a:r>
              <a:rPr lang="en-US" sz="1700" dirty="0"/>
              <a:t>})&gt;=15</a:t>
            </a:r>
            <a:br>
              <a:rPr lang="en-US" sz="1700" dirty="0"/>
            </a:br>
            <a:r>
              <a:rPr lang="en-US" sz="1700" dirty="0"/>
              <a:t>Mapping: </a:t>
            </a:r>
            <a:r>
              <a:rPr lang="en-US" sz="1700" b="1" i="1" dirty="0"/>
              <a:t>age at enrollment</a:t>
            </a:r>
            <a:br>
              <a:rPr lang="en-US" sz="1700" dirty="0"/>
            </a:br>
            <a:r>
              <a:rPr lang="en-US" sz="1700" dirty="0"/>
              <a:t>&lt;15: d2:yearsBetween(#{wYTF0YCHMWr.AZLp9Shoab9},V{</a:t>
            </a:r>
            <a:r>
              <a:rPr lang="en-US" sz="1700" dirty="0" err="1"/>
              <a:t>enrollment_date</a:t>
            </a:r>
            <a:r>
              <a:rPr lang="en-US" sz="1700" dirty="0"/>
              <a:t>})&lt;15</a:t>
            </a:r>
            <a:br>
              <a:rPr lang="en-US" sz="1700" dirty="0"/>
            </a:br>
            <a:r>
              <a:rPr lang="en-US" sz="1700" dirty="0"/>
              <a:t>15+: d2:yearsBetween(#{wYTF0YCHMWr.AZLp9Shoab9},V{</a:t>
            </a:r>
            <a:r>
              <a:rPr lang="en-US" sz="1700" dirty="0" err="1"/>
              <a:t>enrollment_date</a:t>
            </a:r>
            <a:r>
              <a:rPr lang="en-US" sz="1700" dirty="0"/>
              <a:t>})&gt;=15</a:t>
            </a:r>
          </a:p>
        </p:txBody>
      </p:sp>
    </p:spTree>
    <p:extLst>
      <p:ext uri="{BB962C8B-B14F-4D97-AF65-F5344CB8AC3E}">
        <p14:creationId xmlns:p14="http://schemas.microsoft.com/office/powerpoint/2010/main" val="2293302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52AF6CC2-9323-DF4E-A3D7-B505D10A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9F27B6A2-16BD-E821-5383-AA01FC75A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2314"/>
            <a:ext cx="8520600" cy="6329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/>
              <a:t>Category</a:t>
            </a:r>
            <a:r>
              <a:rPr lang="en" dirty="0"/>
              <a:t> </a:t>
            </a:r>
            <a:r>
              <a:rPr lang="en" sz="3300" dirty="0"/>
              <a:t>mappings</a:t>
            </a:r>
            <a:endParaRPr dirty="0"/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90DA358E-6856-2B48-F746-49453715BACA}"/>
              </a:ext>
            </a:extLst>
          </p:cNvPr>
          <p:cNvSpPr/>
          <p:nvPr/>
        </p:nvSpPr>
        <p:spPr>
          <a:xfrm>
            <a:off x="5606504" y="1068067"/>
            <a:ext cx="1819461" cy="1131702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Program indicator 1</a:t>
            </a:r>
          </a:p>
        </p:txBody>
      </p:sp>
      <p:sp>
        <p:nvSpPr>
          <p:cNvPr id="3" name="Google Shape;187;p24">
            <a:extLst>
              <a:ext uri="{FF2B5EF4-FFF2-40B4-BE49-F238E27FC236}">
                <a16:creationId xmlns:a16="http://schemas.microsoft.com/office/drawing/2014/main" id="{1335577A-4567-F4B6-F3EC-37D4D4573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7088" y="3516275"/>
            <a:ext cx="3175898" cy="12974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Category mappings are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defined in the program</a:t>
            </a:r>
          </a:p>
        </p:txBody>
      </p:sp>
      <p:sp>
        <p:nvSpPr>
          <p:cNvPr id="4" name="Document 3">
            <a:extLst>
              <a:ext uri="{FF2B5EF4-FFF2-40B4-BE49-F238E27FC236}">
                <a16:creationId xmlns:a16="http://schemas.microsoft.com/office/drawing/2014/main" id="{B893DAC9-D87B-9D32-A8CA-4523AF930571}"/>
              </a:ext>
            </a:extLst>
          </p:cNvPr>
          <p:cNvSpPr/>
          <p:nvPr/>
        </p:nvSpPr>
        <p:spPr>
          <a:xfrm>
            <a:off x="5606503" y="2609716"/>
            <a:ext cx="1819461" cy="1131702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Program indicator 2</a:t>
            </a:r>
          </a:p>
        </p:txBody>
      </p:sp>
      <p:sp>
        <p:nvSpPr>
          <p:cNvPr id="11" name="Document 10">
            <a:extLst>
              <a:ext uri="{FF2B5EF4-FFF2-40B4-BE49-F238E27FC236}">
                <a16:creationId xmlns:a16="http://schemas.microsoft.com/office/drawing/2014/main" id="{67724D98-35D7-79C1-2D74-79D7FE75A8B1}"/>
              </a:ext>
            </a:extLst>
          </p:cNvPr>
          <p:cNvSpPr/>
          <p:nvPr/>
        </p:nvSpPr>
        <p:spPr>
          <a:xfrm>
            <a:off x="1008850" y="1965679"/>
            <a:ext cx="1819461" cy="1131702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Program A</a:t>
            </a:r>
          </a:p>
        </p:txBody>
      </p:sp>
      <p:cxnSp>
        <p:nvCxnSpPr>
          <p:cNvPr id="12" name="Google Shape;141;p22">
            <a:extLst>
              <a:ext uri="{FF2B5EF4-FFF2-40B4-BE49-F238E27FC236}">
                <a16:creationId xmlns:a16="http://schemas.microsoft.com/office/drawing/2014/main" id="{AA395DEB-D436-0A75-4865-B4D0E0A8A396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 flipV="1">
            <a:off x="2828311" y="1633918"/>
            <a:ext cx="2778193" cy="897612"/>
          </a:xfrm>
          <a:prstGeom prst="straightConnector1">
            <a:avLst/>
          </a:prstGeom>
          <a:noFill/>
          <a:ln w="158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" name="Google Shape;141;p22">
            <a:extLst>
              <a:ext uri="{FF2B5EF4-FFF2-40B4-BE49-F238E27FC236}">
                <a16:creationId xmlns:a16="http://schemas.microsoft.com/office/drawing/2014/main" id="{E10FBAB0-7F77-5554-7F44-2FA0D0FAF1E7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2828311" y="2531530"/>
            <a:ext cx="2778192" cy="644037"/>
          </a:xfrm>
          <a:prstGeom prst="straightConnector1">
            <a:avLst/>
          </a:prstGeom>
          <a:noFill/>
          <a:ln w="158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" name="Google Shape;187;p24">
            <a:extLst>
              <a:ext uri="{FF2B5EF4-FFF2-40B4-BE49-F238E27FC236}">
                <a16:creationId xmlns:a16="http://schemas.microsoft.com/office/drawing/2014/main" id="{AAA17FF6-388E-C85E-CA90-6CB1C049DC36}"/>
              </a:ext>
            </a:extLst>
          </p:cNvPr>
          <p:cNvSpPr txBox="1">
            <a:spLocks/>
          </p:cNvSpPr>
          <p:nvPr/>
        </p:nvSpPr>
        <p:spPr>
          <a:xfrm>
            <a:off x="5086000" y="3641900"/>
            <a:ext cx="3175898" cy="129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Font typeface="Lato"/>
              <a:buNone/>
            </a:pPr>
            <a:r>
              <a:rPr lang="en-US" dirty="0">
                <a:solidFill>
                  <a:schemeClr val="accent2"/>
                </a:solidFill>
              </a:rPr>
              <a:t>Category mappings are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used by program indicators</a:t>
            </a:r>
          </a:p>
        </p:txBody>
      </p:sp>
    </p:spTree>
    <p:extLst>
      <p:ext uri="{BB962C8B-B14F-4D97-AF65-F5344CB8AC3E}">
        <p14:creationId xmlns:p14="http://schemas.microsoft.com/office/powerpoint/2010/main" val="390374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4170A2B-380D-9CFD-0D18-D486C6B1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22">
            <a:extLst>
              <a:ext uri="{FF2B5EF4-FFF2-40B4-BE49-F238E27FC236}">
                <a16:creationId xmlns:a16="http://schemas.microsoft.com/office/drawing/2014/main" id="{16ACDB7B-1310-CA70-7C6E-27BEA715878F}"/>
              </a:ext>
            </a:extLst>
          </p:cNvPr>
          <p:cNvSpPr txBox="1">
            <a:spLocks/>
          </p:cNvSpPr>
          <p:nvPr/>
        </p:nvSpPr>
        <p:spPr>
          <a:xfrm>
            <a:off x="311700" y="460602"/>
            <a:ext cx="8520600" cy="63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300" dirty="0"/>
              <a:t>Program</a:t>
            </a:r>
            <a:endParaRPr lang="en-US" dirty="0"/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A7AA89C0-6ED8-ACEF-43E7-A16F64A9B6BB}"/>
              </a:ext>
            </a:extLst>
          </p:cNvPr>
          <p:cNvSpPr/>
          <p:nvPr/>
        </p:nvSpPr>
        <p:spPr>
          <a:xfrm>
            <a:off x="267086" y="1136663"/>
            <a:ext cx="8410880" cy="3874500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A7914-3D46-E556-4CEC-DAA919486E4A}"/>
              </a:ext>
            </a:extLst>
          </p:cNvPr>
          <p:cNvSpPr txBox="1"/>
          <p:nvPr/>
        </p:nvSpPr>
        <p:spPr>
          <a:xfrm>
            <a:off x="402258" y="1192315"/>
            <a:ext cx="827570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Category: Gender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Mapping: standard Gender mapping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Female: #{Zj7UnCAulEk.oZg33kd9taw} == 'Female’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Male: #{Zj7UnCAulEk.oZg33kd9taw} == 'Male’</a:t>
            </a:r>
          </a:p>
          <a:p>
            <a:endParaRPr lang="en-US" sz="1600" dirty="0">
              <a:solidFill>
                <a:schemeClr val="accent2"/>
              </a:solidFill>
            </a:endParaRPr>
          </a:p>
          <a:p>
            <a:r>
              <a:rPr lang="en-US" sz="1600" dirty="0">
                <a:solidFill>
                  <a:schemeClr val="accent2"/>
                </a:solidFill>
              </a:rPr>
              <a:t>Category: Age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Mapping: age at event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&lt;15: d2:yearsBetween(#{wYTF0YCHMWr.AZLp9Shoab9},V{</a:t>
            </a:r>
            <a:r>
              <a:rPr lang="en-US" sz="1600" dirty="0" err="1">
                <a:solidFill>
                  <a:schemeClr val="accent2"/>
                </a:solidFill>
              </a:rPr>
              <a:t>event_date</a:t>
            </a:r>
            <a:r>
              <a:rPr lang="en-US" sz="1600" dirty="0">
                <a:solidFill>
                  <a:schemeClr val="accent2"/>
                </a:solidFill>
              </a:rPr>
              <a:t>})&lt;15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15+: d2:yearsBetween(#{wYTF0YCHMWr.AZLp9Shoab9},V{</a:t>
            </a:r>
            <a:r>
              <a:rPr lang="en-US" sz="1600" dirty="0" err="1">
                <a:solidFill>
                  <a:schemeClr val="accent2"/>
                </a:solidFill>
              </a:rPr>
              <a:t>event_date</a:t>
            </a:r>
            <a:r>
              <a:rPr lang="en-US" sz="1600" dirty="0">
                <a:solidFill>
                  <a:schemeClr val="accent2"/>
                </a:solidFill>
              </a:rPr>
              <a:t>})&gt;=15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Mapping: age at enrollment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&lt;15: d2:yearsBetween(#{wYTF0YCHMWr.AZLp9Shoab9},V{</a:t>
            </a:r>
            <a:r>
              <a:rPr lang="en-US" sz="1600" dirty="0" err="1">
                <a:solidFill>
                  <a:schemeClr val="accent2"/>
                </a:solidFill>
              </a:rPr>
              <a:t>enrollment_date</a:t>
            </a:r>
            <a:r>
              <a:rPr lang="en-US" sz="1600" dirty="0">
                <a:solidFill>
                  <a:schemeClr val="accent2"/>
                </a:solidFill>
              </a:rPr>
              <a:t>})&lt;15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        15+: d2:yearsBetween(#{wYTF0YCHMWr.AZLp9Shoab9},V{</a:t>
            </a:r>
            <a:r>
              <a:rPr lang="en-US" sz="1600" dirty="0" err="1">
                <a:solidFill>
                  <a:schemeClr val="accent2"/>
                </a:solidFill>
              </a:rPr>
              <a:t>enrollment_date</a:t>
            </a:r>
            <a:r>
              <a:rPr lang="en-US" sz="1600" dirty="0">
                <a:solidFill>
                  <a:schemeClr val="accent2"/>
                </a:solidFill>
              </a:rPr>
              <a:t>})&gt;=15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CCA5B-F505-D148-BB99-49FB0434B113}"/>
              </a:ext>
            </a:extLst>
          </p:cNvPr>
          <p:cNvSpPr txBox="1"/>
          <p:nvPr/>
        </p:nvSpPr>
        <p:spPr>
          <a:xfrm>
            <a:off x="267086" y="805032"/>
            <a:ext cx="852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57952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FDF3DF2F-7BF5-639D-EF08-348E4C45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E89F29BC-AF7C-D8E0-820C-0AEE56E6E8BF}"/>
              </a:ext>
            </a:extLst>
          </p:cNvPr>
          <p:cNvSpPr/>
          <p:nvPr/>
        </p:nvSpPr>
        <p:spPr>
          <a:xfrm>
            <a:off x="1614116" y="1969554"/>
            <a:ext cx="5796500" cy="2069709"/>
          </a:xfrm>
          <a:prstGeom prst="flowChartDocument">
            <a:avLst/>
          </a:prstGeom>
          <a:solidFill>
            <a:schemeClr val="tx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7AD7F-C675-07CC-5F51-EE7897AD3651}"/>
              </a:ext>
            </a:extLst>
          </p:cNvPr>
          <p:cNvSpPr txBox="1"/>
          <p:nvPr/>
        </p:nvSpPr>
        <p:spPr>
          <a:xfrm>
            <a:off x="1765189" y="2072917"/>
            <a:ext cx="5581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Disaggregation category combination: </a:t>
            </a:r>
            <a:r>
              <a:rPr lang="en-US" sz="1800" i="1" dirty="0">
                <a:solidFill>
                  <a:schemeClr val="accent2"/>
                </a:solidFill>
              </a:rPr>
              <a:t>Gender + Age</a:t>
            </a:r>
          </a:p>
          <a:p>
            <a:r>
              <a:rPr lang="en-US" sz="1800" dirty="0">
                <a:solidFill>
                  <a:schemeClr val="accent2"/>
                </a:solidFill>
              </a:rPr>
              <a:t>    Gender Mapping: </a:t>
            </a:r>
            <a:r>
              <a:rPr lang="en-US" sz="1800" i="1" dirty="0">
                <a:solidFill>
                  <a:schemeClr val="accent2"/>
                </a:solidFill>
              </a:rPr>
              <a:t>standard Gender mapping</a:t>
            </a:r>
          </a:p>
          <a:p>
            <a:r>
              <a:rPr lang="en-US" sz="1800" dirty="0">
                <a:solidFill>
                  <a:schemeClr val="accent2"/>
                </a:solidFill>
              </a:rPr>
              <a:t>    Age mapping: age at event</a:t>
            </a:r>
          </a:p>
          <a:p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>
                <a:solidFill>
                  <a:schemeClr val="accent2"/>
                </a:solidFill>
              </a:rPr>
              <a:t>Attribute category combination: default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ED774-D412-9EF9-0791-65C6A5F93539}"/>
              </a:ext>
            </a:extLst>
          </p:cNvPr>
          <p:cNvSpPr txBox="1"/>
          <p:nvPr/>
        </p:nvSpPr>
        <p:spPr>
          <a:xfrm>
            <a:off x="1614116" y="1637924"/>
            <a:ext cx="5796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 indicator</a:t>
            </a:r>
          </a:p>
        </p:txBody>
      </p:sp>
      <p:sp>
        <p:nvSpPr>
          <p:cNvPr id="4" name="Google Shape;135;p22">
            <a:extLst>
              <a:ext uri="{FF2B5EF4-FFF2-40B4-BE49-F238E27FC236}">
                <a16:creationId xmlns:a16="http://schemas.microsoft.com/office/drawing/2014/main" id="{BA251DA9-7A5C-3550-67B9-BA95124CF132}"/>
              </a:ext>
            </a:extLst>
          </p:cNvPr>
          <p:cNvSpPr txBox="1">
            <a:spLocks/>
          </p:cNvSpPr>
          <p:nvPr/>
        </p:nvSpPr>
        <p:spPr>
          <a:xfrm>
            <a:off x="311700" y="460602"/>
            <a:ext cx="8520600" cy="63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 b="1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300" dirty="0"/>
              <a:t>Program indicator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58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78F93E6-D153-8EB8-5807-82E931BB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BB443D85-A864-06BF-70BC-07EAF61F1D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 b="1" dirty="0">
                <a:solidFill>
                  <a:srgbClr val="093371"/>
                </a:solidFill>
                <a:latin typeface="Rubik"/>
                <a:ea typeface="Rubik"/>
                <a:cs typeface="Rubik"/>
                <a:sym typeface="Rubik"/>
              </a:rPr>
              <a:t>Configuring program indicator disaggregation</a:t>
            </a:r>
            <a:endParaRPr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4C58C-7A1A-D5D1-5BB3-9A7D920B0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669" y="1204523"/>
            <a:ext cx="6381708" cy="3658544"/>
          </a:xfrm>
          <a:prstGeom prst="rect">
            <a:avLst/>
          </a:prstGeom>
        </p:spPr>
      </p:pic>
      <p:cxnSp>
        <p:nvCxnSpPr>
          <p:cNvPr id="6" name="Google Shape;141;p22">
            <a:extLst>
              <a:ext uri="{FF2B5EF4-FFF2-40B4-BE49-F238E27FC236}">
                <a16:creationId xmlns:a16="http://schemas.microsoft.com/office/drawing/2014/main" id="{94897028-84DB-953A-12DB-F01412787918}"/>
              </a:ext>
            </a:extLst>
          </p:cNvPr>
          <p:cNvCxnSpPr>
            <a:cxnSpLocks/>
          </p:cNvCxnSpPr>
          <p:nvPr/>
        </p:nvCxnSpPr>
        <p:spPr>
          <a:xfrm>
            <a:off x="398559" y="4695015"/>
            <a:ext cx="543273" cy="3460"/>
          </a:xfrm>
          <a:prstGeom prst="straightConnector1">
            <a:avLst/>
          </a:prstGeom>
          <a:ln w="603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05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95D5AFC-AFD0-20CC-BC89-FDBA2556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544101B2-A719-DFA8-EF38-6AE73F6E3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95757"/>
            <a:ext cx="8607711" cy="645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Program indicator disaggregation (Data Visualizer)</a:t>
            </a:r>
            <a:endParaRPr sz="3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87F8E6-ADE4-A780-57EC-C35238C02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06" y="1094041"/>
            <a:ext cx="5946166" cy="377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27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DB26181-96E8-19CB-1AEA-A961A3BC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74C05DD7-6F44-1BDD-66D5-858B1BEB5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990"/>
            </a:pPr>
            <a:r>
              <a:rPr lang="en" sz="3000" dirty="0">
                <a:solidFill>
                  <a:srgbClr val="093371"/>
                </a:solidFill>
              </a:rPr>
              <a:t>Agenda</a:t>
            </a:r>
            <a:endParaRPr sz="3000" dirty="0"/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7C1A2BCA-E883-208E-89CB-2A41B39E5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8911" y="1689651"/>
            <a:ext cx="6566178" cy="2859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sz="2400" dirty="0"/>
              <a:t>How it works</a:t>
            </a:r>
            <a:endParaRPr lang="en-US" sz="2000" dirty="0"/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Implementations (Ghana and South Africa)</a:t>
            </a:r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Tips and Tricks</a:t>
            </a:r>
            <a:endParaRPr lang="en-US" sz="2000" dirty="0"/>
          </a:p>
        </p:txBody>
      </p:sp>
      <p:cxnSp>
        <p:nvCxnSpPr>
          <p:cNvPr id="2" name="Google Shape;141;p22">
            <a:extLst>
              <a:ext uri="{FF2B5EF4-FFF2-40B4-BE49-F238E27FC236}">
                <a16:creationId xmlns:a16="http://schemas.microsoft.com/office/drawing/2014/main" id="{8DB3853C-1661-A6E1-400E-7E2BB35E1A0A}"/>
              </a:ext>
            </a:extLst>
          </p:cNvPr>
          <p:cNvCxnSpPr>
            <a:cxnSpLocks/>
          </p:cNvCxnSpPr>
          <p:nvPr/>
        </p:nvCxnSpPr>
        <p:spPr>
          <a:xfrm>
            <a:off x="488012" y="2571750"/>
            <a:ext cx="543273" cy="3460"/>
          </a:xfrm>
          <a:prstGeom prst="straightConnector1">
            <a:avLst/>
          </a:prstGeom>
          <a:ln w="603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194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93F50D4-E3E8-2D71-CCA8-678CFCC5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110F2B63-72D9-B813-05CB-F3E472265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005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Ghana MOH instance for HIV (reported at DAC 2025)</a:t>
            </a:r>
            <a:endParaRPr sz="3000" dirty="0"/>
          </a:p>
        </p:txBody>
      </p:sp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0E8E402F-C4E0-863D-3ED2-6B32CEF8A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10438"/>
            <a:ext cx="8520600" cy="3778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27 program indicators (without disaggregation)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They need to convert to aggregate data with: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	2 gender options and 11 age bands = 22 disaggregations</a:t>
            </a:r>
          </a:p>
          <a:p>
            <a:pPr marL="114300" lv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Without PI disaggregation they needed 27 x 22 = 594 program indicators,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	each with a filter for a category option combination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Plus the original 27 undisaggregated program indicators = 621 PIs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000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With program indicator disaggregation, this reduces from 621 to 27 PIs.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	All the category option filters are in one place in the program,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	not in the 594 disaggregated PIs.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53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D27AB12-D289-BB23-C27A-B6AF934A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BAED8C2C-86FB-3585-4A67-52411623A2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85412" cy="10000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NACOSA instance for GC7 Adolescents and Young People Program for HIV vulnerable groups (South Africa)</a:t>
            </a:r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DD5E7C84-BAF7-4077-017A-872745048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888" y="1445083"/>
            <a:ext cx="8065008" cy="3072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buNone/>
            </a:pPr>
            <a:endParaRPr lang="en-US" sz="1900" dirty="0"/>
          </a:p>
          <a:p>
            <a:pPr marL="114300" indent="0" algn="ctr">
              <a:buNone/>
            </a:pPr>
            <a:endParaRPr lang="en-US" sz="1900" dirty="0"/>
          </a:p>
          <a:p>
            <a:pPr marL="114300" indent="0" algn="ctr">
              <a:buNone/>
            </a:pPr>
            <a:endParaRPr lang="en-US" sz="1900" dirty="0"/>
          </a:p>
          <a:p>
            <a:pPr marL="114300" indent="0" algn="ctr">
              <a:buNone/>
            </a:pPr>
            <a:endParaRPr lang="en-US" sz="1900" dirty="0"/>
          </a:p>
          <a:p>
            <a:pPr marL="114300" indent="0" algn="ctr">
              <a:buNone/>
            </a:pPr>
            <a:r>
              <a:rPr lang="en-US" sz="2400" dirty="0"/>
              <a:t>(separate slides)</a:t>
            </a:r>
          </a:p>
        </p:txBody>
      </p:sp>
    </p:spTree>
    <p:extLst>
      <p:ext uri="{BB962C8B-B14F-4D97-AF65-F5344CB8AC3E}">
        <p14:creationId xmlns:p14="http://schemas.microsoft.com/office/powerpoint/2010/main" val="3407814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77AB2C8-F484-CBD5-895D-26CB3CA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>
            <a:extLst>
              <a:ext uri="{FF2B5EF4-FFF2-40B4-BE49-F238E27FC236}">
                <a16:creationId xmlns:a16="http://schemas.microsoft.com/office/drawing/2014/main" id="{B0F981DF-A3FE-4385-2E16-9FFE90DD8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990"/>
            </a:pPr>
            <a:r>
              <a:rPr lang="en" sz="3000" dirty="0">
                <a:solidFill>
                  <a:srgbClr val="093371"/>
                </a:solidFill>
              </a:rPr>
              <a:t>Agenda</a:t>
            </a:r>
            <a:endParaRPr sz="3000" dirty="0"/>
          </a:p>
        </p:txBody>
      </p:sp>
      <p:sp>
        <p:nvSpPr>
          <p:cNvPr id="109" name="Google Shape;109;p21">
            <a:extLst>
              <a:ext uri="{FF2B5EF4-FFF2-40B4-BE49-F238E27FC236}">
                <a16:creationId xmlns:a16="http://schemas.microsoft.com/office/drawing/2014/main" id="{886D2088-8C01-5E4C-5BFC-3931EEA3A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8911" y="1689651"/>
            <a:ext cx="6566178" cy="2859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sz="2400" dirty="0"/>
              <a:t>How it works</a:t>
            </a:r>
            <a:endParaRPr lang="en-US" sz="2000" dirty="0"/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Implementations (Ghana and South Africa)</a:t>
            </a:r>
          </a:p>
          <a:p>
            <a:pPr marL="285750" indent="-285750">
              <a:spcAft>
                <a:spcPts val="1200"/>
              </a:spcAft>
            </a:pPr>
            <a:r>
              <a:rPr lang="en-US" sz="2400" dirty="0"/>
              <a:t>Tips and Tricks</a:t>
            </a:r>
            <a:endParaRPr lang="en-US" sz="2000" dirty="0"/>
          </a:p>
        </p:txBody>
      </p:sp>
      <p:cxnSp>
        <p:nvCxnSpPr>
          <p:cNvPr id="2" name="Google Shape;141;p22">
            <a:extLst>
              <a:ext uri="{FF2B5EF4-FFF2-40B4-BE49-F238E27FC236}">
                <a16:creationId xmlns:a16="http://schemas.microsoft.com/office/drawing/2014/main" id="{8514053C-4D8C-7986-3D36-A05BBFB68F24}"/>
              </a:ext>
            </a:extLst>
          </p:cNvPr>
          <p:cNvCxnSpPr>
            <a:cxnSpLocks/>
          </p:cNvCxnSpPr>
          <p:nvPr/>
        </p:nvCxnSpPr>
        <p:spPr>
          <a:xfrm>
            <a:off x="488012" y="3168097"/>
            <a:ext cx="543273" cy="3460"/>
          </a:xfrm>
          <a:prstGeom prst="straightConnector1">
            <a:avLst/>
          </a:prstGeom>
          <a:ln w="603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378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C087BB3-CDB8-65AF-66EF-747385CE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8DFFBE1F-5D54-F7C3-25B8-763AC1C8AF65}"/>
              </a:ext>
            </a:extLst>
          </p:cNvPr>
          <p:cNvSpPr/>
          <p:nvPr/>
        </p:nvSpPr>
        <p:spPr>
          <a:xfrm>
            <a:off x="1091208" y="4053854"/>
            <a:ext cx="696286" cy="6962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69EB37-AC69-8682-B8FA-3B25A9B7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Building analytics tables</a:t>
            </a: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4ACE0E19-62F9-9508-E2E1-BD98284BF18C}"/>
              </a:ext>
            </a:extLst>
          </p:cNvPr>
          <p:cNvSpPr/>
          <p:nvPr/>
        </p:nvSpPr>
        <p:spPr>
          <a:xfrm>
            <a:off x="565055" y="1203033"/>
            <a:ext cx="1775473" cy="2566123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Magnetic Disk 6">
            <a:extLst>
              <a:ext uri="{FF2B5EF4-FFF2-40B4-BE49-F238E27FC236}">
                <a16:creationId xmlns:a16="http://schemas.microsoft.com/office/drawing/2014/main" id="{6596C42C-0CD7-2BC1-20A2-9F4A458D626D}"/>
              </a:ext>
            </a:extLst>
          </p:cNvPr>
          <p:cNvSpPr/>
          <p:nvPr/>
        </p:nvSpPr>
        <p:spPr>
          <a:xfrm>
            <a:off x="3659397" y="1139317"/>
            <a:ext cx="1775473" cy="2629840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145;p22">
            <a:extLst>
              <a:ext uri="{FF2B5EF4-FFF2-40B4-BE49-F238E27FC236}">
                <a16:creationId xmlns:a16="http://schemas.microsoft.com/office/drawing/2014/main" id="{1DF5CBF3-2A6B-0A04-80CB-30261369E9B7}"/>
              </a:ext>
            </a:extLst>
          </p:cNvPr>
          <p:cNvSpPr txBox="1"/>
          <p:nvPr/>
        </p:nvSpPr>
        <p:spPr>
          <a:xfrm>
            <a:off x="3659396" y="2009920"/>
            <a:ext cx="1758258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Event analytics</a:t>
            </a:r>
          </a:p>
          <a:p>
            <a:pPr lvl="0" algn="ctr"/>
            <a:r>
              <a:rPr lang="en-US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data values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Rubi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d</a:t>
            </a:r>
            <a:r>
              <a:rPr lang="en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ata values</a:t>
            </a:r>
            <a:endParaRPr sz="16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Rubik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FD17EA4-5E28-EB95-35E9-005B5B03036A}"/>
              </a:ext>
            </a:extLst>
          </p:cNvPr>
          <p:cNvSpPr/>
          <p:nvPr/>
        </p:nvSpPr>
        <p:spPr>
          <a:xfrm>
            <a:off x="2802844" y="2329678"/>
            <a:ext cx="856550" cy="923299"/>
          </a:xfrm>
          <a:custGeom>
            <a:avLst/>
            <a:gdLst>
              <a:gd name="csX0" fmla="*/ 1664261 w 1664261"/>
              <a:gd name="csY0" fmla="*/ 0 h 1170432"/>
              <a:gd name="csX1" fmla="*/ 53 w 1664261"/>
              <a:gd name="csY1" fmla="*/ 365760 h 1170432"/>
              <a:gd name="csX2" fmla="*/ 1618541 w 1664261"/>
              <a:gd name="csY2" fmla="*/ 1170432 h 1170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64261" h="1170432">
                <a:moveTo>
                  <a:pt x="1664261" y="0"/>
                </a:moveTo>
                <a:cubicBezTo>
                  <a:pt x="835967" y="85344"/>
                  <a:pt x="7673" y="170688"/>
                  <a:pt x="53" y="365760"/>
                </a:cubicBezTo>
                <a:cubicBezTo>
                  <a:pt x="-7567" y="560832"/>
                  <a:pt x="805487" y="865632"/>
                  <a:pt x="1618541" y="1170432"/>
                </a:cubicBezTo>
              </a:path>
            </a:pathLst>
          </a:custGeom>
          <a:noFill/>
          <a:ln>
            <a:tailEnd type="arrow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145;p22">
            <a:extLst>
              <a:ext uri="{FF2B5EF4-FFF2-40B4-BE49-F238E27FC236}">
                <a16:creationId xmlns:a16="http://schemas.microsoft.com/office/drawing/2014/main" id="{2E950863-BB07-E33A-4D2A-288A3AB3D9F1}"/>
              </a:ext>
            </a:extLst>
          </p:cNvPr>
          <p:cNvSpPr txBox="1"/>
          <p:nvPr/>
        </p:nvSpPr>
        <p:spPr>
          <a:xfrm>
            <a:off x="2549028" y="3167235"/>
            <a:ext cx="1152147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Aggregate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Data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Rubik"/>
              </a:rPr>
              <a:t>Exchange</a:t>
            </a:r>
            <a:endParaRPr sz="16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Rubik"/>
            </a:endParaRP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AF78B256-DEEE-73EC-1ADF-C4DED7BFBDDC}"/>
              </a:ext>
            </a:extLst>
          </p:cNvPr>
          <p:cNvSpPr/>
          <p:nvPr/>
        </p:nvSpPr>
        <p:spPr>
          <a:xfrm>
            <a:off x="6486349" y="1203033"/>
            <a:ext cx="1775473" cy="2566123"/>
          </a:xfrm>
          <a:prstGeom prst="flowChartMagneticDisk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Google Shape;145;p22">
            <a:extLst>
              <a:ext uri="{FF2B5EF4-FFF2-40B4-BE49-F238E27FC236}">
                <a16:creationId xmlns:a16="http://schemas.microsoft.com/office/drawing/2014/main" id="{E7BF84B7-AD9C-AFB4-1696-D17DAA023ECB}"/>
              </a:ext>
            </a:extLst>
          </p:cNvPr>
          <p:cNvSpPr txBox="1"/>
          <p:nvPr/>
        </p:nvSpPr>
        <p:spPr>
          <a:xfrm>
            <a:off x="478173" y="2024733"/>
            <a:ext cx="1961526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 / enrollment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 tables</a:t>
            </a:r>
          </a:p>
        </p:txBody>
      </p:sp>
      <p:sp>
        <p:nvSpPr>
          <p:cNvPr id="14" name="Google Shape;145;p22">
            <a:extLst>
              <a:ext uri="{FF2B5EF4-FFF2-40B4-BE49-F238E27FC236}">
                <a16:creationId xmlns:a16="http://schemas.microsoft.com/office/drawing/2014/main" id="{21B30A29-C728-2A37-37DB-CFCF73FF492E}"/>
              </a:ext>
            </a:extLst>
          </p:cNvPr>
          <p:cNvSpPr txBox="1"/>
          <p:nvPr/>
        </p:nvSpPr>
        <p:spPr>
          <a:xfrm>
            <a:off x="6393322" y="2712567"/>
            <a:ext cx="1961526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aggregate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 tables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17C6E2-61BA-C3C9-19E8-6C35C6CA7FBC}"/>
              </a:ext>
            </a:extLst>
          </p:cNvPr>
          <p:cNvSpPr/>
          <p:nvPr/>
        </p:nvSpPr>
        <p:spPr>
          <a:xfrm>
            <a:off x="4190382" y="4053854"/>
            <a:ext cx="696286" cy="6962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DE7898-605D-090F-5B15-992C50AEDB97}"/>
              </a:ext>
            </a:extLst>
          </p:cNvPr>
          <p:cNvSpPr/>
          <p:nvPr/>
        </p:nvSpPr>
        <p:spPr>
          <a:xfrm>
            <a:off x="7025942" y="4053854"/>
            <a:ext cx="696286" cy="6962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2910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B36859C-905B-6953-24F3-FAFE8AE9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D8961F32-B216-BC53-66F7-9208A7AE4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24712"/>
            <a:ext cx="8520600" cy="3129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 dirty="0">
                <a:solidFill>
                  <a:schemeClr val="accent2"/>
                </a:solidFill>
              </a:rPr>
              <a:t>Overlap: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More than one category option filter matches the data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 dirty="0">
                <a:solidFill>
                  <a:schemeClr val="accent2"/>
                </a:solidFill>
              </a:rPr>
              <a:t>Gap: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No category option filter matches the data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 dirty="0">
              <a:solidFill>
                <a:schemeClr val="accent2"/>
              </a:solidFill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EE557EC-CC4C-4F9C-951C-5A922077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r>
              <a:rPr lang="en-US" sz="3000" dirty="0"/>
              <a:t>Overlaps and Gaps</a:t>
            </a:r>
          </a:p>
        </p:txBody>
      </p:sp>
    </p:spTree>
    <p:extLst>
      <p:ext uri="{BB962C8B-B14F-4D97-AF65-F5344CB8AC3E}">
        <p14:creationId xmlns:p14="http://schemas.microsoft.com/office/powerpoint/2010/main" val="1818843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9BA850-AB27-8154-0F90-7F42C013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DC4C20F2-E8E6-C2C0-4C01-254DBE0CB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428" y="1274669"/>
            <a:ext cx="8695140" cy="3544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 dirty="0">
                <a:solidFill>
                  <a:schemeClr val="accent2"/>
                </a:solidFill>
              </a:rPr>
              <a:t>More than one category option filter matches the data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	Filters:	15-:  #{Zsa6ohSheoX} &lt;= 15</a:t>
            </a: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		15+: #{Zsa6ohSheoX} &gt;= 15</a:t>
            </a:r>
          </a:p>
          <a:p>
            <a:pPr marL="114300" lvl="0" indent="0"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happens when:	 #{Zsa6ohSheoX} == 15</a:t>
            </a:r>
          </a:p>
          <a:p>
            <a:pPr marL="114300" lvl="0" indent="0"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An overlap is </a:t>
            </a:r>
            <a:r>
              <a:rPr lang="en-US" sz="2100" b="1" i="1" dirty="0">
                <a:solidFill>
                  <a:schemeClr val="accent2"/>
                </a:solidFill>
              </a:rPr>
              <a:t>always</a:t>
            </a:r>
            <a:r>
              <a:rPr lang="en-US" sz="2100" dirty="0">
                <a:solidFill>
                  <a:schemeClr val="accent2"/>
                </a:solidFill>
              </a:rPr>
              <a:t> caused by filter misconfiguration</a:t>
            </a: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A data exchange run with an overlap is aborted and an error is logged</a:t>
            </a:r>
            <a:endParaRPr sz="2100" dirty="0">
              <a:solidFill>
                <a:schemeClr val="accent2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7F85C9-64DB-DA48-428B-5D72DD98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Overlap</a:t>
            </a:r>
          </a:p>
        </p:txBody>
      </p:sp>
    </p:spTree>
    <p:extLst>
      <p:ext uri="{BB962C8B-B14F-4D97-AF65-F5344CB8AC3E}">
        <p14:creationId xmlns:p14="http://schemas.microsoft.com/office/powerpoint/2010/main" val="1081944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9F816FB-A8EF-1147-3AB9-9203F64E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D73AFAAF-64FA-ED95-A2F8-2F105E850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24712"/>
            <a:ext cx="8520600" cy="4018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 dirty="0">
                <a:solidFill>
                  <a:schemeClr val="accent2"/>
                </a:solidFill>
              </a:rPr>
              <a:t>No category option filter matches the data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	Filters:	15-:  #{Zsa6ohSheoX} &lt; 15</a:t>
            </a: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		15+: #{Zsa6ohSheoX} &gt; 15</a:t>
            </a:r>
          </a:p>
          <a:p>
            <a:pPr marL="114300" lvl="0" indent="0"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happens when:	 #{Zsa6ohSheoX} == 15</a:t>
            </a: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		or	 #{Zsa6ohSheoX} is null</a:t>
            </a:r>
          </a:p>
          <a:p>
            <a:pPr marL="114300" lvl="0" indent="0">
              <a:buNone/>
            </a:pPr>
            <a:endParaRPr lang="en-US" sz="2100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A gap is caused by a filter misconfiguration </a:t>
            </a:r>
            <a:r>
              <a:rPr lang="en-US" sz="2100" b="1" i="1" dirty="0">
                <a:solidFill>
                  <a:schemeClr val="accent2"/>
                </a:solidFill>
              </a:rPr>
              <a:t>or</a:t>
            </a:r>
            <a:r>
              <a:rPr lang="en-US" sz="2100" dirty="0">
                <a:solidFill>
                  <a:schemeClr val="accent2"/>
                </a:solidFill>
              </a:rPr>
              <a:t> missing data</a:t>
            </a:r>
          </a:p>
          <a:p>
            <a:pPr marL="114300" lvl="0" indent="0">
              <a:buNone/>
            </a:pPr>
            <a:r>
              <a:rPr lang="en-US" sz="2100" dirty="0">
                <a:solidFill>
                  <a:schemeClr val="accent2"/>
                </a:solidFill>
              </a:rPr>
              <a:t>No error is returned and no data is returned for that event/enrollment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 dirty="0">
              <a:solidFill>
                <a:schemeClr val="accent2"/>
              </a:solidFill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78DDEC64-3E68-61EC-CF8E-6F529C6D3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Autofit/>
          </a:bodyPr>
          <a:lstStyle/>
          <a:p>
            <a:r>
              <a:rPr lang="en-US" sz="3000" dirty="0"/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32571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FD03A6-25AE-1734-5AD1-BC496A95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F7FE162D-7C46-CA06-B687-439D1EEED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005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How to avoid gaps for missing data</a:t>
            </a:r>
            <a:endParaRPr sz="3000" dirty="0"/>
          </a:p>
        </p:txBody>
      </p:sp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DB9E38DA-6CF0-BB6B-EE90-9D02400F8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09854"/>
            <a:ext cx="8520600" cy="3174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accent2"/>
                </a:solidFill>
              </a:rPr>
              <a:t>You can define a category option and filter for missing data: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Note: </a:t>
            </a:r>
            <a:r>
              <a:rPr lang="en-US" dirty="0">
                <a:solidFill>
                  <a:schemeClr val="accent2"/>
                </a:solidFill>
              </a:rPr>
              <a:t>Don’t define a single category option such as “unknown” and use it in more than one category </a:t>
            </a:r>
            <a:r>
              <a:rPr lang="en-US" i="1" dirty="0">
                <a:solidFill>
                  <a:schemeClr val="accent2"/>
                </a:solidFill>
              </a:rPr>
              <a:t>in the same category combination</a:t>
            </a:r>
            <a:r>
              <a:rPr lang="en-US" dirty="0">
                <a:solidFill>
                  <a:schemeClr val="accent2"/>
                </a:solidFill>
              </a:rPr>
              <a:t>. It won’t work in program indicator disaggregations (at least for now!) Instead, define different category options such as:</a:t>
            </a:r>
            <a:endParaRPr dirty="0">
              <a:solidFill>
                <a:schemeClr val="accent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C7D617-15B5-5D5F-5AFB-CF63E0B0B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30141"/>
              </p:ext>
            </p:extLst>
          </p:nvPr>
        </p:nvGraphicFramePr>
        <p:xfrm>
          <a:off x="1938528" y="1534390"/>
          <a:ext cx="570585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763">
                  <a:extLst>
                    <a:ext uri="{9D8B030D-6E8A-4147-A177-3AD203B41FA5}">
                      <a16:colId xmlns:a16="http://schemas.microsoft.com/office/drawing/2014/main" val="1297639560"/>
                    </a:ext>
                  </a:extLst>
                </a:gridCol>
                <a:gridCol w="3732093">
                  <a:extLst>
                    <a:ext uri="{9D8B030D-6E8A-4147-A177-3AD203B41FA5}">
                      <a16:colId xmlns:a16="http://schemas.microsoft.com/office/drawing/2014/main" val="2340080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under 15 years: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#{Zsa6ohSheoX} &lt; 15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49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15 and over: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#{Zsa6ohSheoX} &gt;= 15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unknown age: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accent2"/>
                          </a:solidFill>
                        </a:rPr>
                        <a:t>isNull</a:t>
                      </a:r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(#{Zsa6ohSheoX})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6270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30B050-8C70-F91E-E10A-E1FE5DD00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020351"/>
              </p:ext>
            </p:extLst>
          </p:nvPr>
        </p:nvGraphicFramePr>
        <p:xfrm>
          <a:off x="3443835" y="4111006"/>
          <a:ext cx="225633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330">
                  <a:extLst>
                    <a:ext uri="{9D8B030D-6E8A-4147-A177-3AD203B41FA5}">
                      <a16:colId xmlns:a16="http://schemas.microsoft.com/office/drawing/2014/main" val="1297639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unknown age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49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2"/>
                          </a:solidFill>
                        </a:rPr>
                        <a:t>unknown gender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3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333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7D7EA4A4-28CE-DA12-EDE8-13A9AC92A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8E433A1C-2759-0A46-797D-55F51B8A2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5641"/>
            <a:ext cx="8520600" cy="9598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Categories, </a:t>
            </a:r>
            <a:r>
              <a:rPr lang="en" dirty="0" err="1"/>
              <a:t>catCombos</a:t>
            </a:r>
            <a:r>
              <a:rPr lang="en" dirty="0"/>
              <a:t>, </a:t>
            </a:r>
            <a:r>
              <a:rPr lang="en" dirty="0" err="1"/>
              <a:t>catOptions</a:t>
            </a:r>
            <a:r>
              <a:rPr lang="en" dirty="0"/>
              <a:t>, and </a:t>
            </a:r>
            <a:r>
              <a:rPr lang="en" dirty="0" err="1"/>
              <a:t>catOptionCombos</a:t>
            </a:r>
            <a:r>
              <a:rPr lang="en" dirty="0"/>
              <a:t> must be local</a:t>
            </a:r>
            <a:endParaRPr dirty="0"/>
          </a:p>
        </p:txBody>
      </p:sp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A973CFBD-E751-AE9E-E0AC-16AAF0AEA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87812"/>
            <a:ext cx="8520600" cy="3457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accent2"/>
                </a:solidFill>
              </a:rPr>
              <a:t>If you are using aggregate data exchange to a remote system with program indicator disaggregation: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accent2"/>
                </a:solidFill>
              </a:rPr>
              <a:t>The local system must have the same as the target system: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CategoryCombo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Categories</a:t>
            </a:r>
          </a:p>
          <a:p>
            <a:r>
              <a:rPr lang="en-US" dirty="0">
                <a:solidFill>
                  <a:schemeClr val="accent2"/>
                </a:solidFill>
              </a:rPr>
              <a:t>Category Options</a:t>
            </a:r>
          </a:p>
          <a:p>
            <a:r>
              <a:rPr lang="en-US" dirty="0">
                <a:solidFill>
                  <a:schemeClr val="accent2"/>
                </a:solidFill>
              </a:rPr>
              <a:t>Category Option Combos</a:t>
            </a:r>
          </a:p>
          <a:p>
            <a:pPr marL="11430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accent2"/>
                </a:solidFill>
              </a:rPr>
              <a:t>They can have different names on the local system but the Category Option Combos must have the same identifiers.</a:t>
            </a:r>
            <a:endParaRPr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043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8B991B3-E91C-8C3A-7D3B-04BD08C5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72AA74F7-BCB7-3427-9EBD-535C1C143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879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New </a:t>
            </a:r>
            <a:r>
              <a:rPr lang="en" sz="3000" dirty="0" err="1"/>
              <a:t>dhis.conf</a:t>
            </a:r>
            <a:r>
              <a:rPr lang="en" sz="3000" dirty="0"/>
              <a:t> options starting with v42</a:t>
            </a:r>
            <a:endParaRPr sz="3000" dirty="0"/>
          </a:p>
        </p:txBody>
      </p:sp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BB3D3F67-1BA7-7398-B0CE-CD8C8E3A0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24796"/>
            <a:ext cx="8520600" cy="2842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accent2"/>
                </a:solidFill>
              </a:rPr>
              <a:t>New </a:t>
            </a:r>
            <a:r>
              <a:rPr lang="en-US" dirty="0" err="1">
                <a:solidFill>
                  <a:schemeClr val="accent2"/>
                </a:solidFill>
              </a:rPr>
              <a:t>dhis.conf</a:t>
            </a:r>
            <a:r>
              <a:rPr lang="en-US" dirty="0">
                <a:solidFill>
                  <a:schemeClr val="accent2"/>
                </a:solidFill>
              </a:rPr>
              <a:t> options (showing defaults):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 </a:t>
            </a:r>
            <a:r>
              <a:rPr lang="en-US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metadata.categories.max_options</a:t>
            </a: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= 50   </a:t>
            </a:r>
            <a:r>
              <a:rPr lang="en-US" dirty="0">
                <a:solidFill>
                  <a:schemeClr val="accent2"/>
                </a:solidFill>
                <a:latin typeface="+mn-lt"/>
              </a:rPr>
              <a:t>(31 in v42.0, 50 in v42.1)</a:t>
            </a:r>
          </a:p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 </a:t>
            </a:r>
            <a:r>
              <a:rPr lang="en-US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metadata.categories.max_per_combo</a:t>
            </a: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= 5</a:t>
            </a:r>
          </a:p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 </a:t>
            </a:r>
            <a:r>
              <a:rPr lang="en-US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metadata.categories.max_combinations</a:t>
            </a:r>
            <a:r>
              <a:rPr lang="en-US" dirty="0">
                <a:solidFill>
                  <a:schemeClr val="accent2"/>
                </a:solidFill>
                <a:latin typeface="Andale Mono" panose="020B0509000000000004" pitchFamily="49" charset="0"/>
              </a:rPr>
              <a:t> = 500</a:t>
            </a:r>
          </a:p>
          <a:p>
            <a:pPr marL="114300" lv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</a:rPr>
              <a:t>If you need larger values, add one or more of these entries to your </a:t>
            </a:r>
            <a:r>
              <a:rPr lang="en-US" dirty="0" err="1">
                <a:solidFill>
                  <a:schemeClr val="accent2"/>
                </a:solidFill>
              </a:rPr>
              <a:t>dhis.conf</a:t>
            </a:r>
            <a:endParaRPr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838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40DD0D4-6B3F-E134-7198-C8AE22E0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>
            <a:extLst>
              <a:ext uri="{FF2B5EF4-FFF2-40B4-BE49-F238E27FC236}">
                <a16:creationId xmlns:a16="http://schemas.microsoft.com/office/drawing/2014/main" id="{50D85F08-B7E5-DC3F-B1C4-D5663855F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00505"/>
            <a:ext cx="8623578" cy="722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3000" dirty="0"/>
              <a:t>Scripting program indicator disaggregation metadata</a:t>
            </a:r>
            <a:endParaRPr sz="3000" dirty="0"/>
          </a:p>
        </p:txBody>
      </p:sp>
      <p:sp>
        <p:nvSpPr>
          <p:cNvPr id="2" name="Google Shape;92;p17">
            <a:extLst>
              <a:ext uri="{FF2B5EF4-FFF2-40B4-BE49-F238E27FC236}">
                <a16:creationId xmlns:a16="http://schemas.microsoft.com/office/drawing/2014/main" id="{0E4DE579-508E-537E-DC21-1AFF9A6B4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62539"/>
            <a:ext cx="8520600" cy="31177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</a:rPr>
              <a:t>If you want to script the configuration of program indicator disaggregations using the WebAPI, the Developer Manual shows the JSON format needed for:</a:t>
            </a:r>
          </a:p>
          <a:p>
            <a:pPr marL="114300" lv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Program category option mappings</a:t>
            </a:r>
          </a:p>
          <a:p>
            <a:r>
              <a:rPr lang="en-US" dirty="0">
                <a:solidFill>
                  <a:schemeClr val="accent2"/>
                </a:solidFill>
              </a:rPr>
              <a:t>Program indicator category mapping selection</a:t>
            </a:r>
          </a:p>
          <a:p>
            <a:pPr marL="114300" lv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lvl="0" indent="0">
              <a:buNone/>
            </a:pPr>
            <a:r>
              <a:rPr lang="en-US" dirty="0">
                <a:solidFill>
                  <a:schemeClr val="accent2"/>
                </a:solidFill>
              </a:rPr>
              <a:t>See: Developer Manual / Metadata / Programs</a:t>
            </a:r>
          </a:p>
          <a:p>
            <a:pPr marL="114300" lvl="0" indent="0">
              <a:buNone/>
            </a:pPr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https://docs.dhis2.org/en/full/develop/dhis-core-version-master/developer-manual.html#webapi_programs</a:t>
            </a:r>
            <a:endParaRPr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75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7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title" idx="4294967295"/>
          </p:nvPr>
        </p:nvSpPr>
        <p:spPr>
          <a:xfrm>
            <a:off x="537375" y="760225"/>
            <a:ext cx="7541400" cy="17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62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you!</a:t>
            </a:r>
            <a:endParaRPr sz="6200" b="1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4990609-D180-A78C-F813-6A06A52AA57B}"/>
              </a:ext>
            </a:extLst>
          </p:cNvPr>
          <p:cNvSpPr txBox="1"/>
          <p:nvPr/>
        </p:nvSpPr>
        <p:spPr>
          <a:xfrm>
            <a:off x="1788376" y="4089498"/>
            <a:ext cx="1568720" cy="7364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576" rIns="0" bIns="45720" rtlCol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600" dirty="0">
                <a:solidFill>
                  <a:schemeClr val="tx1"/>
                </a:solidFill>
                <a:latin typeface="Tahoma"/>
                <a:cs typeface="Tahoma"/>
              </a:rPr>
              <a:t>Jim Grace</a:t>
            </a:r>
          </a:p>
          <a:p>
            <a:pPr algn="ctr">
              <a:lnSpc>
                <a:spcPts val="2670"/>
              </a:lnSpc>
            </a:pP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jim@dhis2.org </a:t>
            </a:r>
            <a:endParaRPr sz="18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1511AC6-A128-A42D-5058-203268055869}"/>
              </a:ext>
            </a:extLst>
          </p:cNvPr>
          <p:cNvSpPr txBox="1"/>
          <p:nvPr/>
        </p:nvSpPr>
        <p:spPr>
          <a:xfrm>
            <a:off x="4572000" y="4100772"/>
            <a:ext cx="2467562" cy="7364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576" rIns="0" bIns="45720" rtlCol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Elmarie Claasen</a:t>
            </a:r>
            <a:b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elmarie@hisp.org</a:t>
            </a:r>
            <a:endParaRPr lang="en-US" sz="1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93371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B6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1283</Words>
  <Application>Microsoft Macintosh PowerPoint</Application>
  <PresentationFormat>On-screen Show (16:9)</PresentationFormat>
  <Paragraphs>212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Andale Mono</vt:lpstr>
      <vt:lpstr>Arial</vt:lpstr>
      <vt:lpstr>Calibri</vt:lpstr>
      <vt:lpstr>Lato</vt:lpstr>
      <vt:lpstr>Rubik</vt:lpstr>
      <vt:lpstr>Rubik SemiBold</vt:lpstr>
      <vt:lpstr>Tahoma</vt:lpstr>
      <vt:lpstr>Simple Light</vt:lpstr>
      <vt:lpstr>Tracker to aggregate using program indicator disaggregation</vt:lpstr>
      <vt:lpstr>Agenda</vt:lpstr>
      <vt:lpstr>Tracker to Aggregate (T-to-A)</vt:lpstr>
      <vt:lpstr>Tracker to Aggregate (T-to-A), different instances</vt:lpstr>
      <vt:lpstr>Program indicator disaggregation</vt:lpstr>
      <vt:lpstr>T-to-A without program indicator disaggregation </vt:lpstr>
      <vt:lpstr>T-to-A using program indicator disaggregation </vt:lpstr>
      <vt:lpstr>Category option filters</vt:lpstr>
      <vt:lpstr>Category mappings</vt:lpstr>
      <vt:lpstr>Category mappings</vt:lpstr>
      <vt:lpstr>PowerPoint Presentation</vt:lpstr>
      <vt:lpstr>PowerPoint Presentation</vt:lpstr>
      <vt:lpstr>Configuring program indicator disaggregation</vt:lpstr>
      <vt:lpstr>Program indicator disaggregation (Data Visualizer)</vt:lpstr>
      <vt:lpstr>Agenda</vt:lpstr>
      <vt:lpstr>Ghana MOH instance for HIV (reported at DAC 2025)</vt:lpstr>
      <vt:lpstr>NACOSA instance for GC7 Adolescents and Young People Program for HIV vulnerable groups (South Africa)</vt:lpstr>
      <vt:lpstr>Agenda</vt:lpstr>
      <vt:lpstr>Building analytics tables</vt:lpstr>
      <vt:lpstr>Overlaps and Gaps</vt:lpstr>
      <vt:lpstr>Overlap</vt:lpstr>
      <vt:lpstr>Gap</vt:lpstr>
      <vt:lpstr>How to avoid gaps for missing data</vt:lpstr>
      <vt:lpstr>Categories, catCombos, catOptions, and catOptionCombos must be local</vt:lpstr>
      <vt:lpstr>New dhis.conf options starting with v42</vt:lpstr>
      <vt:lpstr>Scripting program indicator disaggregation metadata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Jim Grace</cp:lastModifiedBy>
  <cp:revision>11</cp:revision>
  <dcterms:modified xsi:type="dcterms:W3CDTF">2026-06-17T12:22:51Z</dcterms:modified>
</cp:coreProperties>
</file>