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Roboto Mono SemiBold"/>
      <p:regular r:id="rId38"/>
      <p:bold r:id="rId39"/>
      <p:italic r:id="rId40"/>
      <p:boldItalic r:id="rId41"/>
    </p:embeddedFont>
    <p:embeddedFont>
      <p:font typeface="Roboto"/>
      <p:regular r:id="rId42"/>
      <p:bold r:id="rId43"/>
      <p:italic r:id="rId44"/>
      <p:boldItalic r:id="rId45"/>
    </p:embeddedFont>
    <p:embeddedFont>
      <p:font typeface="Rubik"/>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A25B65-0E31-42E0-A0B6-E8A627B50425}">
  <a:tblStyle styleId="{36A25B65-0E31-42E0-A0B6-E8A627B5042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D033C0A-2CF7-4F9E-9FDF-FB4681C09EF0}"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SemiBold-italic.fntdata"/><Relationship Id="rId42" Type="http://schemas.openxmlformats.org/officeDocument/2006/relationships/font" Target="fonts/Roboto-regular.fntdata"/><Relationship Id="rId41" Type="http://schemas.openxmlformats.org/officeDocument/2006/relationships/font" Target="fonts/RobotoMonoSemiBold-boldItalic.fntdata"/><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Rubik-regular.fntdata"/><Relationship Id="rId45"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ubik-italic.fntdata"/><Relationship Id="rId47" Type="http://schemas.openxmlformats.org/officeDocument/2006/relationships/font" Target="fonts/Rubik-bold.fntdata"/><Relationship Id="rId49" Type="http://schemas.openxmlformats.org/officeDocument/2006/relationships/font" Target="fonts/Rubik-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RobotoMonoSemiBold-bold.fntdata"/><Relationship Id="rId38" Type="http://schemas.openxmlformats.org/officeDocument/2006/relationships/font" Target="fonts/RobotoMonoSemiBold-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e2d69dcd1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e2d69dcd1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e4648905db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e4648905db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e2d69dcd1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e2d69dcd1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e2d69dcd1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e2d69dcd1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e2d69dcd1d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e2d69dcd1d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e2d69dcd1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e2d69dcd1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e4648905d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e4648905d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e4648905d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e4648905d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e4648905d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e4648905d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e4648905db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e4648905db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e4648905db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e4648905db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e4648905d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e4648905d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e4648905d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e4648905d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e4648905db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e4648905db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e2d69dcd1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e2d69dcd1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e2d69dcd1d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e2d69dcd1d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e4648905db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e4648905db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e4648905db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e4648905db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e4648905db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e4648905db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e4648905db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e4648905db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e4648905db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e4648905db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e4648905db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e4648905db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e4648905db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e4648905db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e4648905db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e4648905db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e4648905db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e4648905db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e4648905db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e4648905db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e4648905db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e4648905db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e4648905db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e4648905db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e4648905db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e4648905db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e4648905db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e4648905db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pic>
        <p:nvPicPr>
          <p:cNvPr descr="178FE82A-36FF-4BA6-BB0B-EAFF6D3A408E" id="12" name="Google Shape;12;p2"/>
          <p:cNvPicPr preferRelativeResize="0"/>
          <p:nvPr/>
        </p:nvPicPr>
        <p:blipFill rotWithShape="1">
          <a:blip r:embed="rId2">
            <a:alphaModFix/>
          </a:blip>
          <a:srcRect b="0" l="0" r="59286" t="0"/>
          <a:stretch/>
        </p:blipFill>
        <p:spPr>
          <a:xfrm>
            <a:off x="3174" y="4763"/>
            <a:ext cx="740241" cy="5138738"/>
          </a:xfrm>
          <a:prstGeom prst="rect">
            <a:avLst/>
          </a:prstGeom>
          <a:noFill/>
          <a:ln>
            <a:noFill/>
          </a:ln>
        </p:spPr>
      </p:pic>
      <p:sp>
        <p:nvSpPr>
          <p:cNvPr id="13" name="Google Shape;13;p2"/>
          <p:cNvSpPr txBox="1"/>
          <p:nvPr>
            <p:ph type="ctrTitle"/>
          </p:nvPr>
        </p:nvSpPr>
        <p:spPr>
          <a:xfrm>
            <a:off x="1504565" y="1177714"/>
            <a:ext cx="6219300" cy="1773600"/>
          </a:xfrm>
          <a:prstGeom prst="rect">
            <a:avLst/>
          </a:prstGeom>
          <a:noFill/>
          <a:ln>
            <a:noFill/>
          </a:ln>
        </p:spPr>
        <p:txBody>
          <a:bodyPr anchorCtr="0" anchor="t" bIns="0" lIns="0" spcFirstLastPara="1" rIns="0" wrap="square" tIns="0">
            <a:noAutofit/>
          </a:bodyPr>
          <a:lstStyle>
            <a:lvl1pPr lvl="0" rtl="0" algn="l">
              <a:lnSpc>
                <a:spcPct val="110000"/>
              </a:lnSpc>
              <a:spcBef>
                <a:spcPts val="0"/>
              </a:spcBef>
              <a:spcAft>
                <a:spcPts val="0"/>
              </a:spcAft>
              <a:buClr>
                <a:srgbClr val="000000"/>
              </a:buClr>
              <a:buSzPts val="3000"/>
              <a:buNone/>
              <a:defRPr sz="3000">
                <a:solidFill>
                  <a:srgbClr val="000000"/>
                </a:solidFill>
              </a:defRPr>
            </a:lvl1pPr>
            <a:lvl2pPr lvl="1" rtl="0" algn="l">
              <a:lnSpc>
                <a:spcPct val="110000"/>
              </a:lnSpc>
              <a:spcBef>
                <a:spcPts val="0"/>
              </a:spcBef>
              <a:spcAft>
                <a:spcPts val="0"/>
              </a:spcAft>
              <a:buClr>
                <a:srgbClr val="8BDEDE"/>
              </a:buClr>
              <a:buSzPts val="3000"/>
              <a:buNone/>
              <a:defRPr sz="3000">
                <a:solidFill>
                  <a:srgbClr val="8BDEDE"/>
                </a:solidFill>
              </a:defRPr>
            </a:lvl2pPr>
            <a:lvl3pPr lvl="2" rtl="0" algn="l">
              <a:lnSpc>
                <a:spcPct val="110000"/>
              </a:lnSpc>
              <a:spcBef>
                <a:spcPts val="0"/>
              </a:spcBef>
              <a:spcAft>
                <a:spcPts val="0"/>
              </a:spcAft>
              <a:buClr>
                <a:srgbClr val="8BDEDE"/>
              </a:buClr>
              <a:buSzPts val="3000"/>
              <a:buNone/>
              <a:defRPr sz="3000">
                <a:solidFill>
                  <a:srgbClr val="8BDEDE"/>
                </a:solidFill>
              </a:defRPr>
            </a:lvl3pPr>
            <a:lvl4pPr lvl="3" rtl="0" algn="l">
              <a:lnSpc>
                <a:spcPct val="110000"/>
              </a:lnSpc>
              <a:spcBef>
                <a:spcPts val="0"/>
              </a:spcBef>
              <a:spcAft>
                <a:spcPts val="0"/>
              </a:spcAft>
              <a:buClr>
                <a:srgbClr val="8BDEDE"/>
              </a:buClr>
              <a:buSzPts val="3000"/>
              <a:buNone/>
              <a:defRPr sz="3000">
                <a:solidFill>
                  <a:srgbClr val="8BDEDE"/>
                </a:solidFill>
              </a:defRPr>
            </a:lvl4pPr>
            <a:lvl5pPr lvl="4" rtl="0" algn="l">
              <a:lnSpc>
                <a:spcPct val="110000"/>
              </a:lnSpc>
              <a:spcBef>
                <a:spcPts val="0"/>
              </a:spcBef>
              <a:spcAft>
                <a:spcPts val="0"/>
              </a:spcAft>
              <a:buClr>
                <a:srgbClr val="8BDEDE"/>
              </a:buClr>
              <a:buSzPts val="3000"/>
              <a:buNone/>
              <a:defRPr sz="3000">
                <a:solidFill>
                  <a:srgbClr val="8BDEDE"/>
                </a:solidFill>
              </a:defRPr>
            </a:lvl5pPr>
            <a:lvl6pPr lvl="5" rtl="0" algn="l">
              <a:lnSpc>
                <a:spcPct val="110000"/>
              </a:lnSpc>
              <a:spcBef>
                <a:spcPts val="0"/>
              </a:spcBef>
              <a:spcAft>
                <a:spcPts val="0"/>
              </a:spcAft>
              <a:buClr>
                <a:srgbClr val="8BDEDE"/>
              </a:buClr>
              <a:buSzPts val="3000"/>
              <a:buNone/>
              <a:defRPr sz="3000">
                <a:solidFill>
                  <a:srgbClr val="8BDEDE"/>
                </a:solidFill>
              </a:defRPr>
            </a:lvl6pPr>
            <a:lvl7pPr lvl="6" rtl="0" algn="l">
              <a:lnSpc>
                <a:spcPct val="110000"/>
              </a:lnSpc>
              <a:spcBef>
                <a:spcPts val="0"/>
              </a:spcBef>
              <a:spcAft>
                <a:spcPts val="0"/>
              </a:spcAft>
              <a:buClr>
                <a:srgbClr val="8BDEDE"/>
              </a:buClr>
              <a:buSzPts val="3000"/>
              <a:buNone/>
              <a:defRPr sz="3000">
                <a:solidFill>
                  <a:srgbClr val="8BDEDE"/>
                </a:solidFill>
              </a:defRPr>
            </a:lvl7pPr>
            <a:lvl8pPr lvl="7" rtl="0" algn="l">
              <a:lnSpc>
                <a:spcPct val="110000"/>
              </a:lnSpc>
              <a:spcBef>
                <a:spcPts val="0"/>
              </a:spcBef>
              <a:spcAft>
                <a:spcPts val="0"/>
              </a:spcAft>
              <a:buClr>
                <a:srgbClr val="8BDEDE"/>
              </a:buClr>
              <a:buSzPts val="3000"/>
              <a:buNone/>
              <a:defRPr sz="3000">
                <a:solidFill>
                  <a:srgbClr val="8BDEDE"/>
                </a:solidFill>
              </a:defRPr>
            </a:lvl8pPr>
            <a:lvl9pPr lvl="8" rtl="0" algn="l">
              <a:lnSpc>
                <a:spcPct val="110000"/>
              </a:lnSpc>
              <a:spcBef>
                <a:spcPts val="0"/>
              </a:spcBef>
              <a:spcAft>
                <a:spcPts val="0"/>
              </a:spcAft>
              <a:buClr>
                <a:srgbClr val="8BDEDE"/>
              </a:buClr>
              <a:buSzPts val="3000"/>
              <a:buNone/>
              <a:defRPr sz="3000">
                <a:solidFill>
                  <a:srgbClr val="8BDEDE"/>
                </a:solidFill>
              </a:defRPr>
            </a:lvl9pPr>
          </a:lstStyle>
          <a:p/>
        </p:txBody>
      </p:sp>
      <p:sp>
        <p:nvSpPr>
          <p:cNvPr id="14" name="Google Shape;14;p2"/>
          <p:cNvSpPr txBox="1"/>
          <p:nvPr>
            <p:ph idx="1" type="subTitle"/>
          </p:nvPr>
        </p:nvSpPr>
        <p:spPr>
          <a:xfrm>
            <a:off x="1504566" y="3453824"/>
            <a:ext cx="6219300" cy="9768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Clr>
                <a:srgbClr val="011529"/>
              </a:buClr>
              <a:buSzPts val="1700"/>
              <a:buNone/>
              <a:defRPr sz="1700">
                <a:solidFill>
                  <a:srgbClr val="011529"/>
                </a:solidFill>
              </a:defRPr>
            </a:lvl1pPr>
            <a:lvl2pPr lvl="1" rtl="0" algn="l">
              <a:lnSpc>
                <a:spcPct val="115000"/>
              </a:lnSpc>
              <a:spcBef>
                <a:spcPts val="0"/>
              </a:spcBef>
              <a:spcAft>
                <a:spcPts val="0"/>
              </a:spcAft>
              <a:buClr>
                <a:srgbClr val="011529"/>
              </a:buClr>
              <a:buSzPts val="1700"/>
              <a:buNone/>
              <a:defRPr sz="1700">
                <a:solidFill>
                  <a:srgbClr val="011529"/>
                </a:solidFill>
              </a:defRPr>
            </a:lvl2pPr>
            <a:lvl3pPr lvl="2" rtl="0" algn="l">
              <a:lnSpc>
                <a:spcPct val="115000"/>
              </a:lnSpc>
              <a:spcBef>
                <a:spcPts val="0"/>
              </a:spcBef>
              <a:spcAft>
                <a:spcPts val="0"/>
              </a:spcAft>
              <a:buClr>
                <a:srgbClr val="011529"/>
              </a:buClr>
              <a:buSzPts val="1700"/>
              <a:buNone/>
              <a:defRPr sz="1700">
                <a:solidFill>
                  <a:srgbClr val="011529"/>
                </a:solidFill>
              </a:defRPr>
            </a:lvl3pPr>
            <a:lvl4pPr lvl="3" rtl="0" algn="l">
              <a:lnSpc>
                <a:spcPct val="115000"/>
              </a:lnSpc>
              <a:spcBef>
                <a:spcPts val="0"/>
              </a:spcBef>
              <a:spcAft>
                <a:spcPts val="0"/>
              </a:spcAft>
              <a:buClr>
                <a:srgbClr val="011529"/>
              </a:buClr>
              <a:buSzPts val="1700"/>
              <a:buNone/>
              <a:defRPr sz="1700">
                <a:solidFill>
                  <a:srgbClr val="011529"/>
                </a:solidFill>
              </a:defRPr>
            </a:lvl4pPr>
            <a:lvl5pPr lvl="4" rtl="0" algn="l">
              <a:lnSpc>
                <a:spcPct val="115000"/>
              </a:lnSpc>
              <a:spcBef>
                <a:spcPts val="0"/>
              </a:spcBef>
              <a:spcAft>
                <a:spcPts val="0"/>
              </a:spcAft>
              <a:buClr>
                <a:srgbClr val="011529"/>
              </a:buClr>
              <a:buSzPts val="1700"/>
              <a:buNone/>
              <a:defRPr sz="1700">
                <a:solidFill>
                  <a:srgbClr val="011529"/>
                </a:solidFill>
              </a:defRPr>
            </a:lvl5pPr>
            <a:lvl6pPr lvl="5" rtl="0" algn="l">
              <a:lnSpc>
                <a:spcPct val="115000"/>
              </a:lnSpc>
              <a:spcBef>
                <a:spcPts val="0"/>
              </a:spcBef>
              <a:spcAft>
                <a:spcPts val="0"/>
              </a:spcAft>
              <a:buClr>
                <a:srgbClr val="011529"/>
              </a:buClr>
              <a:buSzPts val="1700"/>
              <a:buNone/>
              <a:defRPr sz="1700">
                <a:solidFill>
                  <a:srgbClr val="011529"/>
                </a:solidFill>
              </a:defRPr>
            </a:lvl6pPr>
            <a:lvl7pPr lvl="6" rtl="0" algn="l">
              <a:lnSpc>
                <a:spcPct val="115000"/>
              </a:lnSpc>
              <a:spcBef>
                <a:spcPts val="0"/>
              </a:spcBef>
              <a:spcAft>
                <a:spcPts val="0"/>
              </a:spcAft>
              <a:buClr>
                <a:srgbClr val="011529"/>
              </a:buClr>
              <a:buSzPts val="1700"/>
              <a:buNone/>
              <a:defRPr sz="1700">
                <a:solidFill>
                  <a:srgbClr val="011529"/>
                </a:solidFill>
              </a:defRPr>
            </a:lvl7pPr>
            <a:lvl8pPr lvl="7" rtl="0" algn="l">
              <a:lnSpc>
                <a:spcPct val="115000"/>
              </a:lnSpc>
              <a:spcBef>
                <a:spcPts val="0"/>
              </a:spcBef>
              <a:spcAft>
                <a:spcPts val="0"/>
              </a:spcAft>
              <a:buClr>
                <a:srgbClr val="011529"/>
              </a:buClr>
              <a:buSzPts val="1700"/>
              <a:buNone/>
              <a:defRPr sz="1700">
                <a:solidFill>
                  <a:srgbClr val="011529"/>
                </a:solidFill>
              </a:defRPr>
            </a:lvl8pPr>
            <a:lvl9pPr lvl="8" rtl="0" algn="l">
              <a:lnSpc>
                <a:spcPct val="115000"/>
              </a:lnSpc>
              <a:spcBef>
                <a:spcPts val="0"/>
              </a:spcBef>
              <a:spcAft>
                <a:spcPts val="0"/>
              </a:spcAft>
              <a:buClr>
                <a:srgbClr val="011529"/>
              </a:buClr>
              <a:buSzPts val="1700"/>
              <a:buNone/>
              <a:defRPr sz="1700">
                <a:solidFill>
                  <a:srgbClr val="011529"/>
                </a:solidFill>
              </a:defRPr>
            </a:lvl9pPr>
          </a:lstStyle>
          <a:p/>
        </p:txBody>
      </p:sp>
      <p:sp>
        <p:nvSpPr>
          <p:cNvPr id="15" name="Google Shape;15;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1_Title and two columns">
    <p:spTree>
      <p:nvGrpSpPr>
        <p:cNvPr id="16" name="Shape 16"/>
        <p:cNvGrpSpPr/>
        <p:nvPr/>
      </p:nvGrpSpPr>
      <p:grpSpPr>
        <a:xfrm>
          <a:off x="0" y="0"/>
          <a:ext cx="0" cy="0"/>
          <a:chOff x="0" y="0"/>
          <a:chExt cx="0" cy="0"/>
        </a:xfrm>
      </p:grpSpPr>
      <p:sp>
        <p:nvSpPr>
          <p:cNvPr id="17" name="Google Shape;17;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8" name="Google Shape;18;p3"/>
          <p:cNvSpPr txBox="1"/>
          <p:nvPr>
            <p:ph idx="1" type="body"/>
          </p:nvPr>
        </p:nvSpPr>
        <p:spPr>
          <a:xfrm>
            <a:off x="311700" y="1152475"/>
            <a:ext cx="85206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
        <p:nvSpPr>
          <p:cNvPr id="19" name="Google Shape;19;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178FE82A-36FF-4BA6-BB0B-EAFF6D3A408E" id="20" name="Google Shape;20;p3"/>
          <p:cNvPicPr preferRelativeResize="0"/>
          <p:nvPr/>
        </p:nvPicPr>
        <p:blipFill rotWithShape="1">
          <a:blip r:embed="rId2">
            <a:alphaModFix/>
          </a:blip>
          <a:srcRect b="0" l="20987" r="59287" t="0"/>
          <a:stretch/>
        </p:blipFill>
        <p:spPr>
          <a:xfrm rot="5400000">
            <a:off x="4489451" y="497418"/>
            <a:ext cx="165102" cy="9144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3" name="Google Shape;23;p4"/>
          <p:cNvSpPr txBox="1"/>
          <p:nvPr>
            <p:ph idx="1" type="body"/>
          </p:nvPr>
        </p:nvSpPr>
        <p:spPr>
          <a:xfrm>
            <a:off x="311700" y="1152475"/>
            <a:ext cx="39999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
        <p:nvSpPr>
          <p:cNvPr id="24" name="Google Shape;24;p4"/>
          <p:cNvSpPr txBox="1"/>
          <p:nvPr>
            <p:ph idx="2" type="body"/>
          </p:nvPr>
        </p:nvSpPr>
        <p:spPr>
          <a:xfrm>
            <a:off x="4832400" y="1152475"/>
            <a:ext cx="39999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
        <p:nvSpPr>
          <p:cNvPr id="25" name="Google Shape;2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178FE82A-36FF-4BA6-BB0B-EAFF6D3A408E" id="26" name="Google Shape;26;p4"/>
          <p:cNvPicPr preferRelativeResize="0"/>
          <p:nvPr/>
        </p:nvPicPr>
        <p:blipFill rotWithShape="1">
          <a:blip r:embed="rId2">
            <a:alphaModFix/>
          </a:blip>
          <a:srcRect b="0" l="20987" r="59287" t="0"/>
          <a:stretch/>
        </p:blipFill>
        <p:spPr>
          <a:xfrm rot="5400000">
            <a:off x="4489451" y="497418"/>
            <a:ext cx="165102" cy="9144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and one column (side bar)">
  <p:cSld name="1_Title slide">
    <p:spTree>
      <p:nvGrpSpPr>
        <p:cNvPr id="27" name="Shape 27"/>
        <p:cNvGrpSpPr/>
        <p:nvPr/>
      </p:nvGrpSpPr>
      <p:grpSpPr>
        <a:xfrm>
          <a:off x="0" y="0"/>
          <a:ext cx="0" cy="0"/>
          <a:chOff x="0" y="0"/>
          <a:chExt cx="0" cy="0"/>
        </a:xfrm>
      </p:grpSpPr>
      <p:sp>
        <p:nvSpPr>
          <p:cNvPr id="28" name="Google Shape;2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178FE82A-36FF-4BA6-BB0B-EAFF6D3A408E" id="29" name="Google Shape;29;p5"/>
          <p:cNvPicPr preferRelativeResize="0"/>
          <p:nvPr/>
        </p:nvPicPr>
        <p:blipFill rotWithShape="1">
          <a:blip r:embed="rId2">
            <a:alphaModFix/>
          </a:blip>
          <a:srcRect b="0" l="0" r="59286" t="0"/>
          <a:stretch/>
        </p:blipFill>
        <p:spPr>
          <a:xfrm>
            <a:off x="3174" y="4763"/>
            <a:ext cx="740241" cy="5138738"/>
          </a:xfrm>
          <a:prstGeom prst="rect">
            <a:avLst/>
          </a:prstGeom>
          <a:noFill/>
          <a:ln>
            <a:noFill/>
          </a:ln>
        </p:spPr>
      </p:pic>
      <p:sp>
        <p:nvSpPr>
          <p:cNvPr id="30" name="Google Shape;30;p5"/>
          <p:cNvSpPr txBox="1"/>
          <p:nvPr>
            <p:ph type="title"/>
          </p:nvPr>
        </p:nvSpPr>
        <p:spPr>
          <a:xfrm>
            <a:off x="995650" y="445025"/>
            <a:ext cx="7836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1" name="Google Shape;31;p5"/>
          <p:cNvSpPr txBox="1"/>
          <p:nvPr>
            <p:ph idx="1" type="body"/>
          </p:nvPr>
        </p:nvSpPr>
        <p:spPr>
          <a:xfrm>
            <a:off x="995650" y="1152475"/>
            <a:ext cx="78366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and one column (side bar) 1">
  <p:cSld name="1_Title slide_1">
    <p:spTree>
      <p:nvGrpSpPr>
        <p:cNvPr id="32" name="Shape 32"/>
        <p:cNvGrpSpPr/>
        <p:nvPr/>
      </p:nvGrpSpPr>
      <p:grpSpPr>
        <a:xfrm>
          <a:off x="0" y="0"/>
          <a:ext cx="0" cy="0"/>
          <a:chOff x="0" y="0"/>
          <a:chExt cx="0" cy="0"/>
        </a:xfrm>
      </p:grpSpPr>
      <p:sp>
        <p:nvSpPr>
          <p:cNvPr id="33" name="Google Shape;3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178FE82A-36FF-4BA6-BB0B-EAFF6D3A408E" id="34" name="Google Shape;34;p6"/>
          <p:cNvPicPr preferRelativeResize="0"/>
          <p:nvPr/>
        </p:nvPicPr>
        <p:blipFill rotWithShape="1">
          <a:blip r:embed="rId2">
            <a:alphaModFix/>
          </a:blip>
          <a:srcRect b="0" l="0" r="59286" t="0"/>
          <a:stretch/>
        </p:blipFill>
        <p:spPr>
          <a:xfrm>
            <a:off x="3174" y="4763"/>
            <a:ext cx="740241" cy="5138738"/>
          </a:xfrm>
          <a:prstGeom prst="rect">
            <a:avLst/>
          </a:prstGeom>
          <a:noFill/>
          <a:ln>
            <a:noFill/>
          </a:ln>
        </p:spPr>
      </p:pic>
      <p:sp>
        <p:nvSpPr>
          <p:cNvPr id="35" name="Google Shape;35;p6"/>
          <p:cNvSpPr txBox="1"/>
          <p:nvPr>
            <p:ph type="title"/>
          </p:nvPr>
        </p:nvSpPr>
        <p:spPr>
          <a:xfrm>
            <a:off x="995650" y="445025"/>
            <a:ext cx="7836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6" name="Google Shape;36;p6"/>
          <p:cNvSpPr txBox="1"/>
          <p:nvPr>
            <p:ph idx="1" type="body"/>
          </p:nvPr>
        </p:nvSpPr>
        <p:spPr>
          <a:xfrm>
            <a:off x="995650" y="1152475"/>
            <a:ext cx="78366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and one column (side bar) 2">
  <p:cSld name="1_Title slide_2">
    <p:spTree>
      <p:nvGrpSpPr>
        <p:cNvPr id="37" name="Shape 37"/>
        <p:cNvGrpSpPr/>
        <p:nvPr/>
      </p:nvGrpSpPr>
      <p:grpSpPr>
        <a:xfrm>
          <a:off x="0" y="0"/>
          <a:ext cx="0" cy="0"/>
          <a:chOff x="0" y="0"/>
          <a:chExt cx="0" cy="0"/>
        </a:xfrm>
      </p:grpSpPr>
      <p:sp>
        <p:nvSpPr>
          <p:cNvPr id="38" name="Google Shape;3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178FE82A-36FF-4BA6-BB0B-EAFF6D3A408E" id="39" name="Google Shape;39;p7"/>
          <p:cNvPicPr preferRelativeResize="0"/>
          <p:nvPr/>
        </p:nvPicPr>
        <p:blipFill rotWithShape="1">
          <a:blip r:embed="rId2">
            <a:alphaModFix/>
          </a:blip>
          <a:srcRect b="0" l="0" r="59286" t="0"/>
          <a:stretch/>
        </p:blipFill>
        <p:spPr>
          <a:xfrm>
            <a:off x="3174" y="4763"/>
            <a:ext cx="740241" cy="5138738"/>
          </a:xfrm>
          <a:prstGeom prst="rect">
            <a:avLst/>
          </a:prstGeom>
          <a:noFill/>
          <a:ln>
            <a:noFill/>
          </a:ln>
        </p:spPr>
      </p:pic>
      <p:sp>
        <p:nvSpPr>
          <p:cNvPr id="40" name="Google Shape;40;p7"/>
          <p:cNvSpPr txBox="1"/>
          <p:nvPr>
            <p:ph type="title"/>
          </p:nvPr>
        </p:nvSpPr>
        <p:spPr>
          <a:xfrm>
            <a:off x="995650" y="445025"/>
            <a:ext cx="7836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41" name="Google Shape;41;p7"/>
          <p:cNvSpPr txBox="1"/>
          <p:nvPr>
            <p:ph idx="1" type="body"/>
          </p:nvPr>
        </p:nvSpPr>
        <p:spPr>
          <a:xfrm>
            <a:off x="995650" y="1152475"/>
            <a:ext cx="78366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and one column (side bar) 3">
  <p:cSld name="1_Title slide_3">
    <p:spTree>
      <p:nvGrpSpPr>
        <p:cNvPr id="42" name="Shape 42"/>
        <p:cNvGrpSpPr/>
        <p:nvPr/>
      </p:nvGrpSpPr>
      <p:grpSpPr>
        <a:xfrm>
          <a:off x="0" y="0"/>
          <a:ext cx="0" cy="0"/>
          <a:chOff x="0" y="0"/>
          <a:chExt cx="0" cy="0"/>
        </a:xfrm>
      </p:grpSpPr>
      <p:sp>
        <p:nvSpPr>
          <p:cNvPr id="43" name="Google Shape;4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178FE82A-36FF-4BA6-BB0B-EAFF6D3A408E" id="44" name="Google Shape;44;p8"/>
          <p:cNvPicPr preferRelativeResize="0"/>
          <p:nvPr/>
        </p:nvPicPr>
        <p:blipFill rotWithShape="1">
          <a:blip r:embed="rId2">
            <a:alphaModFix/>
          </a:blip>
          <a:srcRect b="0" l="0" r="59286" t="0"/>
          <a:stretch/>
        </p:blipFill>
        <p:spPr>
          <a:xfrm>
            <a:off x="3174" y="4763"/>
            <a:ext cx="740241" cy="5138738"/>
          </a:xfrm>
          <a:prstGeom prst="rect">
            <a:avLst/>
          </a:prstGeom>
          <a:noFill/>
          <a:ln>
            <a:noFill/>
          </a:ln>
        </p:spPr>
      </p:pic>
      <p:sp>
        <p:nvSpPr>
          <p:cNvPr id="45" name="Google Shape;45;p8"/>
          <p:cNvSpPr txBox="1"/>
          <p:nvPr>
            <p:ph type="title"/>
          </p:nvPr>
        </p:nvSpPr>
        <p:spPr>
          <a:xfrm>
            <a:off x="995650" y="445025"/>
            <a:ext cx="7836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46" name="Google Shape;46;p8"/>
          <p:cNvSpPr txBox="1"/>
          <p:nvPr>
            <p:ph idx="1" type="body"/>
          </p:nvPr>
        </p:nvSpPr>
        <p:spPr>
          <a:xfrm>
            <a:off x="995650" y="1152475"/>
            <a:ext cx="78366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and one column (side bar) 4">
  <p:cSld name="1_Title slide_4">
    <p:spTree>
      <p:nvGrpSpPr>
        <p:cNvPr id="47" name="Shape 47"/>
        <p:cNvGrpSpPr/>
        <p:nvPr/>
      </p:nvGrpSpPr>
      <p:grpSpPr>
        <a:xfrm>
          <a:off x="0" y="0"/>
          <a:ext cx="0" cy="0"/>
          <a:chOff x="0" y="0"/>
          <a:chExt cx="0" cy="0"/>
        </a:xfrm>
      </p:grpSpPr>
      <p:sp>
        <p:nvSpPr>
          <p:cNvPr id="48" name="Google Shape;4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178FE82A-36FF-4BA6-BB0B-EAFF6D3A408E" id="49" name="Google Shape;49;p9"/>
          <p:cNvPicPr preferRelativeResize="0"/>
          <p:nvPr/>
        </p:nvPicPr>
        <p:blipFill rotWithShape="1">
          <a:blip r:embed="rId2">
            <a:alphaModFix/>
          </a:blip>
          <a:srcRect b="0" l="0" r="59286" t="0"/>
          <a:stretch/>
        </p:blipFill>
        <p:spPr>
          <a:xfrm>
            <a:off x="3174" y="4763"/>
            <a:ext cx="740241" cy="5138738"/>
          </a:xfrm>
          <a:prstGeom prst="rect">
            <a:avLst/>
          </a:prstGeom>
          <a:noFill/>
          <a:ln>
            <a:noFill/>
          </a:ln>
        </p:spPr>
      </p:pic>
      <p:sp>
        <p:nvSpPr>
          <p:cNvPr id="50" name="Google Shape;50;p9"/>
          <p:cNvSpPr txBox="1"/>
          <p:nvPr>
            <p:ph type="title"/>
          </p:nvPr>
        </p:nvSpPr>
        <p:spPr>
          <a:xfrm>
            <a:off x="995650" y="445025"/>
            <a:ext cx="7836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1" name="Google Shape;51;p9"/>
          <p:cNvSpPr txBox="1"/>
          <p:nvPr>
            <p:ph idx="1" type="body"/>
          </p:nvPr>
        </p:nvSpPr>
        <p:spPr>
          <a:xfrm>
            <a:off x="995650" y="1152475"/>
            <a:ext cx="78366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and one column (side bar) 5">
  <p:cSld name="1_Title slide_5">
    <p:spTree>
      <p:nvGrpSpPr>
        <p:cNvPr id="52" name="Shape 52"/>
        <p:cNvGrpSpPr/>
        <p:nvPr/>
      </p:nvGrpSpPr>
      <p:grpSpPr>
        <a:xfrm>
          <a:off x="0" y="0"/>
          <a:ext cx="0" cy="0"/>
          <a:chOff x="0" y="0"/>
          <a:chExt cx="0" cy="0"/>
        </a:xfrm>
      </p:grpSpPr>
      <p:sp>
        <p:nvSpPr>
          <p:cNvPr id="53" name="Google Shape;5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178FE82A-36FF-4BA6-BB0B-EAFF6D3A408E" id="54" name="Google Shape;54;p10"/>
          <p:cNvPicPr preferRelativeResize="0"/>
          <p:nvPr/>
        </p:nvPicPr>
        <p:blipFill rotWithShape="1">
          <a:blip r:embed="rId2">
            <a:alphaModFix/>
          </a:blip>
          <a:srcRect b="0" l="0" r="59286" t="0"/>
          <a:stretch/>
        </p:blipFill>
        <p:spPr>
          <a:xfrm>
            <a:off x="3174" y="4763"/>
            <a:ext cx="740241" cy="5138738"/>
          </a:xfrm>
          <a:prstGeom prst="rect">
            <a:avLst/>
          </a:prstGeom>
          <a:noFill/>
          <a:ln>
            <a:noFill/>
          </a:ln>
        </p:spPr>
      </p:pic>
      <p:sp>
        <p:nvSpPr>
          <p:cNvPr id="55" name="Google Shape;55;p10"/>
          <p:cNvSpPr txBox="1"/>
          <p:nvPr>
            <p:ph type="title"/>
          </p:nvPr>
        </p:nvSpPr>
        <p:spPr>
          <a:xfrm>
            <a:off x="995650" y="445025"/>
            <a:ext cx="7836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6" name="Google Shape;56;p10"/>
          <p:cNvSpPr txBox="1"/>
          <p:nvPr>
            <p:ph idx="1" type="body"/>
          </p:nvPr>
        </p:nvSpPr>
        <p:spPr>
          <a:xfrm>
            <a:off x="995650" y="1152475"/>
            <a:ext cx="78366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and one column (side bar) 6">
  <p:cSld name="1_Title slide_6">
    <p:spTree>
      <p:nvGrpSpPr>
        <p:cNvPr id="57" name="Shape 57"/>
        <p:cNvGrpSpPr/>
        <p:nvPr/>
      </p:nvGrpSpPr>
      <p:grpSpPr>
        <a:xfrm>
          <a:off x="0" y="0"/>
          <a:ext cx="0" cy="0"/>
          <a:chOff x="0" y="0"/>
          <a:chExt cx="0" cy="0"/>
        </a:xfrm>
      </p:grpSpPr>
      <p:sp>
        <p:nvSpPr>
          <p:cNvPr id="58" name="Google Shape;5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178FE82A-36FF-4BA6-BB0B-EAFF6D3A408E" id="59" name="Google Shape;59;p11"/>
          <p:cNvPicPr preferRelativeResize="0"/>
          <p:nvPr/>
        </p:nvPicPr>
        <p:blipFill rotWithShape="1">
          <a:blip r:embed="rId2">
            <a:alphaModFix/>
          </a:blip>
          <a:srcRect b="0" l="0" r="59286" t="0"/>
          <a:stretch/>
        </p:blipFill>
        <p:spPr>
          <a:xfrm>
            <a:off x="3174" y="4763"/>
            <a:ext cx="740241" cy="5138738"/>
          </a:xfrm>
          <a:prstGeom prst="rect">
            <a:avLst/>
          </a:prstGeom>
          <a:noFill/>
          <a:ln>
            <a:noFill/>
          </a:ln>
        </p:spPr>
      </p:pic>
      <p:sp>
        <p:nvSpPr>
          <p:cNvPr id="60" name="Google Shape;60;p11"/>
          <p:cNvSpPr txBox="1"/>
          <p:nvPr>
            <p:ph type="title"/>
          </p:nvPr>
        </p:nvSpPr>
        <p:spPr>
          <a:xfrm>
            <a:off x="995650" y="445025"/>
            <a:ext cx="7836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1" name="Google Shape;61;p11"/>
          <p:cNvSpPr txBox="1"/>
          <p:nvPr>
            <p:ph idx="1" type="body"/>
          </p:nvPr>
        </p:nvSpPr>
        <p:spPr>
          <a:xfrm>
            <a:off x="995650" y="1152475"/>
            <a:ext cx="78366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and one column (side bar) 7">
  <p:cSld name="1_Title slide_7">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178FE82A-36FF-4BA6-BB0B-EAFF6D3A408E" id="64" name="Google Shape;64;p12"/>
          <p:cNvPicPr preferRelativeResize="0"/>
          <p:nvPr/>
        </p:nvPicPr>
        <p:blipFill rotWithShape="1">
          <a:blip r:embed="rId2">
            <a:alphaModFix/>
          </a:blip>
          <a:srcRect b="0" l="0" r="59286" t="0"/>
          <a:stretch/>
        </p:blipFill>
        <p:spPr>
          <a:xfrm>
            <a:off x="3174" y="4763"/>
            <a:ext cx="740241" cy="5138738"/>
          </a:xfrm>
          <a:prstGeom prst="rect">
            <a:avLst/>
          </a:prstGeom>
          <a:noFill/>
          <a:ln>
            <a:noFill/>
          </a:ln>
        </p:spPr>
      </p:pic>
      <p:sp>
        <p:nvSpPr>
          <p:cNvPr id="65" name="Google Shape;65;p12"/>
          <p:cNvSpPr txBox="1"/>
          <p:nvPr>
            <p:ph type="title"/>
          </p:nvPr>
        </p:nvSpPr>
        <p:spPr>
          <a:xfrm>
            <a:off x="995650" y="445025"/>
            <a:ext cx="7836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6" name="Google Shape;66;p12"/>
          <p:cNvSpPr txBox="1"/>
          <p:nvPr>
            <p:ph idx="1" type="body"/>
          </p:nvPr>
        </p:nvSpPr>
        <p:spPr>
          <a:xfrm>
            <a:off x="995650" y="1152475"/>
            <a:ext cx="78366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2.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53492"/>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80D4"/>
              </a:buClr>
              <a:buSzPts val="2800"/>
              <a:buFont typeface="Rubik"/>
              <a:buNone/>
              <a:defRPr b="0" i="0" sz="2800" u="none" cap="none" strike="noStrike">
                <a:solidFill>
                  <a:srgbClr val="0080D4"/>
                </a:solidFill>
                <a:latin typeface="Rubik"/>
                <a:ea typeface="Rubik"/>
                <a:cs typeface="Rubik"/>
                <a:sym typeface="Rubik"/>
              </a:defRPr>
            </a:lvl1pPr>
            <a:lvl2pPr lvl="1"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2pPr>
            <a:lvl3pPr lvl="2"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3pPr>
            <a:lvl4pPr lvl="3"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4pPr>
            <a:lvl5pPr lvl="4"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5pPr>
            <a:lvl6pPr lvl="5"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6pPr>
            <a:lvl7pPr lvl="6"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7pPr>
            <a:lvl8pPr lvl="7"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8pPr>
            <a:lvl9pPr lvl="8"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20000"/>
              </a:lnSpc>
              <a:spcBef>
                <a:spcPts val="0"/>
              </a:spcBef>
              <a:spcAft>
                <a:spcPts val="0"/>
              </a:spcAft>
              <a:buClr>
                <a:srgbClr val="011529"/>
              </a:buClr>
              <a:buSzPts val="1800"/>
              <a:buFont typeface="Rubik"/>
              <a:buChar char="●"/>
              <a:defRPr b="0" i="0" sz="1800" u="none" cap="none" strike="noStrike">
                <a:solidFill>
                  <a:srgbClr val="011529"/>
                </a:solidFill>
                <a:latin typeface="Rubik"/>
                <a:ea typeface="Rubik"/>
                <a:cs typeface="Rubik"/>
                <a:sym typeface="Rubik"/>
              </a:defRPr>
            </a:lvl1pPr>
            <a:lvl2pPr indent="-317500" lvl="1" marL="9144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2pPr>
            <a:lvl3pPr indent="-317500" lvl="2" marL="13716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3pPr>
            <a:lvl4pPr indent="-317500" lvl="3" marL="18288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4pPr>
            <a:lvl5pPr indent="-317500" lvl="4" marL="22860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5pPr>
            <a:lvl6pPr indent="-317500" lvl="5" marL="27432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6pPr>
            <a:lvl7pPr indent="-317500" lvl="6" marL="32004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7pPr>
            <a:lvl8pPr indent="-317500" lvl="7" marL="36576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8pPr>
            <a:lvl9pPr indent="-317500" lvl="8" marL="41148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9pPr>
          </a:lstStyle>
          <a:p/>
        </p:txBody>
      </p:sp>
      <p:sp>
        <p:nvSpPr>
          <p:cNvPr id="8" name="Google Shape;8;p1"/>
          <p:cNvSpPr txBox="1"/>
          <p:nvPr>
            <p:ph idx="12" type="sldNum"/>
          </p:nvPr>
        </p:nvSpPr>
        <p:spPr>
          <a:xfrm>
            <a:off x="8472458" y="4629349"/>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
            <a:alphaModFix/>
          </a:blip>
          <a:srcRect b="0" l="0" r="0" t="0"/>
          <a:stretch/>
        </p:blipFill>
        <p:spPr>
          <a:xfrm>
            <a:off x="6938775" y="185727"/>
            <a:ext cx="1293451" cy="169451"/>
          </a:xfrm>
          <a:prstGeom prst="rect">
            <a:avLst/>
          </a:prstGeom>
          <a:noFill/>
          <a:ln>
            <a:noFill/>
          </a:ln>
        </p:spPr>
      </p:pic>
      <p:pic>
        <p:nvPicPr>
          <p:cNvPr id="10" name="Google Shape;10;p1"/>
          <p:cNvPicPr preferRelativeResize="0"/>
          <p:nvPr/>
        </p:nvPicPr>
        <p:blipFill rotWithShape="1">
          <a:blip r:embed="rId2">
            <a:alphaModFix/>
          </a:blip>
          <a:srcRect b="0" l="0" r="0" t="0"/>
          <a:stretch/>
        </p:blipFill>
        <p:spPr>
          <a:xfrm>
            <a:off x="8257776" y="172102"/>
            <a:ext cx="596897" cy="1967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56">
          <p15:clr>
            <a:srgbClr val="F06B4A"/>
          </p15:clr>
        </p15:guide>
        <p15:guide id="2" pos="5510">
          <p15:clr>
            <a:srgbClr val="F06B4A"/>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docs.dhis2.org/en/implement/data-quality/analysis.html#orgunits-consistently-reporting" TargetMode="External"/><Relationship Id="rId4" Type="http://schemas.openxmlformats.org/officeDocument/2006/relationships/hyperlink" Target="https://docs.dhis2.org/en/implement/data-quality/analysis.html#orgunits-consistently-report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dhis2.atlassian.net/browse/DHIS2-15874" TargetMode="External"/><Relationship Id="rId4" Type="http://schemas.openxmlformats.org/officeDocument/2006/relationships/hyperlink" Target="https://dhis2.atlassian.net/browse/DHIS2-15936" TargetMode="External"/><Relationship Id="rId5" Type="http://schemas.openxmlformats.org/officeDocument/2006/relationships/hyperlink" Target="https://dhis2.atlassian.net/browse/DHIS2-15434" TargetMode="External"/><Relationship Id="rId6" Type="http://schemas.openxmlformats.org/officeDocument/2006/relationships/hyperlink" Target="https://dhis2.atlassian.net/browse/DHIS2-16211" TargetMode="External"/><Relationship Id="rId7" Type="http://schemas.openxmlformats.org/officeDocument/2006/relationships/hyperlink" Target="https://dhis2.atlassian.net/browse/DHIS2-1503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3"/>
          <p:cNvSpPr txBox="1"/>
          <p:nvPr>
            <p:ph type="ctrTitle"/>
          </p:nvPr>
        </p:nvSpPr>
        <p:spPr>
          <a:xfrm>
            <a:off x="1504565" y="1177714"/>
            <a:ext cx="6219300" cy="177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Advanced Indicator Calculations</a:t>
            </a:r>
            <a:endParaRPr/>
          </a:p>
        </p:txBody>
      </p:sp>
      <p:sp>
        <p:nvSpPr>
          <p:cNvPr id="72" name="Google Shape;72;p13"/>
          <p:cNvSpPr txBox="1"/>
          <p:nvPr/>
        </p:nvSpPr>
        <p:spPr>
          <a:xfrm>
            <a:off x="1428375" y="3453825"/>
            <a:ext cx="1945500" cy="976800"/>
          </a:xfrm>
          <a:prstGeom prst="rect">
            <a:avLst/>
          </a:prstGeom>
          <a:noFill/>
          <a:ln>
            <a:noFill/>
          </a:ln>
        </p:spPr>
        <p:txBody>
          <a:bodyPr anchorCtr="0" anchor="t" bIns="0" lIns="0" spcFirstLastPara="1" rIns="0" wrap="square" tIns="0">
            <a:noAutofit/>
          </a:bodyPr>
          <a:lstStyle/>
          <a:p>
            <a:pPr indent="0" lvl="0" marL="114300" rtl="0" algn="l">
              <a:lnSpc>
                <a:spcPct val="115000"/>
              </a:lnSpc>
              <a:spcBef>
                <a:spcPts val="0"/>
              </a:spcBef>
              <a:spcAft>
                <a:spcPts val="0"/>
              </a:spcAft>
              <a:buNone/>
            </a:pPr>
            <a:r>
              <a:rPr lang="en" sz="1700">
                <a:solidFill>
                  <a:srgbClr val="011529"/>
                </a:solidFill>
                <a:latin typeface="Rubik"/>
                <a:ea typeface="Rubik"/>
                <a:cs typeface="Rubik"/>
                <a:sym typeface="Rubik"/>
              </a:rPr>
              <a:t>Jim Grace	       </a:t>
            </a:r>
            <a:endParaRPr sz="1700">
              <a:solidFill>
                <a:srgbClr val="011529"/>
              </a:solidFill>
              <a:latin typeface="Rubik"/>
              <a:ea typeface="Rubik"/>
              <a:cs typeface="Rubik"/>
              <a:sym typeface="Rubik"/>
            </a:endParaRPr>
          </a:p>
          <a:p>
            <a:pPr indent="0" lvl="0" marL="114300" rtl="0" algn="l">
              <a:lnSpc>
                <a:spcPct val="115000"/>
              </a:lnSpc>
              <a:spcBef>
                <a:spcPts val="0"/>
              </a:spcBef>
              <a:spcAft>
                <a:spcPts val="0"/>
              </a:spcAft>
              <a:buNone/>
            </a:pPr>
            <a:r>
              <a:rPr lang="en" sz="1700">
                <a:solidFill>
                  <a:srgbClr val="011529"/>
                </a:solidFill>
                <a:latin typeface="Rubik"/>
                <a:ea typeface="Rubik"/>
                <a:cs typeface="Rubik"/>
                <a:sym typeface="Rubik"/>
              </a:rPr>
              <a:t>Scott Russpatrick</a:t>
            </a:r>
            <a:endParaRPr sz="1700">
              <a:solidFill>
                <a:srgbClr val="011529"/>
              </a:solidFill>
              <a:latin typeface="Rubik"/>
              <a:ea typeface="Rubik"/>
              <a:cs typeface="Rubik"/>
              <a:sym typeface="Rubik"/>
            </a:endParaRPr>
          </a:p>
        </p:txBody>
      </p:sp>
      <p:sp>
        <p:nvSpPr>
          <p:cNvPr id="73" name="Google Shape;73;p13"/>
          <p:cNvSpPr txBox="1"/>
          <p:nvPr/>
        </p:nvSpPr>
        <p:spPr>
          <a:xfrm>
            <a:off x="5231471" y="3453825"/>
            <a:ext cx="3393300" cy="9768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0"/>
              </a:spcAft>
              <a:buNone/>
            </a:pPr>
            <a:r>
              <a:rPr lang="en" sz="1700">
                <a:solidFill>
                  <a:srgbClr val="011529"/>
                </a:solidFill>
                <a:latin typeface="Rubik"/>
                <a:ea typeface="Rubik"/>
                <a:cs typeface="Rubik"/>
                <a:sym typeface="Rubik"/>
              </a:rPr>
              <a:t>DHIS2 Annual Conference</a:t>
            </a:r>
            <a:endParaRPr sz="1700">
              <a:solidFill>
                <a:srgbClr val="011529"/>
              </a:solidFill>
              <a:latin typeface="Rubik"/>
              <a:ea typeface="Rubik"/>
              <a:cs typeface="Rubik"/>
              <a:sym typeface="Rubik"/>
            </a:endParaRPr>
          </a:p>
          <a:p>
            <a:pPr indent="0" lvl="0" marL="0" rtl="0" algn="r">
              <a:lnSpc>
                <a:spcPct val="115000"/>
              </a:lnSpc>
              <a:spcBef>
                <a:spcPts val="0"/>
              </a:spcBef>
              <a:spcAft>
                <a:spcPts val="0"/>
              </a:spcAft>
              <a:buNone/>
            </a:pPr>
            <a:r>
              <a:rPr lang="en" sz="1700">
                <a:solidFill>
                  <a:srgbClr val="011529"/>
                </a:solidFill>
                <a:latin typeface="Rubik"/>
                <a:ea typeface="Rubik"/>
                <a:cs typeface="Rubik"/>
                <a:sym typeface="Rubik"/>
              </a:rPr>
              <a:t>June 12, 2024</a:t>
            </a:r>
            <a:endParaRPr sz="1700">
              <a:solidFill>
                <a:srgbClr val="011529"/>
              </a:solidFill>
              <a:latin typeface="Rubik"/>
              <a:ea typeface="Rubik"/>
              <a:cs typeface="Rubik"/>
              <a:sym typeface="Rubik"/>
            </a:endParaRPr>
          </a:p>
        </p:txBody>
      </p:sp>
      <p:sp>
        <p:nvSpPr>
          <p:cNvPr id="74" name="Google Shape;74;p13"/>
          <p:cNvSpPr txBox="1"/>
          <p:nvPr/>
        </p:nvSpPr>
        <p:spPr>
          <a:xfrm>
            <a:off x="3379125" y="3453825"/>
            <a:ext cx="1945500" cy="976800"/>
          </a:xfrm>
          <a:prstGeom prst="rect">
            <a:avLst/>
          </a:prstGeom>
          <a:noFill/>
          <a:ln>
            <a:noFill/>
          </a:ln>
        </p:spPr>
        <p:txBody>
          <a:bodyPr anchorCtr="0" anchor="t" bIns="0" lIns="0" spcFirstLastPara="1" rIns="0" wrap="square" tIns="0">
            <a:noAutofit/>
          </a:bodyPr>
          <a:lstStyle/>
          <a:p>
            <a:pPr indent="0" lvl="0" marL="114300" rtl="0" algn="r">
              <a:lnSpc>
                <a:spcPct val="115000"/>
              </a:lnSpc>
              <a:spcBef>
                <a:spcPts val="0"/>
              </a:spcBef>
              <a:spcAft>
                <a:spcPts val="0"/>
              </a:spcAft>
              <a:buNone/>
            </a:pPr>
            <a:r>
              <a:rPr lang="en" sz="1700">
                <a:solidFill>
                  <a:srgbClr val="0080D4"/>
                </a:solidFill>
                <a:latin typeface="Rubik"/>
                <a:ea typeface="Rubik"/>
                <a:cs typeface="Rubik"/>
                <a:sym typeface="Rubik"/>
              </a:rPr>
              <a:t>jim@dhis2.org</a:t>
            </a:r>
            <a:endParaRPr sz="1700">
              <a:solidFill>
                <a:srgbClr val="0080D4"/>
              </a:solidFill>
              <a:latin typeface="Rubik"/>
              <a:ea typeface="Rubik"/>
              <a:cs typeface="Rubik"/>
              <a:sym typeface="Rubik"/>
            </a:endParaRPr>
          </a:p>
          <a:p>
            <a:pPr indent="0" lvl="0" marL="114300" rtl="0" algn="r">
              <a:lnSpc>
                <a:spcPct val="115000"/>
              </a:lnSpc>
              <a:spcBef>
                <a:spcPts val="0"/>
              </a:spcBef>
              <a:spcAft>
                <a:spcPts val="0"/>
              </a:spcAft>
              <a:buNone/>
            </a:pPr>
            <a:r>
              <a:rPr lang="en" sz="1700">
                <a:solidFill>
                  <a:srgbClr val="0080D4"/>
                </a:solidFill>
                <a:latin typeface="Rubik"/>
                <a:ea typeface="Rubik"/>
                <a:cs typeface="Rubik"/>
                <a:sym typeface="Rubik"/>
              </a:rPr>
              <a:t>scott@dhis2.org</a:t>
            </a:r>
            <a:endParaRPr sz="1700">
              <a:solidFill>
                <a:srgbClr val="0080D4"/>
              </a:solidFill>
              <a:latin typeface="Rubik"/>
              <a:ea typeface="Rubik"/>
              <a:cs typeface="Rubik"/>
              <a:sym typeface="Rubi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Advanced Indicator Calculations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80" name="Google Shape;80;p14"/>
          <p:cNvSpPr txBox="1"/>
          <p:nvPr>
            <p:ph idx="1" type="body"/>
          </p:nvPr>
        </p:nvSpPr>
        <p:spPr>
          <a:xfrm>
            <a:off x="1559700" y="1321150"/>
            <a:ext cx="7272600" cy="322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200"/>
          </a:p>
          <a:p>
            <a:pPr indent="-368300" lvl="0" marL="457200" rtl="0" algn="l">
              <a:spcBef>
                <a:spcPts val="0"/>
              </a:spcBef>
              <a:spcAft>
                <a:spcPts val="0"/>
              </a:spcAft>
              <a:buSzPts val="2200"/>
              <a:buAutoNum type="alphaUcPeriod"/>
            </a:pPr>
            <a:r>
              <a:rPr lang="en" sz="2200"/>
              <a:t>Data Quality use-case</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B.	Other advanced indicator features</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a:t>
            </a:r>
            <a:r>
              <a:rPr lang="en"/>
              <a:t>Data Quality Use-case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6" name="Google Shape;86;p15"/>
          <p:cNvSpPr txBox="1"/>
          <p:nvPr>
            <p:ph idx="1" type="body"/>
          </p:nvPr>
        </p:nvSpPr>
        <p:spPr>
          <a:xfrm>
            <a:off x="1093375" y="1452550"/>
            <a:ext cx="6369600" cy="22722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AutoNum type="arabicPeriod"/>
            </a:pPr>
            <a:r>
              <a:rPr lang="en" sz="2200"/>
              <a:t>Data element reporting rates</a:t>
            </a:r>
            <a:br>
              <a:rPr lang="en" sz="2200"/>
            </a:br>
            <a:endParaRPr sz="2200"/>
          </a:p>
          <a:p>
            <a:pPr indent="-368300" lvl="0" marL="457200" rtl="0" algn="l">
              <a:spcBef>
                <a:spcPts val="0"/>
              </a:spcBef>
              <a:spcAft>
                <a:spcPts val="0"/>
              </a:spcAft>
              <a:buSzPts val="2200"/>
              <a:buAutoNum type="arabicPeriod"/>
            </a:pPr>
            <a:r>
              <a:rPr lang="en" sz="2200"/>
              <a:t>Facility reporting consistency</a:t>
            </a:r>
            <a:br>
              <a:rPr lang="en" sz="2200"/>
            </a:br>
            <a:endParaRPr sz="2200"/>
          </a:p>
          <a:p>
            <a:pPr indent="-368300" lvl="0" marL="457200" rtl="0" algn="l">
              <a:spcBef>
                <a:spcPts val="0"/>
              </a:spcBef>
              <a:spcAft>
                <a:spcPts val="0"/>
              </a:spcAft>
              <a:buSzPts val="2200"/>
              <a:buAutoNum type="arabicPeriod"/>
            </a:pPr>
            <a:r>
              <a:rPr lang="en" sz="2200"/>
              <a:t>Outlier impact</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element reporting rates</a:t>
            </a:r>
            <a:endParaRPr/>
          </a:p>
        </p:txBody>
      </p:sp>
      <p:sp>
        <p:nvSpPr>
          <p:cNvPr id="92" name="Google Shape;92;p16"/>
          <p:cNvSpPr txBox="1"/>
          <p:nvPr>
            <p:ph idx="1" type="body"/>
          </p:nvPr>
        </p:nvSpPr>
        <p:spPr>
          <a:xfrm>
            <a:off x="311700" y="1152475"/>
            <a:ext cx="8520600" cy="3225300"/>
          </a:xfrm>
          <a:prstGeom prst="rect">
            <a:avLst/>
          </a:prstGeom>
        </p:spPr>
        <p:txBody>
          <a:bodyPr anchorCtr="0" anchor="t" bIns="91425" lIns="91425" spcFirstLastPara="1" rIns="91425" wrap="square" tIns="91425">
            <a:noAutofit/>
          </a:bodyPr>
          <a:lstStyle/>
          <a:p>
            <a:pPr indent="0" lvl="0" marL="0" rtl="0" algn="l">
              <a:lnSpc>
                <a:spcPct val="115000"/>
              </a:lnSpc>
              <a:spcBef>
                <a:spcPts val="11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Data set completeness and timeliness are useful measures to monitor the overall reporting performance of the system. However, there are several conditions that needs to be met for the data set completeness to give a representative indication of completeness of the data within the data set:</a:t>
            </a:r>
            <a:endParaRPr sz="1100">
              <a:solidFill>
                <a:schemeClr val="dk1"/>
              </a:solidFill>
              <a:highlight>
                <a:srgbClr val="FFFFFF"/>
              </a:highlight>
              <a:latin typeface="Roboto"/>
              <a:ea typeface="Roboto"/>
              <a:cs typeface="Roboto"/>
              <a:sym typeface="Roboto"/>
            </a:endParaRPr>
          </a:p>
          <a:p>
            <a:pPr indent="-298450" lvl="0" marL="723900" rtl="0" algn="l">
              <a:lnSpc>
                <a:spcPct val="115000"/>
              </a:lnSpc>
              <a:spcBef>
                <a:spcPts val="1100"/>
              </a:spcBef>
              <a:spcAft>
                <a:spcPts val="0"/>
              </a:spcAft>
              <a:buClr>
                <a:schemeClr val="dk1"/>
              </a:buClr>
              <a:buSzPts val="1100"/>
              <a:buFont typeface="Roboto"/>
              <a:buChar char="●"/>
            </a:pPr>
            <a:r>
              <a:rPr lang="en" sz="1100">
                <a:solidFill>
                  <a:schemeClr val="dk1"/>
                </a:solidFill>
                <a:highlight>
                  <a:srgbClr val="FFFFFF"/>
                </a:highlight>
                <a:latin typeface="Roboto"/>
                <a:ea typeface="Roboto"/>
                <a:cs typeface="Roboto"/>
                <a:sym typeface="Roboto"/>
              </a:rPr>
              <a:t>Users must remember to mark the data set as complete when data has been entered</a:t>
            </a:r>
            <a:endParaRPr sz="1100">
              <a:solidFill>
                <a:schemeClr val="dk1"/>
              </a:solidFill>
              <a:highlight>
                <a:srgbClr val="FFFFFF"/>
              </a:highlight>
              <a:latin typeface="Roboto"/>
              <a:ea typeface="Roboto"/>
              <a:cs typeface="Roboto"/>
              <a:sym typeface="Roboto"/>
            </a:endParaRPr>
          </a:p>
          <a:p>
            <a:pPr indent="-298450" lvl="0" marL="723900" rtl="0" algn="l">
              <a:lnSpc>
                <a:spcPct val="115000"/>
              </a:lnSpc>
              <a:spcBef>
                <a:spcPts val="0"/>
              </a:spcBef>
              <a:spcAft>
                <a:spcPts val="0"/>
              </a:spcAft>
              <a:buClr>
                <a:schemeClr val="dk1"/>
              </a:buClr>
              <a:buSzPts val="1100"/>
              <a:buFont typeface="Roboto"/>
              <a:buChar char="●"/>
            </a:pPr>
            <a:r>
              <a:rPr lang="en" sz="1100">
                <a:solidFill>
                  <a:schemeClr val="dk1"/>
                </a:solidFill>
                <a:highlight>
                  <a:srgbClr val="FFFFFF"/>
                </a:highlight>
                <a:latin typeface="Roboto"/>
                <a:ea typeface="Roboto"/>
                <a:cs typeface="Roboto"/>
                <a:sym typeface="Roboto"/>
              </a:rPr>
              <a:t>User must actually enter data in the form before marking it as complete</a:t>
            </a:r>
            <a:endParaRPr sz="1100">
              <a:solidFill>
                <a:schemeClr val="dk1"/>
              </a:solidFill>
              <a:highlight>
                <a:srgbClr val="FFFFFF"/>
              </a:highlight>
              <a:latin typeface="Roboto"/>
              <a:ea typeface="Roboto"/>
              <a:cs typeface="Roboto"/>
              <a:sym typeface="Roboto"/>
            </a:endParaRPr>
          </a:p>
          <a:p>
            <a:pPr indent="-298450" lvl="0" marL="723900" rtl="0" algn="l">
              <a:lnSpc>
                <a:spcPct val="115000"/>
              </a:lnSpc>
              <a:spcBef>
                <a:spcPts val="0"/>
              </a:spcBef>
              <a:spcAft>
                <a:spcPts val="0"/>
              </a:spcAft>
              <a:buClr>
                <a:schemeClr val="dk1"/>
              </a:buClr>
              <a:buSzPts val="1100"/>
              <a:buFont typeface="Roboto"/>
              <a:buChar char="●"/>
            </a:pPr>
            <a:r>
              <a:rPr lang="en" sz="1100">
                <a:solidFill>
                  <a:schemeClr val="dk1"/>
                </a:solidFill>
                <a:highlight>
                  <a:srgbClr val="FFFFFF"/>
                </a:highlight>
                <a:latin typeface="Roboto"/>
                <a:ea typeface="Roboto"/>
                <a:cs typeface="Roboto"/>
                <a:sym typeface="Roboto"/>
              </a:rPr>
              <a:t>Assignment of data set to orgunits (facilities) must be correct</a:t>
            </a:r>
            <a:endParaRPr sz="1100">
              <a:solidFill>
                <a:schemeClr val="dk1"/>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Often, one or more of these conditions are </a:t>
            </a:r>
            <a:r>
              <a:rPr i="1" lang="en" sz="1100">
                <a:solidFill>
                  <a:schemeClr val="dk1"/>
                </a:solidFill>
                <a:highlight>
                  <a:srgbClr val="FFFFFF"/>
                </a:highlight>
                <a:latin typeface="Roboto"/>
                <a:ea typeface="Roboto"/>
                <a:cs typeface="Roboto"/>
                <a:sym typeface="Roboto"/>
              </a:rPr>
              <a:t>not</a:t>
            </a:r>
            <a:r>
              <a:rPr lang="en" sz="1100">
                <a:solidFill>
                  <a:schemeClr val="dk1"/>
                </a:solidFill>
                <a:highlight>
                  <a:srgbClr val="FFFFFF"/>
                </a:highlight>
                <a:latin typeface="Roboto"/>
                <a:ea typeface="Roboto"/>
                <a:cs typeface="Roboto"/>
                <a:sym typeface="Roboto"/>
              </a:rPr>
              <a:t> met, which means that it is necessary to also do additional analysis of the reporting completeness. In this section we show</a:t>
            </a:r>
            <a:endParaRPr sz="1100">
              <a:solidFill>
                <a:schemeClr val="dk1"/>
              </a:solidFill>
              <a:highlight>
                <a:srgbClr val="FFFFFF"/>
              </a:highlight>
              <a:latin typeface="Roboto"/>
              <a:ea typeface="Roboto"/>
              <a:cs typeface="Roboto"/>
              <a:sym typeface="Roboto"/>
            </a:endParaRPr>
          </a:p>
          <a:p>
            <a:pPr indent="-298450" lvl="0" marL="723900" rtl="0" algn="l">
              <a:lnSpc>
                <a:spcPct val="115000"/>
              </a:lnSpc>
              <a:spcBef>
                <a:spcPts val="1100"/>
              </a:spcBef>
              <a:spcAft>
                <a:spcPts val="0"/>
              </a:spcAft>
              <a:buClr>
                <a:schemeClr val="dk1"/>
              </a:buClr>
              <a:buSzPts val="1100"/>
              <a:buFont typeface="Roboto"/>
              <a:buChar char="●"/>
            </a:pPr>
            <a:r>
              <a:rPr lang="en" sz="1100">
                <a:solidFill>
                  <a:schemeClr val="dk1"/>
                </a:solidFill>
                <a:highlight>
                  <a:srgbClr val="FFFFFF"/>
                </a:highlight>
                <a:latin typeface="Roboto"/>
                <a:ea typeface="Roboto"/>
                <a:cs typeface="Roboto"/>
                <a:sym typeface="Roboto"/>
              </a:rPr>
              <a:t>How to analyse the proportion of facilities that </a:t>
            </a:r>
            <a:r>
              <a:rPr i="1" lang="en" sz="1100">
                <a:solidFill>
                  <a:schemeClr val="dk1"/>
                </a:solidFill>
                <a:highlight>
                  <a:srgbClr val="FFFFFF"/>
                </a:highlight>
                <a:latin typeface="Roboto"/>
                <a:ea typeface="Roboto"/>
                <a:cs typeface="Roboto"/>
                <a:sym typeface="Roboto"/>
              </a:rPr>
              <a:t>consistently report</a:t>
            </a:r>
            <a:r>
              <a:rPr lang="en" sz="1100">
                <a:solidFill>
                  <a:schemeClr val="dk1"/>
                </a:solidFill>
                <a:highlight>
                  <a:srgbClr val="FFFFFF"/>
                </a:highlight>
                <a:latin typeface="Roboto"/>
                <a:ea typeface="Roboto"/>
                <a:cs typeface="Roboto"/>
                <a:sym typeface="Roboto"/>
              </a:rPr>
              <a:t> data element values over a time period, and</a:t>
            </a:r>
            <a:endParaRPr sz="1100">
              <a:solidFill>
                <a:schemeClr val="dk1"/>
              </a:solidFill>
              <a:highlight>
                <a:srgbClr val="FFFFFF"/>
              </a:highlight>
              <a:latin typeface="Roboto"/>
              <a:ea typeface="Roboto"/>
              <a:cs typeface="Roboto"/>
              <a:sym typeface="Roboto"/>
            </a:endParaRPr>
          </a:p>
          <a:p>
            <a:pPr indent="-298450" lvl="0" marL="723900" rtl="0" algn="l">
              <a:lnSpc>
                <a:spcPct val="115000"/>
              </a:lnSpc>
              <a:spcBef>
                <a:spcPts val="0"/>
              </a:spcBef>
              <a:spcAft>
                <a:spcPts val="0"/>
              </a:spcAft>
              <a:buClr>
                <a:schemeClr val="dk1"/>
              </a:buClr>
              <a:buSzPts val="1100"/>
              <a:buFont typeface="Roboto"/>
              <a:buChar char="●"/>
            </a:pPr>
            <a:r>
              <a:rPr lang="en" sz="1100">
                <a:solidFill>
                  <a:schemeClr val="dk1"/>
                </a:solidFill>
                <a:highlight>
                  <a:srgbClr val="FFFFFF"/>
                </a:highlight>
                <a:latin typeface="Roboto"/>
                <a:ea typeface="Roboto"/>
                <a:cs typeface="Roboto"/>
                <a:sym typeface="Roboto"/>
              </a:rPr>
              <a:t>How to analyse completeness of an individual data element</a:t>
            </a:r>
            <a:endParaRPr sz="1100">
              <a:solidFill>
                <a:schemeClr val="dk1"/>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Common for the approaches outlined is that they require us to configure additional metadata for each variable we want to assess. In practice, this means that they can only be implemented for a limited set of data elements. The implementation section discusses this further.</a:t>
            </a:r>
            <a:endParaRPr sz="1100">
              <a:solidFill>
                <a:schemeClr val="dk1"/>
              </a:solidFill>
              <a:highlight>
                <a:srgbClr val="FFFFFF"/>
              </a:highlight>
              <a:latin typeface="Roboto"/>
              <a:ea typeface="Roboto"/>
              <a:cs typeface="Roboto"/>
              <a:sym typeface="Roboto"/>
            </a:endParaRPr>
          </a:p>
          <a:p>
            <a:pPr indent="0" lvl="0" marL="0" rtl="0" algn="l">
              <a:spcBef>
                <a:spcPts val="11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element reporting rates</a:t>
            </a:r>
            <a:endParaRPr/>
          </a:p>
        </p:txBody>
      </p:sp>
      <p:sp>
        <p:nvSpPr>
          <p:cNvPr id="98" name="Google Shape;98;p17"/>
          <p:cNvSpPr txBox="1"/>
          <p:nvPr>
            <p:ph idx="1" type="body"/>
          </p:nvPr>
        </p:nvSpPr>
        <p:spPr>
          <a:xfrm>
            <a:off x="311700" y="1152475"/>
            <a:ext cx="8520600" cy="322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99" name="Google Shape;99;p17"/>
          <p:cNvPicPr preferRelativeResize="0"/>
          <p:nvPr/>
        </p:nvPicPr>
        <p:blipFill>
          <a:blip r:embed="rId3">
            <a:alphaModFix/>
          </a:blip>
          <a:stretch>
            <a:fillRect/>
          </a:stretch>
        </p:blipFill>
        <p:spPr>
          <a:xfrm>
            <a:off x="311700" y="1152475"/>
            <a:ext cx="7685126" cy="1674200"/>
          </a:xfrm>
          <a:prstGeom prst="rect">
            <a:avLst/>
          </a:prstGeom>
          <a:noFill/>
          <a:ln>
            <a:noFill/>
          </a:ln>
        </p:spPr>
      </p:pic>
      <p:sp>
        <p:nvSpPr>
          <p:cNvPr id="100" name="Google Shape;100;p17"/>
          <p:cNvSpPr txBox="1"/>
          <p:nvPr/>
        </p:nvSpPr>
        <p:spPr>
          <a:xfrm>
            <a:off x="1704050" y="2789250"/>
            <a:ext cx="6019800" cy="8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11529"/>
                </a:solidFill>
                <a:latin typeface="Rubik"/>
                <a:ea typeface="Rubik"/>
                <a:cs typeface="Rubik"/>
                <a:sym typeface="Rubik"/>
              </a:rPr>
              <a:t>         1                          2                         3                          4</a:t>
            </a:r>
            <a:endParaRPr sz="1800">
              <a:solidFill>
                <a:srgbClr val="011529"/>
              </a:solidFill>
              <a:latin typeface="Rubik"/>
              <a:ea typeface="Rubik"/>
              <a:cs typeface="Rubik"/>
              <a:sym typeface="Rubi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311700" y="280500"/>
            <a:ext cx="8520600" cy="73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Values reported for a related data value (Option 3) </a:t>
            </a:r>
            <a:endParaRPr/>
          </a:p>
        </p:txBody>
      </p:sp>
      <p:sp>
        <p:nvSpPr>
          <p:cNvPr id="106" name="Google Shape;106;p18"/>
          <p:cNvSpPr txBox="1"/>
          <p:nvPr>
            <p:ph idx="1" type="body"/>
          </p:nvPr>
        </p:nvSpPr>
        <p:spPr>
          <a:xfrm>
            <a:off x="311700" y="1152475"/>
            <a:ext cx="8520600" cy="3795000"/>
          </a:xfrm>
          <a:prstGeom prst="rect">
            <a:avLst/>
          </a:prstGeom>
        </p:spPr>
        <p:txBody>
          <a:bodyPr anchorCtr="0" anchor="t" bIns="91425" lIns="91425" spcFirstLastPara="1" rIns="91425" wrap="square" tIns="91425">
            <a:noAutofit/>
          </a:bodyPr>
          <a:lstStyle/>
          <a:p>
            <a:pPr indent="0" lvl="0" marL="0" rtl="0" algn="l">
              <a:lnSpc>
                <a:spcPct val="115000"/>
              </a:lnSpc>
              <a:spcBef>
                <a:spcPts val="1100"/>
              </a:spcBef>
              <a:spcAft>
                <a:spcPts val="0"/>
              </a:spcAft>
              <a:buClr>
                <a:schemeClr val="dk1"/>
              </a:buClr>
              <a:buSzPts val="1100"/>
              <a:buFont typeface="Arial"/>
              <a:buNone/>
            </a:pPr>
            <a:r>
              <a:rPr b="1" i="1" lang="en" sz="800">
                <a:solidFill>
                  <a:schemeClr val="dk1"/>
                </a:solidFill>
                <a:highlight>
                  <a:srgbClr val="FFFFFF"/>
                </a:highlight>
                <a:latin typeface="Roboto"/>
                <a:ea typeface="Roboto"/>
                <a:cs typeface="Roboto"/>
                <a:sym typeface="Roboto"/>
              </a:rPr>
              <a:t>Based on data element in the same data set</a:t>
            </a:r>
            <a:endParaRPr b="1" i="1" sz="800">
              <a:solidFill>
                <a:schemeClr val="dk1"/>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lang="en" sz="800">
                <a:solidFill>
                  <a:schemeClr val="dk1"/>
                </a:solidFill>
                <a:highlight>
                  <a:srgbClr val="FFFFFF"/>
                </a:highlight>
                <a:latin typeface="Roboto"/>
                <a:ea typeface="Roboto"/>
                <a:cs typeface="Roboto"/>
                <a:sym typeface="Roboto"/>
              </a:rPr>
              <a:t>This option is similar to the above, but using a data element reported in the same data set or data set section as the data element you are calculating the reporting rate for (numerator) - without necessarily being logically related. With this approach, you should choose a data element that is always (or often) reported on in the data set. For example, in a data set with maternal health data, more health facilities will likely report on a data element for “Antenatal care first visits” than for “Assisted delivery”, and “Antenatal care first visits” would therefore be a better estimation of the number of expected reports.</a:t>
            </a:r>
            <a:endParaRPr sz="800">
              <a:solidFill>
                <a:schemeClr val="dk1"/>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b="1" i="1" lang="en" sz="800">
                <a:solidFill>
                  <a:schemeClr val="dk1"/>
                </a:solidFill>
                <a:highlight>
                  <a:srgbClr val="FFFFFF"/>
                </a:highlight>
                <a:latin typeface="Roboto"/>
                <a:ea typeface="Roboto"/>
                <a:cs typeface="Roboto"/>
                <a:sym typeface="Roboto"/>
              </a:rPr>
              <a:t>Based on core indicator</a:t>
            </a:r>
            <a:endParaRPr b="1" i="1" sz="800">
              <a:solidFill>
                <a:schemeClr val="dk1"/>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lang="en" sz="800">
                <a:solidFill>
                  <a:schemeClr val="dk1"/>
                </a:solidFill>
                <a:highlight>
                  <a:srgbClr val="FFFFFF"/>
                </a:highlight>
                <a:latin typeface="Roboto"/>
                <a:ea typeface="Roboto"/>
                <a:cs typeface="Roboto"/>
                <a:sym typeface="Roboto"/>
              </a:rPr>
              <a:t>If the data element you want to get a reporting rate for is used in a key performance indicator calculation with routinely reported data in the denominator, using the count of values reported for the denominator to calculate completeness is recommended. This option is not viable if the data element is not used in an indicator calculations, or if the denominator is based on a population estimate or other value that is not reported with the same periodicity as the numerator.</a:t>
            </a:r>
            <a:endParaRPr sz="800">
              <a:solidFill>
                <a:schemeClr val="dk1"/>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lang="en" sz="800">
                <a:solidFill>
                  <a:schemeClr val="dk1"/>
                </a:solidFill>
                <a:highlight>
                  <a:srgbClr val="FFFFFF"/>
                </a:highlight>
                <a:latin typeface="Roboto"/>
                <a:ea typeface="Roboto"/>
                <a:cs typeface="Roboto"/>
                <a:sym typeface="Roboto"/>
              </a:rPr>
              <a:t>As an example, consider the indicator Suspected cases tested for Malaria (%):</a:t>
            </a:r>
            <a:endParaRPr sz="800">
              <a:solidFill>
                <a:schemeClr val="dk1"/>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lang="en" sz="800">
                <a:solidFill>
                  <a:schemeClr val="dk1"/>
                </a:solidFill>
                <a:highlight>
                  <a:srgbClr val="FFFFFF"/>
                </a:highlight>
                <a:latin typeface="Roboto"/>
                <a:ea typeface="Roboto"/>
                <a:cs typeface="Roboto"/>
                <a:sym typeface="Roboto"/>
              </a:rPr>
              <a:t>100 x (Malaria tested cases / Suspected cases)</a:t>
            </a:r>
            <a:endParaRPr sz="800">
              <a:solidFill>
                <a:schemeClr val="dk1"/>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lang="en" sz="800">
                <a:solidFill>
                  <a:schemeClr val="dk1"/>
                </a:solidFill>
                <a:highlight>
                  <a:srgbClr val="FFFFFF"/>
                </a:highlight>
                <a:latin typeface="Roboto"/>
                <a:ea typeface="Roboto"/>
                <a:cs typeface="Roboto"/>
                <a:sym typeface="Roboto"/>
              </a:rPr>
              <a:t>In this case, it can be useful to look at the completeness of Malaria cases tested with the count of Suspected cases as denominator.</a:t>
            </a:r>
            <a:endParaRPr sz="800">
              <a:solidFill>
                <a:schemeClr val="dk1"/>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lang="en" sz="800">
                <a:solidFill>
                  <a:schemeClr val="dk1"/>
                </a:solidFill>
                <a:highlight>
                  <a:srgbClr val="FFFFFF"/>
                </a:highlight>
                <a:latin typeface="Roboto"/>
                <a:ea typeface="Roboto"/>
                <a:cs typeface="Roboto"/>
                <a:sym typeface="Roboto"/>
              </a:rPr>
              <a:t>The advantage of this option is that it gives a good indication of the completeness/consistency of data used to calculate a particular core indicator.</a:t>
            </a:r>
            <a:endParaRPr sz="800">
              <a:solidFill>
                <a:schemeClr val="dk1"/>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b="1" i="1" lang="en" sz="800">
                <a:solidFill>
                  <a:schemeClr val="dk1"/>
                </a:solidFill>
                <a:highlight>
                  <a:srgbClr val="FFFFFF"/>
                </a:highlight>
                <a:latin typeface="Roboto"/>
                <a:ea typeface="Roboto"/>
                <a:cs typeface="Roboto"/>
                <a:sym typeface="Roboto"/>
              </a:rPr>
              <a:t>Based on related data element</a:t>
            </a:r>
            <a:endParaRPr b="1" i="1" sz="800">
              <a:solidFill>
                <a:schemeClr val="dk1"/>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Clr>
                <a:schemeClr val="dk1"/>
              </a:buClr>
              <a:buSzPts val="1100"/>
              <a:buFont typeface="Arial"/>
              <a:buNone/>
            </a:pPr>
            <a:r>
              <a:rPr lang="en" sz="800">
                <a:solidFill>
                  <a:schemeClr val="dk1"/>
                </a:solidFill>
                <a:highlight>
                  <a:srgbClr val="FFFFFF"/>
                </a:highlight>
                <a:latin typeface="Roboto"/>
                <a:ea typeface="Roboto"/>
                <a:cs typeface="Roboto"/>
                <a:sym typeface="Roboto"/>
              </a:rPr>
              <a:t>This option is similar to the above, but using a data element that is closely related to the data element in the numerator to calculate the denominator. For example, if you are looking at a reporting rate for inpatient malaria cases under 5 years (numerator), then you might consider using the count of inpatient malaria cases 5 years and above, inpatient malaria deaths, outpatient malaria cases or similar as denominator.</a:t>
            </a:r>
            <a:endParaRPr sz="800">
              <a:solidFill>
                <a:schemeClr val="dk1"/>
              </a:solidFill>
              <a:highlight>
                <a:srgbClr val="FFFFFF"/>
              </a:highlight>
              <a:latin typeface="Roboto"/>
              <a:ea typeface="Roboto"/>
              <a:cs typeface="Roboto"/>
              <a:sym typeface="Roboto"/>
            </a:endParaRPr>
          </a:p>
          <a:p>
            <a:pPr indent="0" lvl="0" marL="0" rtl="0" algn="l">
              <a:spcBef>
                <a:spcPts val="1100"/>
              </a:spcBef>
              <a:spcAft>
                <a:spcPts val="0"/>
              </a:spcAft>
              <a:buNone/>
            </a:pPr>
            <a:r>
              <a:t/>
            </a:r>
            <a:endParaRPr sz="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11700" y="236675"/>
            <a:ext cx="8520600" cy="78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Data Values reported for a related data value (Option 4) </a:t>
            </a:r>
            <a:endParaRPr/>
          </a:p>
          <a:p>
            <a:pPr indent="0" lvl="0" marL="0" rtl="0" algn="l">
              <a:spcBef>
                <a:spcPts val="0"/>
              </a:spcBef>
              <a:spcAft>
                <a:spcPts val="0"/>
              </a:spcAft>
              <a:buNone/>
            </a:pPr>
            <a:r>
              <a:t/>
            </a:r>
            <a:endParaRPr/>
          </a:p>
        </p:txBody>
      </p:sp>
      <p:sp>
        <p:nvSpPr>
          <p:cNvPr id="112" name="Google Shape;112;p19"/>
          <p:cNvSpPr txBox="1"/>
          <p:nvPr>
            <p:ph idx="1" type="body"/>
          </p:nvPr>
        </p:nvSpPr>
        <p:spPr>
          <a:xfrm>
            <a:off x="311700" y="1152475"/>
            <a:ext cx="8520600" cy="3225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The final option is to use the count of facilities that have reported on the data element previously, within a given time frame, as denominator. This is similar to the denominator used for the indicator on </a:t>
            </a:r>
            <a:r>
              <a:rPr lang="en" sz="1200" u="sng">
                <a:solidFill>
                  <a:schemeClr val="hlink"/>
                </a:solidFill>
                <a:highlight>
                  <a:srgbClr val="FFFFFF"/>
                </a:highlight>
                <a:latin typeface="Roboto"/>
                <a:ea typeface="Roboto"/>
                <a:cs typeface="Roboto"/>
                <a:sym typeface="Roboto"/>
                <a:hlinkClick r:id="rId3"/>
              </a:rPr>
              <a:t>“facilities consistently reporting.”</a:t>
            </a:r>
            <a:r>
              <a:rPr lang="en" sz="1200">
                <a:solidFill>
                  <a:schemeClr val="dk1"/>
                </a:solidFill>
                <a:highlight>
                  <a:srgbClr val="FFFFFF"/>
                </a:highlight>
                <a:latin typeface="Roboto"/>
                <a:ea typeface="Roboto"/>
                <a:cs typeface="Roboto"/>
                <a:sym typeface="Roboto"/>
              </a:rPr>
              <a:t> This can be a good estimation of the number of expected reports, in particular in cases where data set assignment is not accurate: if a facilities has reported on a particular data element previously, it typically means the the facility is providing whatever service/diagnostic the data element represents and one can expect it should report on it routinely. However, the results should still be analyzed together with the overall data set completeness since it will not include facilities that are </a:t>
            </a:r>
            <a:r>
              <a:rPr i="1" lang="en" sz="1200">
                <a:solidFill>
                  <a:schemeClr val="dk1"/>
                </a:solidFill>
                <a:highlight>
                  <a:srgbClr val="FFFFFF"/>
                </a:highlight>
                <a:latin typeface="Roboto"/>
                <a:ea typeface="Roboto"/>
                <a:cs typeface="Roboto"/>
                <a:sym typeface="Roboto"/>
              </a:rPr>
              <a:t>supposed</a:t>
            </a:r>
            <a:r>
              <a:rPr lang="en" sz="1200">
                <a:solidFill>
                  <a:schemeClr val="dk1"/>
                </a:solidFill>
                <a:highlight>
                  <a:srgbClr val="FFFFFF"/>
                </a:highlight>
                <a:latin typeface="Roboto"/>
                <a:ea typeface="Roboto"/>
                <a:cs typeface="Roboto"/>
                <a:sym typeface="Roboto"/>
              </a:rPr>
              <a:t> to report, but have not done so in the given time period.</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To calculate the count of times an orgunit has reported on the data element you are assessing in any of the previous last 12 months, we must use a predictor and extra data element. This is the same calculation as for the denominator described above in the section on </a:t>
            </a:r>
            <a:r>
              <a:rPr lang="en" sz="1200" u="sng">
                <a:solidFill>
                  <a:schemeClr val="hlink"/>
                </a:solidFill>
                <a:highlight>
                  <a:srgbClr val="FFFFFF"/>
                </a:highlight>
                <a:latin typeface="Roboto"/>
                <a:ea typeface="Roboto"/>
                <a:cs typeface="Roboto"/>
                <a:sym typeface="Roboto"/>
                <a:hlinkClick r:id="rId4"/>
              </a:rPr>
              <a:t>Orgunits consistently reporting</a:t>
            </a:r>
            <a:r>
              <a:rPr lang="en" sz="1200">
                <a:solidFill>
                  <a:schemeClr val="dk1"/>
                </a:solidFill>
                <a:highlight>
                  <a:srgbClr val="FFFFFF"/>
                </a:highlight>
                <a:latin typeface="Roboto"/>
                <a:ea typeface="Roboto"/>
                <a:cs typeface="Roboto"/>
                <a:sym typeface="Roboto"/>
              </a:rPr>
              <a:t>. In summary, a predictor with a generator</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highlight>
                  <a:srgbClr val="FFFFFF"/>
                </a:highlight>
                <a:latin typeface="Roboto"/>
                <a:ea typeface="Roboto"/>
                <a:cs typeface="Roboto"/>
                <a:sym typeface="Roboto"/>
              </a:rPr>
              <a:t>if</a:t>
            </a:r>
            <a:r>
              <a:rPr lang="en" sz="1200">
                <a:solidFill>
                  <a:schemeClr val="dk1"/>
                </a:solidFill>
                <a:highlight>
                  <a:srgbClr val="FFFFFF"/>
                </a:highlight>
                <a:latin typeface="Roboto"/>
                <a:ea typeface="Roboto"/>
                <a:cs typeface="Roboto"/>
                <a:sym typeface="Roboto"/>
              </a:rPr>
              <a:t>(</a:t>
            </a:r>
            <a:r>
              <a:rPr b="1" lang="en" sz="1200">
                <a:solidFill>
                  <a:schemeClr val="dk1"/>
                </a:solidFill>
                <a:highlight>
                  <a:srgbClr val="FFFFFF"/>
                </a:highlight>
                <a:latin typeface="Roboto"/>
                <a:ea typeface="Roboto"/>
                <a:cs typeface="Roboto"/>
                <a:sym typeface="Roboto"/>
              </a:rPr>
              <a:t>isNotNull(</a:t>
            </a:r>
            <a:r>
              <a:rPr lang="en" sz="1200">
                <a:solidFill>
                  <a:schemeClr val="dk1"/>
                </a:solidFill>
                <a:highlight>
                  <a:srgbClr val="FFFFFF"/>
                </a:highlight>
                <a:latin typeface="Roboto"/>
                <a:ea typeface="Roboto"/>
                <a:cs typeface="Roboto"/>
                <a:sym typeface="Roboto"/>
              </a:rPr>
              <a:t>[data element]**), 1, 0) **</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and sequential sample count set to the number of previous periods you want to assess will produce the count to use as denominator.</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39100" y="3135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Element reporting completeness with disaggregation</a:t>
            </a:r>
            <a:endParaRPr/>
          </a:p>
          <a:p>
            <a:pPr indent="0" lvl="0" marL="0" rtl="0" algn="l">
              <a:spcBef>
                <a:spcPts val="0"/>
              </a:spcBef>
              <a:spcAft>
                <a:spcPts val="0"/>
              </a:spcAft>
              <a:buNone/>
            </a:pPr>
            <a:r>
              <a:t/>
            </a:r>
            <a:endParaRPr/>
          </a:p>
        </p:txBody>
      </p:sp>
      <p:sp>
        <p:nvSpPr>
          <p:cNvPr id="118" name="Google Shape;118;p20"/>
          <p:cNvSpPr txBox="1"/>
          <p:nvPr>
            <p:ph idx="1" type="body"/>
          </p:nvPr>
        </p:nvSpPr>
        <p:spPr>
          <a:xfrm>
            <a:off x="311700" y="1523925"/>
            <a:ext cx="8146200" cy="712200"/>
          </a:xfrm>
          <a:prstGeom prst="rect">
            <a:avLst/>
          </a:prstGeom>
        </p:spPr>
        <p:txBody>
          <a:bodyPr anchorCtr="0" anchor="t" bIns="91425" lIns="91425" spcFirstLastPara="1" rIns="91425" wrap="square" tIns="91425">
            <a:noAutofit/>
          </a:bodyPr>
          <a:lstStyle/>
          <a:p>
            <a:pPr indent="-323850" lvl="0" marL="723900" rtl="0" algn="l">
              <a:lnSpc>
                <a:spcPct val="115000"/>
              </a:lnSpc>
              <a:spcBef>
                <a:spcPts val="1100"/>
              </a:spcBef>
              <a:spcAft>
                <a:spcPts val="0"/>
              </a:spcAft>
              <a:buClr>
                <a:schemeClr val="dk1"/>
              </a:buClr>
              <a:buSzPts val="1500"/>
              <a:buFont typeface="Roboto"/>
              <a:buChar char="●"/>
            </a:pPr>
            <a:r>
              <a:rPr lang="en" sz="1500">
                <a:solidFill>
                  <a:schemeClr val="dk1"/>
                </a:solidFill>
                <a:highlight>
                  <a:srgbClr val="FFFFFF"/>
                </a:highlight>
                <a:latin typeface="Roboto"/>
                <a:ea typeface="Roboto"/>
                <a:cs typeface="Roboto"/>
                <a:sym typeface="Roboto"/>
              </a:rPr>
              <a:t>One specific category option combination. For example, “reported” means having reported for “BCG doses &lt; 1 year”.</a:t>
            </a:r>
            <a:br>
              <a:rPr lang="en" sz="1500">
                <a:solidFill>
                  <a:schemeClr val="dk1"/>
                </a:solidFill>
                <a:highlight>
                  <a:srgbClr val="FFFFFF"/>
                </a:highlight>
                <a:latin typeface="Roboto"/>
                <a:ea typeface="Roboto"/>
                <a:cs typeface="Roboto"/>
                <a:sym typeface="Roboto"/>
              </a:rPr>
            </a:br>
            <a:endParaRPr sz="1500">
              <a:solidFill>
                <a:schemeClr val="dk1"/>
              </a:solidFill>
              <a:highlight>
                <a:srgbClr val="FFFFFF"/>
              </a:highlight>
              <a:latin typeface="Roboto"/>
              <a:ea typeface="Roboto"/>
              <a:cs typeface="Roboto"/>
              <a:sym typeface="Roboto"/>
            </a:endParaRPr>
          </a:p>
          <a:p>
            <a:pPr indent="-323850" lvl="0" marL="723900" rtl="0" algn="l">
              <a:lnSpc>
                <a:spcPct val="115000"/>
              </a:lnSpc>
              <a:spcBef>
                <a:spcPts val="0"/>
              </a:spcBef>
              <a:spcAft>
                <a:spcPts val="0"/>
              </a:spcAft>
              <a:buClr>
                <a:schemeClr val="dk1"/>
              </a:buClr>
              <a:buSzPts val="1500"/>
              <a:buFont typeface="Roboto"/>
              <a:buChar char="●"/>
            </a:pPr>
            <a:r>
              <a:rPr lang="en" sz="1500">
                <a:solidFill>
                  <a:schemeClr val="dk1"/>
                </a:solidFill>
                <a:highlight>
                  <a:srgbClr val="FFFFFF"/>
                </a:highlight>
                <a:latin typeface="Roboto"/>
                <a:ea typeface="Roboto"/>
                <a:cs typeface="Roboto"/>
                <a:sym typeface="Roboto"/>
              </a:rPr>
              <a:t>Both category option combinations. For example, “reported” means having reported for “BCG doses &lt; 1 year” and “BCG doses &gt;=1 year”.</a:t>
            </a:r>
            <a:br>
              <a:rPr lang="en" sz="1500">
                <a:solidFill>
                  <a:schemeClr val="dk1"/>
                </a:solidFill>
                <a:highlight>
                  <a:srgbClr val="FFFFFF"/>
                </a:highlight>
                <a:latin typeface="Roboto"/>
                <a:ea typeface="Roboto"/>
                <a:cs typeface="Roboto"/>
                <a:sym typeface="Roboto"/>
              </a:rPr>
            </a:br>
            <a:endParaRPr sz="1500">
              <a:solidFill>
                <a:schemeClr val="dk1"/>
              </a:solidFill>
              <a:highlight>
                <a:srgbClr val="FFFFFF"/>
              </a:highlight>
              <a:latin typeface="Roboto"/>
              <a:ea typeface="Roboto"/>
              <a:cs typeface="Roboto"/>
              <a:sym typeface="Roboto"/>
            </a:endParaRPr>
          </a:p>
          <a:p>
            <a:pPr indent="-323850" lvl="0" marL="723900" rtl="0" algn="l">
              <a:lnSpc>
                <a:spcPct val="115000"/>
              </a:lnSpc>
              <a:spcBef>
                <a:spcPts val="0"/>
              </a:spcBef>
              <a:spcAft>
                <a:spcPts val="0"/>
              </a:spcAft>
              <a:buClr>
                <a:schemeClr val="dk1"/>
              </a:buClr>
              <a:buSzPts val="1500"/>
              <a:buFont typeface="Roboto"/>
              <a:buChar char="●"/>
            </a:pPr>
            <a:r>
              <a:rPr lang="en" sz="1500">
                <a:solidFill>
                  <a:schemeClr val="dk1"/>
                </a:solidFill>
                <a:highlight>
                  <a:srgbClr val="FFFFFF"/>
                </a:highlight>
                <a:latin typeface="Roboto"/>
                <a:ea typeface="Roboto"/>
                <a:cs typeface="Roboto"/>
                <a:sym typeface="Roboto"/>
              </a:rPr>
              <a:t>Either of category option combination. For example, “reported” means having reported for “BCG doses &lt; 1 year” or “BCG doses &gt;= 1 year”</a:t>
            </a:r>
            <a:endParaRPr sz="1500">
              <a:solidFill>
                <a:schemeClr val="dk1"/>
              </a:solidFill>
              <a:highlight>
                <a:srgbClr val="FFFFFF"/>
              </a:highlight>
              <a:latin typeface="Roboto"/>
              <a:ea typeface="Roboto"/>
              <a:cs typeface="Roboto"/>
              <a:sym typeface="Roboto"/>
            </a:endParaRPr>
          </a:p>
          <a:p>
            <a:pPr indent="0" lvl="0" marL="0" rtl="0" algn="l">
              <a:spcBef>
                <a:spcPts val="1100"/>
              </a:spcBef>
              <a:spcAft>
                <a:spcPts val="0"/>
              </a:spcAft>
              <a:buNone/>
            </a:pPr>
            <a:r>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72950" y="313575"/>
            <a:ext cx="9008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Indicator subExpression for data element completeness</a:t>
            </a:r>
            <a:endParaRPr sz="2600"/>
          </a:p>
          <a:p>
            <a:pPr indent="0" lvl="0" marL="0" rtl="0" algn="l">
              <a:spcBef>
                <a:spcPts val="0"/>
              </a:spcBef>
              <a:spcAft>
                <a:spcPts val="0"/>
              </a:spcAft>
              <a:buNone/>
            </a:pPr>
            <a:r>
              <a:t/>
            </a:r>
            <a:endParaRPr/>
          </a:p>
        </p:txBody>
      </p:sp>
      <p:graphicFrame>
        <p:nvGraphicFramePr>
          <p:cNvPr id="124" name="Google Shape;124;p21"/>
          <p:cNvGraphicFramePr/>
          <p:nvPr/>
        </p:nvGraphicFramePr>
        <p:xfrm>
          <a:off x="357763" y="845725"/>
          <a:ext cx="3000000" cy="3000000"/>
        </p:xfrm>
        <a:graphic>
          <a:graphicData uri="http://schemas.openxmlformats.org/drawingml/2006/table">
            <a:tbl>
              <a:tblPr>
                <a:noFill/>
                <a:tableStyleId>{36A25B65-0E31-42E0-A0B6-E8A627B50425}</a:tableStyleId>
              </a:tblPr>
              <a:tblGrid>
                <a:gridCol w="5683225"/>
                <a:gridCol w="1465400"/>
                <a:gridCol w="1438925"/>
              </a:tblGrid>
              <a:tr h="433000">
                <a:tc>
                  <a:txBody>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rPr>
                        <a:t>Data element completeness</a:t>
                      </a:r>
                      <a:r>
                        <a:rPr b="1" lang="en" sz="1300">
                          <a:solidFill>
                            <a:schemeClr val="dk1"/>
                          </a:solidFill>
                        </a:rPr>
                        <a:t> metric:</a:t>
                      </a:r>
                      <a:endParaRPr sz="1700"/>
                    </a:p>
                  </a:txBody>
                  <a:tcPr marT="91425" marB="91425" marR="91425" marL="91425" anchor="b"/>
                </a:tc>
                <a:tc>
                  <a:txBody>
                    <a:bodyPr/>
                    <a:lstStyle/>
                    <a:p>
                      <a:pPr indent="0" lvl="0" marL="0" rtl="0" algn="ctr">
                        <a:lnSpc>
                          <a:spcPct val="115000"/>
                        </a:lnSpc>
                        <a:spcBef>
                          <a:spcPts val="0"/>
                        </a:spcBef>
                        <a:spcAft>
                          <a:spcPts val="0"/>
                        </a:spcAft>
                        <a:buNone/>
                      </a:pPr>
                      <a:r>
                        <a:rPr lang="en" sz="1100"/>
                        <a:t>predictors</a:t>
                      </a:r>
                      <a:endParaRPr sz="1100"/>
                    </a:p>
                  </a:txBody>
                  <a:tcPr marT="91425" marB="91425" marR="91425" marL="91425" anchor="b"/>
                </a:tc>
                <a:tc>
                  <a:txBody>
                    <a:bodyPr/>
                    <a:lstStyle/>
                    <a:p>
                      <a:pPr indent="0" lvl="0" marL="0" rtl="0" algn="ctr">
                        <a:lnSpc>
                          <a:spcPct val="115000"/>
                        </a:lnSpc>
                        <a:spcBef>
                          <a:spcPts val="0"/>
                        </a:spcBef>
                        <a:spcAft>
                          <a:spcPts val="0"/>
                        </a:spcAft>
                        <a:buNone/>
                      </a:pPr>
                      <a:r>
                        <a:rPr lang="en" sz="1100"/>
                        <a:t>indicators with subExpressions since</a:t>
                      </a:r>
                      <a:endParaRPr sz="1100"/>
                    </a:p>
                  </a:txBody>
                  <a:tcPr marT="91425" marB="91425" marR="91425" marL="91425" anchor="b"/>
                </a:tc>
              </a:tr>
              <a:tr h="176600">
                <a:tc>
                  <a:txBody>
                    <a:bodyPr/>
                    <a:lstStyle/>
                    <a:p>
                      <a:pPr indent="0" lvl="0" marL="0" rtl="0" algn="l">
                        <a:lnSpc>
                          <a:spcPct val="115000"/>
                        </a:lnSpc>
                        <a:spcBef>
                          <a:spcPts val="0"/>
                        </a:spcBef>
                        <a:spcAft>
                          <a:spcPts val="0"/>
                        </a:spcAft>
                        <a:buNone/>
                      </a:pPr>
                      <a:r>
                        <a:rPr lang="en" sz="1100"/>
                        <a:t>Data element with no disaggregation, in one period</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2.38.1</a:t>
                      </a:r>
                      <a:endParaRPr sz="1100"/>
                    </a:p>
                  </a:txBody>
                  <a:tcPr marT="91425" marB="91425" marR="91425" marL="91425"/>
                </a:tc>
              </a:tr>
              <a:tr h="262075">
                <a:tc>
                  <a:txBody>
                    <a:bodyPr/>
                    <a:lstStyle/>
                    <a:p>
                      <a:pPr indent="0" lvl="0" marL="0" rtl="0" algn="l">
                        <a:lnSpc>
                          <a:spcPct val="115000"/>
                        </a:lnSpc>
                        <a:spcBef>
                          <a:spcPts val="0"/>
                        </a:spcBef>
                        <a:spcAft>
                          <a:spcPts val="0"/>
                        </a:spcAft>
                        <a:buNone/>
                      </a:pPr>
                      <a:r>
                        <a:rPr lang="en" sz="1100"/>
                        <a:t>Data element with disaggregation - analysis of one category option combo, in one period</a:t>
                      </a:r>
                      <a:endParaRPr sz="1100"/>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2.38.1</a:t>
                      </a:r>
                      <a:endParaRPr sz="1100"/>
                    </a:p>
                  </a:txBody>
                  <a:tcPr marT="91425" marB="91425" marR="91425" marL="91425"/>
                </a:tc>
              </a:tr>
              <a:tr h="347525">
                <a:tc>
                  <a:txBody>
                    <a:bodyPr/>
                    <a:lstStyle/>
                    <a:p>
                      <a:pPr indent="0" lvl="0" marL="0" rtl="0" algn="l">
                        <a:lnSpc>
                          <a:spcPct val="115000"/>
                        </a:lnSpc>
                        <a:spcBef>
                          <a:spcPts val="0"/>
                        </a:spcBef>
                        <a:spcAft>
                          <a:spcPts val="0"/>
                        </a:spcAft>
                        <a:buNone/>
                      </a:pPr>
                      <a:r>
                        <a:rPr lang="en" sz="1100"/>
                        <a:t>Data element with disaggregations - counting each category option combo with a value as “reported”, in one period</a:t>
                      </a:r>
                      <a:endParaRPr sz="1100"/>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2.38.1</a:t>
                      </a:r>
                      <a:endParaRPr sz="1100"/>
                    </a:p>
                  </a:txBody>
                  <a:tcPr marT="91425" marB="91425" marR="91425" marL="91425"/>
                </a:tc>
              </a:tr>
              <a:tr h="347525">
                <a:tc>
                  <a:txBody>
                    <a:bodyPr/>
                    <a:lstStyle/>
                    <a:p>
                      <a:pPr indent="0" lvl="0" marL="0" rtl="0" algn="l">
                        <a:lnSpc>
                          <a:spcPct val="115000"/>
                        </a:lnSpc>
                        <a:spcBef>
                          <a:spcPts val="0"/>
                        </a:spcBef>
                        <a:spcAft>
                          <a:spcPts val="0"/>
                        </a:spcAft>
                        <a:buNone/>
                      </a:pPr>
                      <a:r>
                        <a:rPr lang="en" sz="1100"/>
                        <a:t>Data element with disaggregation - all category option combos must have value for data element to be “reported”, in one period</a:t>
                      </a:r>
                      <a:endParaRPr sz="1100"/>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2.40</a:t>
                      </a:r>
                      <a:endParaRPr sz="1100"/>
                    </a:p>
                  </a:txBody>
                  <a:tcPr marT="91425" marB="91425" marR="91425" marL="91425"/>
                </a:tc>
              </a:tr>
              <a:tr h="176600">
                <a:tc>
                  <a:txBody>
                    <a:bodyPr/>
                    <a:lstStyle/>
                    <a:p>
                      <a:pPr indent="0" lvl="0" marL="0" rtl="0" algn="l">
                        <a:lnSpc>
                          <a:spcPct val="115000"/>
                        </a:lnSpc>
                        <a:spcBef>
                          <a:spcPts val="0"/>
                        </a:spcBef>
                        <a:spcAft>
                          <a:spcPts val="0"/>
                        </a:spcAft>
                        <a:buNone/>
                      </a:pPr>
                      <a:r>
                        <a:rPr lang="en" sz="1100"/>
                        <a:t>Any of the above present in any of several periods</a:t>
                      </a:r>
                      <a:endParaRPr sz="1100"/>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2.40.2</a:t>
                      </a:r>
                      <a:endParaRPr sz="1100"/>
                    </a:p>
                  </a:txBody>
                  <a:tcPr marT="91425" marB="91425" marR="91425" marL="91425"/>
                </a:tc>
              </a:tr>
              <a:tr h="176600">
                <a:tc>
                  <a:txBody>
                    <a:bodyPr/>
                    <a:lstStyle/>
                    <a:p>
                      <a:pPr indent="0" lvl="0" marL="0" rtl="0" algn="l">
                        <a:lnSpc>
                          <a:spcPct val="115000"/>
                        </a:lnSpc>
                        <a:spcBef>
                          <a:spcPts val="0"/>
                        </a:spcBef>
                        <a:spcAft>
                          <a:spcPts val="0"/>
                        </a:spcAft>
                        <a:buNone/>
                      </a:pPr>
                      <a:r>
                        <a:rPr lang="en" sz="1100"/>
                        <a:t>Any of the above present in all of several periods</a:t>
                      </a:r>
                      <a:endParaRPr sz="1100"/>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2.40.2</a:t>
                      </a:r>
                      <a:endParaRPr sz="1100"/>
                    </a:p>
                  </a:txBody>
                  <a:tcPr marT="91425" marB="91425" marR="91425" marL="91425"/>
                </a:tc>
              </a:tr>
              <a:tr h="262075">
                <a:tc>
                  <a:txBody>
                    <a:bodyPr/>
                    <a:lstStyle/>
                    <a:p>
                      <a:pPr indent="0" lvl="0" marL="0" rtl="0" algn="l">
                        <a:lnSpc>
                          <a:spcPct val="115000"/>
                        </a:lnSpc>
                        <a:spcBef>
                          <a:spcPts val="0"/>
                        </a:spcBef>
                        <a:spcAft>
                          <a:spcPts val="0"/>
                        </a:spcAft>
                        <a:buNone/>
                      </a:pPr>
                      <a:r>
                        <a:rPr lang="en" sz="1100"/>
                        <a:t>Any of the above in a given fraction fraction of several periods</a:t>
                      </a:r>
                      <a:endParaRPr sz="1100"/>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2.40.2</a:t>
                      </a:r>
                      <a:endParaRPr sz="1100"/>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an indicator subExpression?</a:t>
            </a:r>
            <a:endParaRPr/>
          </a:p>
        </p:txBody>
      </p:sp>
      <p:sp>
        <p:nvSpPr>
          <p:cNvPr id="130" name="Google Shape;130;p22"/>
          <p:cNvSpPr txBox="1"/>
          <p:nvPr>
            <p:ph idx="1" type="body"/>
          </p:nvPr>
        </p:nvSpPr>
        <p:spPr>
          <a:xfrm>
            <a:off x="311700" y="1152475"/>
            <a:ext cx="8607300" cy="12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200"/>
              <a:t>A subExpression evaluates within each organisation unit</a:t>
            </a:r>
            <a:endParaRPr i="1" sz="2200"/>
          </a:p>
          <a:p>
            <a:pPr indent="0" lvl="0" marL="0" rtl="0" algn="l">
              <a:spcBef>
                <a:spcPts val="0"/>
              </a:spcBef>
              <a:spcAft>
                <a:spcPts val="0"/>
              </a:spcAft>
              <a:buNone/>
            </a:pPr>
            <a:r>
              <a:rPr i="1" lang="en" sz="2200"/>
              <a:t>before aggregating across </a:t>
            </a:r>
            <a:r>
              <a:rPr i="1" lang="en" sz="2200"/>
              <a:t>organisation units</a:t>
            </a:r>
            <a:endParaRPr i="1" sz="2200"/>
          </a:p>
          <a:p>
            <a:pPr indent="0" lvl="0" marL="0" rtl="0" algn="l">
              <a:spcBef>
                <a:spcPts val="0"/>
              </a:spcBef>
              <a:spcAft>
                <a:spcPts val="0"/>
              </a:spcAft>
              <a:buNone/>
            </a:pPr>
            <a:r>
              <a:t/>
            </a:r>
            <a:endParaRPr sz="900"/>
          </a:p>
          <a:p>
            <a:pPr indent="0" lvl="0" marL="0" rtl="0" algn="l">
              <a:spcBef>
                <a:spcPts val="0"/>
              </a:spcBef>
              <a:spcAft>
                <a:spcPts val="0"/>
              </a:spcAft>
              <a:buNone/>
            </a:pPr>
            <a:r>
              <a:rPr lang="en" sz="1700"/>
              <a:t>subExpression history:</a:t>
            </a:r>
            <a:endParaRPr sz="1700"/>
          </a:p>
          <a:p>
            <a:pPr indent="0" lvl="0" marL="0" rtl="0" algn="l">
              <a:spcBef>
                <a:spcPts val="0"/>
              </a:spcBef>
              <a:spcAft>
                <a:spcPts val="0"/>
              </a:spcAft>
              <a:buNone/>
            </a:pPr>
            <a:r>
              <a:t/>
            </a:r>
            <a:endParaRPr sz="1600"/>
          </a:p>
        </p:txBody>
      </p:sp>
      <p:graphicFrame>
        <p:nvGraphicFramePr>
          <p:cNvPr id="131" name="Google Shape;131;p22"/>
          <p:cNvGraphicFramePr/>
          <p:nvPr/>
        </p:nvGraphicFramePr>
        <p:xfrm>
          <a:off x="361575" y="2642675"/>
          <a:ext cx="3000000" cy="3000000"/>
        </p:xfrm>
        <a:graphic>
          <a:graphicData uri="http://schemas.openxmlformats.org/drawingml/2006/table">
            <a:tbl>
              <a:tblPr>
                <a:noFill/>
                <a:tableStyleId>{7D033C0A-2CF7-4F9E-9FDF-FB4681C09EF0}</a:tableStyleId>
              </a:tblPr>
              <a:tblGrid>
                <a:gridCol w="969625"/>
                <a:gridCol w="7451225"/>
              </a:tblGrid>
              <a:tr h="515750">
                <a:tc>
                  <a:txBody>
                    <a:bodyPr/>
                    <a:lstStyle/>
                    <a:p>
                      <a:pPr indent="0" lvl="0" marL="0" rtl="0" algn="ctr">
                        <a:spcBef>
                          <a:spcPts val="0"/>
                        </a:spcBef>
                        <a:spcAft>
                          <a:spcPts val="0"/>
                        </a:spcAft>
                        <a:buNone/>
                      </a:pPr>
                      <a:r>
                        <a:rPr lang="en" sz="1700"/>
                        <a:t>2</a:t>
                      </a:r>
                      <a:r>
                        <a:rPr lang="en" sz="1700"/>
                        <a:t>.38.1</a:t>
                      </a:r>
                      <a:endParaRPr sz="1700"/>
                    </a:p>
                  </a:txBody>
                  <a:tcPr marT="91425" marB="91425" marR="91425" marL="91425"/>
                </a:tc>
                <a:tc>
                  <a:txBody>
                    <a:bodyPr/>
                    <a:lstStyle/>
                    <a:p>
                      <a:pPr indent="0" lvl="0" marL="0" rtl="0" algn="l">
                        <a:spcBef>
                          <a:spcPts val="0"/>
                        </a:spcBef>
                        <a:spcAft>
                          <a:spcPts val="0"/>
                        </a:spcAft>
                        <a:buNone/>
                      </a:pPr>
                      <a:r>
                        <a:rPr lang="en" sz="1700"/>
                        <a:t>Initial implementation, operates on each data value independently</a:t>
                      </a:r>
                      <a:endParaRPr sz="1700"/>
                    </a:p>
                    <a:p>
                      <a:pPr indent="0" lvl="0" marL="0" rtl="0" algn="l">
                        <a:spcBef>
                          <a:spcPts val="0"/>
                        </a:spcBef>
                        <a:spcAft>
                          <a:spcPts val="0"/>
                        </a:spcAft>
                        <a:buNone/>
                      </a:pPr>
                      <a:r>
                        <a:rPr lang="en" sz="1700"/>
                        <a:t>→ Can only reference one data element or data element / disaggregation</a:t>
                      </a:r>
                      <a:endParaRPr sz="1700"/>
                    </a:p>
                  </a:txBody>
                  <a:tcPr marT="91425" marB="91425" marR="91425" marL="91425"/>
                </a:tc>
              </a:tr>
              <a:tr h="515750">
                <a:tc>
                  <a:txBody>
                    <a:bodyPr/>
                    <a:lstStyle/>
                    <a:p>
                      <a:pPr indent="0" lvl="0" marL="0" rtl="0" algn="ctr">
                        <a:spcBef>
                          <a:spcPts val="0"/>
                        </a:spcBef>
                        <a:spcAft>
                          <a:spcPts val="0"/>
                        </a:spcAft>
                        <a:buNone/>
                      </a:pPr>
                      <a:r>
                        <a:rPr lang="en" sz="1700"/>
                        <a:t>2.40</a:t>
                      </a:r>
                      <a:endParaRPr sz="17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700"/>
                        <a:t>Major rewrite, operates on all data values within an organisation</a:t>
                      </a:r>
                      <a:endParaRPr sz="1700"/>
                    </a:p>
                    <a:p>
                      <a:pPr indent="0" lvl="0" marL="0" rtl="0" algn="l">
                        <a:spcBef>
                          <a:spcPts val="0"/>
                        </a:spcBef>
                        <a:spcAft>
                          <a:spcPts val="0"/>
                        </a:spcAft>
                        <a:buNone/>
                      </a:pPr>
                      <a:r>
                        <a:rPr lang="en" sz="1700">
                          <a:solidFill>
                            <a:schemeClr val="dk1"/>
                          </a:solidFill>
                        </a:rPr>
                        <a:t>→ </a:t>
                      </a:r>
                      <a:r>
                        <a:rPr lang="en" sz="1700"/>
                        <a:t>Can reference multiple data elements or data element / disaggregations</a:t>
                      </a:r>
                      <a:endParaRPr sz="1700"/>
                    </a:p>
                  </a:txBody>
                  <a:tcPr marT="91425" marB="91425" marR="91425" marL="91425"/>
                </a:tc>
              </a:tr>
              <a:tr h="756825">
                <a:tc>
                  <a:txBody>
                    <a:bodyPr/>
                    <a:lstStyle/>
                    <a:p>
                      <a:pPr indent="0" lvl="0" marL="0" rtl="0" algn="ctr">
                        <a:spcBef>
                          <a:spcPts val="0"/>
                        </a:spcBef>
                        <a:spcAft>
                          <a:spcPts val="0"/>
                        </a:spcAft>
                        <a:buNone/>
                      </a:pPr>
                      <a:r>
                        <a:rPr lang="en" sz="1700"/>
                        <a:t>2.40.2</a:t>
                      </a:r>
                      <a:endParaRPr sz="17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700"/>
                        <a:t>Significant new feature allows .periodOffset() inside the subExpression</a:t>
                      </a:r>
                      <a:endParaRPr sz="1700"/>
                    </a:p>
                    <a:p>
                      <a:pPr indent="0" lvl="0" marL="0" rtl="0" algn="l">
                        <a:spcBef>
                          <a:spcPts val="0"/>
                        </a:spcBef>
                        <a:spcAft>
                          <a:spcPts val="0"/>
                        </a:spcAft>
                        <a:buNone/>
                      </a:pPr>
                      <a:r>
                        <a:rPr lang="en" sz="1700">
                          <a:solidFill>
                            <a:schemeClr val="dk1"/>
                          </a:solidFill>
                        </a:rPr>
                        <a:t>→ </a:t>
                      </a:r>
                      <a:r>
                        <a:rPr lang="en" sz="1700"/>
                        <a:t>Can also reference past (or future!) periods inside the subExpression</a:t>
                      </a:r>
                      <a:endParaRPr sz="1700"/>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nvSpPr>
        <p:spPr>
          <a:xfrm>
            <a:off x="309850" y="445025"/>
            <a:ext cx="7836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0080D4"/>
                </a:solidFill>
                <a:latin typeface="Rubik"/>
                <a:ea typeface="Rubik"/>
                <a:cs typeface="Rubik"/>
                <a:sym typeface="Rubik"/>
              </a:rPr>
              <a:t>subExpression </a:t>
            </a:r>
            <a:r>
              <a:rPr lang="en" sz="2800">
                <a:solidFill>
                  <a:srgbClr val="0080D4"/>
                </a:solidFill>
                <a:latin typeface="Rubik"/>
                <a:ea typeface="Rubik"/>
                <a:cs typeface="Rubik"/>
                <a:sym typeface="Rubik"/>
              </a:rPr>
              <a:t>inside </a:t>
            </a:r>
            <a:r>
              <a:rPr lang="en" sz="2800">
                <a:solidFill>
                  <a:srgbClr val="0080D4"/>
                </a:solidFill>
                <a:latin typeface="Rubik"/>
                <a:ea typeface="Rubik"/>
                <a:cs typeface="Rubik"/>
                <a:sym typeface="Rubik"/>
              </a:rPr>
              <a:t>aggregation</a:t>
            </a:r>
            <a:endParaRPr sz="2800">
              <a:solidFill>
                <a:srgbClr val="0080D4"/>
              </a:solidFill>
              <a:latin typeface="Rubik"/>
              <a:ea typeface="Rubik"/>
              <a:cs typeface="Rubik"/>
              <a:sym typeface="Rubik"/>
            </a:endParaRPr>
          </a:p>
        </p:txBody>
      </p:sp>
      <p:sp>
        <p:nvSpPr>
          <p:cNvPr id="137" name="Google Shape;137;p23"/>
          <p:cNvSpPr txBox="1"/>
          <p:nvPr/>
        </p:nvSpPr>
        <p:spPr>
          <a:xfrm>
            <a:off x="309850" y="1440300"/>
            <a:ext cx="8230800" cy="3485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1700">
                <a:solidFill>
                  <a:srgbClr val="011529"/>
                </a:solidFill>
                <a:latin typeface="Rubik"/>
                <a:ea typeface="Rubik"/>
                <a:cs typeface="Rubik"/>
                <a:sym typeface="Rubik"/>
              </a:rPr>
              <a:t>within subExpression (within organisation unit):</a:t>
            </a:r>
            <a:endParaRPr sz="1700">
              <a:solidFill>
                <a:srgbClr val="011529"/>
              </a:solidFill>
              <a:latin typeface="Rubik"/>
              <a:ea typeface="Rubik"/>
              <a:cs typeface="Rubik"/>
              <a:sym typeface="Rubik"/>
            </a:endParaRPr>
          </a:p>
          <a:p>
            <a:pPr indent="0" lvl="0" marL="0" rtl="0" algn="l">
              <a:lnSpc>
                <a:spcPct val="120000"/>
              </a:lnSpc>
              <a:spcBef>
                <a:spcPts val="0"/>
              </a:spcBef>
              <a:spcAft>
                <a:spcPts val="0"/>
              </a:spcAft>
              <a:buNone/>
            </a:pPr>
            <a:r>
              <a:t/>
            </a:r>
            <a:endParaRPr sz="1700">
              <a:solidFill>
                <a:srgbClr val="011529"/>
              </a:solidFill>
              <a:latin typeface="Rubik"/>
              <a:ea typeface="Rubik"/>
              <a:cs typeface="Rubik"/>
              <a:sym typeface="Rubik"/>
            </a:endParaRPr>
          </a:p>
          <a:p>
            <a:pPr indent="-336550" lvl="0" marL="742950" rtl="0" algn="l">
              <a:lnSpc>
                <a:spcPct val="120000"/>
              </a:lnSpc>
              <a:spcBef>
                <a:spcPts val="0"/>
              </a:spcBef>
              <a:spcAft>
                <a:spcPts val="0"/>
              </a:spcAft>
              <a:buClr>
                <a:srgbClr val="011529"/>
              </a:buClr>
              <a:buSzPts val="1700"/>
              <a:buFont typeface="Rubik"/>
              <a:buChar char="-"/>
            </a:pPr>
            <a:r>
              <a:rPr lang="en" sz="1700">
                <a:solidFill>
                  <a:srgbClr val="011529"/>
                </a:solidFill>
                <a:latin typeface="Rubik"/>
                <a:ea typeface="Rubik"/>
                <a:cs typeface="Rubik"/>
                <a:sym typeface="Rubik"/>
              </a:rPr>
              <a:t>numeric data: data element aggregation type "within organisation units"</a:t>
            </a:r>
            <a:endParaRPr sz="1700">
              <a:solidFill>
                <a:srgbClr val="011529"/>
              </a:solidFill>
              <a:latin typeface="Rubik"/>
              <a:ea typeface="Rubik"/>
              <a:cs typeface="Rubik"/>
              <a:sym typeface="Rubik"/>
            </a:endParaRPr>
          </a:p>
          <a:p>
            <a:pPr indent="-336550" lvl="0" marL="742950" rtl="0" algn="l">
              <a:lnSpc>
                <a:spcPct val="120000"/>
              </a:lnSpc>
              <a:spcBef>
                <a:spcPts val="0"/>
              </a:spcBef>
              <a:spcAft>
                <a:spcPts val="0"/>
              </a:spcAft>
              <a:buClr>
                <a:srgbClr val="011529"/>
              </a:buClr>
              <a:buSzPts val="1700"/>
              <a:buFont typeface="Rubik"/>
              <a:buChar char="-"/>
            </a:pPr>
            <a:r>
              <a:rPr lang="en" sz="1700">
                <a:solidFill>
                  <a:srgbClr val="011529"/>
                </a:solidFill>
                <a:latin typeface="Rubik"/>
                <a:ea typeface="Rubik"/>
                <a:cs typeface="Rubik"/>
                <a:sym typeface="Rubik"/>
              </a:rPr>
              <a:t>non-numeric data: uses MAX</a:t>
            </a:r>
            <a:endParaRPr sz="1700">
              <a:solidFill>
                <a:srgbClr val="011529"/>
              </a:solidFill>
              <a:latin typeface="Rubik"/>
              <a:ea typeface="Rubik"/>
              <a:cs typeface="Rubik"/>
              <a:sym typeface="Rubik"/>
            </a:endParaRPr>
          </a:p>
          <a:p>
            <a:pPr indent="0" lvl="0" marL="0" rtl="0" algn="l">
              <a:lnSpc>
                <a:spcPct val="120000"/>
              </a:lnSpc>
              <a:spcBef>
                <a:spcPts val="0"/>
              </a:spcBef>
              <a:spcAft>
                <a:spcPts val="0"/>
              </a:spcAft>
              <a:buNone/>
            </a:pPr>
            <a:r>
              <a:t/>
            </a:r>
            <a:endParaRPr sz="1700">
              <a:solidFill>
                <a:srgbClr val="011529"/>
              </a:solidFill>
              <a:latin typeface="Rubik"/>
              <a:ea typeface="Rubik"/>
              <a:cs typeface="Rubik"/>
              <a:sym typeface="Rubik"/>
            </a:endParaRPr>
          </a:p>
          <a:p>
            <a:pPr indent="0" lvl="0" marL="0" rtl="0" algn="l">
              <a:lnSpc>
                <a:spcPct val="120000"/>
              </a:lnSpc>
              <a:spcBef>
                <a:spcPts val="0"/>
              </a:spcBef>
              <a:spcAft>
                <a:spcPts val="0"/>
              </a:spcAft>
              <a:buNone/>
            </a:pPr>
            <a:r>
              <a:rPr lang="en" sz="1700">
                <a:solidFill>
                  <a:srgbClr val="011529"/>
                </a:solidFill>
                <a:latin typeface="Rubik"/>
                <a:ea typeface="Rubik"/>
                <a:cs typeface="Rubik"/>
                <a:sym typeface="Rubik"/>
              </a:rPr>
              <a:t>but can override:</a:t>
            </a:r>
            <a:endParaRPr sz="1700">
              <a:solidFill>
                <a:srgbClr val="011529"/>
              </a:solidFill>
              <a:latin typeface="Rubik"/>
              <a:ea typeface="Rubik"/>
              <a:cs typeface="Rubik"/>
              <a:sym typeface="Rubik"/>
            </a:endParaRPr>
          </a:p>
          <a:p>
            <a:pPr indent="0" lvl="0" marL="0" rtl="0" algn="l">
              <a:lnSpc>
                <a:spcPct val="120000"/>
              </a:lnSpc>
              <a:spcBef>
                <a:spcPts val="0"/>
              </a:spcBef>
              <a:spcAft>
                <a:spcPts val="0"/>
              </a:spcAft>
              <a:buNone/>
            </a:pPr>
            <a:r>
              <a:t/>
            </a:r>
            <a:endParaRPr sz="1700">
              <a:solidFill>
                <a:srgbClr val="011529"/>
              </a:solidFill>
              <a:latin typeface="Rubik"/>
              <a:ea typeface="Rubik"/>
              <a:cs typeface="Rubik"/>
              <a:sym typeface="Rubik"/>
            </a:endParaRPr>
          </a:p>
          <a:p>
            <a:pPr indent="457200" lvl="0" marL="0" rtl="0" algn="l">
              <a:lnSpc>
                <a:spcPct val="12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subExpression( #{vq2q03TrNi}.aggregationType(AVERAGE) ) </a:t>
            </a:r>
            <a:endParaRPr sz="1700">
              <a:solidFill>
                <a:srgbClr val="38761D"/>
              </a:solidFill>
              <a:latin typeface="Roboto Mono SemiBold"/>
              <a:ea typeface="Roboto Mono SemiBold"/>
              <a:cs typeface="Roboto Mono SemiBold"/>
              <a:sym typeface="Roboto Mono SemiBold"/>
            </a:endParaRPr>
          </a:p>
          <a:p>
            <a:pPr indent="0" lvl="0" marL="0" rtl="0" algn="l">
              <a:lnSpc>
                <a:spcPct val="120000"/>
              </a:lnSpc>
              <a:spcBef>
                <a:spcPts val="0"/>
              </a:spcBef>
              <a:spcAft>
                <a:spcPts val="0"/>
              </a:spcAft>
              <a:buNone/>
            </a:pPr>
            <a:r>
              <a:t/>
            </a:r>
            <a:endParaRPr sz="1700">
              <a:solidFill>
                <a:srgbClr val="011529"/>
              </a:solidFill>
              <a:latin typeface="Rubik"/>
              <a:ea typeface="Rubik"/>
              <a:cs typeface="Rubik"/>
              <a:sym typeface="Rubik"/>
            </a:endParaRPr>
          </a:p>
        </p:txBody>
      </p:sp>
      <p:sp>
        <p:nvSpPr>
          <p:cNvPr id="138" name="Google Shape;138;p23"/>
          <p:cNvSpPr txBox="1"/>
          <p:nvPr/>
        </p:nvSpPr>
        <p:spPr>
          <a:xfrm>
            <a:off x="2511650" y="824700"/>
            <a:ext cx="56304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80D4"/>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nvSpPr>
        <p:spPr>
          <a:xfrm>
            <a:off x="406400" y="434875"/>
            <a:ext cx="7836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0080D4"/>
                </a:solidFill>
                <a:latin typeface="Rubik"/>
                <a:ea typeface="Rubik"/>
                <a:cs typeface="Rubik"/>
                <a:sym typeface="Rubik"/>
              </a:rPr>
              <a:t>subExpression </a:t>
            </a:r>
            <a:r>
              <a:rPr lang="en" sz="2800">
                <a:solidFill>
                  <a:srgbClr val="0080D4"/>
                </a:solidFill>
                <a:latin typeface="Rubik"/>
                <a:ea typeface="Rubik"/>
                <a:cs typeface="Rubik"/>
                <a:sym typeface="Rubik"/>
              </a:rPr>
              <a:t>outside </a:t>
            </a:r>
            <a:r>
              <a:rPr lang="en" sz="2800">
                <a:solidFill>
                  <a:srgbClr val="0080D4"/>
                </a:solidFill>
                <a:latin typeface="Rubik"/>
                <a:ea typeface="Rubik"/>
                <a:cs typeface="Rubik"/>
                <a:sym typeface="Rubik"/>
              </a:rPr>
              <a:t>aggregation</a:t>
            </a:r>
            <a:endParaRPr sz="2800">
              <a:solidFill>
                <a:srgbClr val="0080D4"/>
              </a:solidFill>
              <a:latin typeface="Rubik"/>
              <a:ea typeface="Rubik"/>
              <a:cs typeface="Rubik"/>
              <a:sym typeface="Rubik"/>
            </a:endParaRPr>
          </a:p>
        </p:txBody>
      </p:sp>
      <p:sp>
        <p:nvSpPr>
          <p:cNvPr id="144" name="Google Shape;144;p24"/>
          <p:cNvSpPr txBox="1"/>
          <p:nvPr/>
        </p:nvSpPr>
        <p:spPr>
          <a:xfrm>
            <a:off x="406400" y="1430150"/>
            <a:ext cx="8230800" cy="3485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1700">
                <a:solidFill>
                  <a:srgbClr val="011529"/>
                </a:solidFill>
                <a:latin typeface="Rubik"/>
                <a:ea typeface="Rubik"/>
                <a:cs typeface="Rubik"/>
                <a:sym typeface="Rubik"/>
              </a:rPr>
              <a:t>outside subExpression (across organisation units):</a:t>
            </a:r>
            <a:endParaRPr sz="1700">
              <a:solidFill>
                <a:srgbClr val="011529"/>
              </a:solidFill>
              <a:latin typeface="Rubik"/>
              <a:ea typeface="Rubik"/>
              <a:cs typeface="Rubik"/>
              <a:sym typeface="Rubik"/>
            </a:endParaRPr>
          </a:p>
          <a:p>
            <a:pPr indent="0" lvl="0" marL="0" rtl="0" algn="l">
              <a:lnSpc>
                <a:spcPct val="120000"/>
              </a:lnSpc>
              <a:spcBef>
                <a:spcPts val="0"/>
              </a:spcBef>
              <a:spcAft>
                <a:spcPts val="0"/>
              </a:spcAft>
              <a:buNone/>
            </a:pPr>
            <a:r>
              <a:t/>
            </a:r>
            <a:endParaRPr sz="1700">
              <a:solidFill>
                <a:srgbClr val="011529"/>
              </a:solidFill>
              <a:latin typeface="Rubik"/>
              <a:ea typeface="Rubik"/>
              <a:cs typeface="Rubik"/>
              <a:sym typeface="Rubik"/>
            </a:endParaRPr>
          </a:p>
          <a:p>
            <a:pPr indent="-336550" lvl="0" marL="742950" rtl="0" algn="l">
              <a:lnSpc>
                <a:spcPct val="120000"/>
              </a:lnSpc>
              <a:spcBef>
                <a:spcPts val="0"/>
              </a:spcBef>
              <a:spcAft>
                <a:spcPts val="0"/>
              </a:spcAft>
              <a:buClr>
                <a:srgbClr val="011529"/>
              </a:buClr>
              <a:buSzPts val="1700"/>
              <a:buFont typeface="Rubik"/>
              <a:buChar char="-"/>
            </a:pPr>
            <a:r>
              <a:rPr lang="en" sz="1700">
                <a:solidFill>
                  <a:srgbClr val="011529"/>
                </a:solidFill>
                <a:latin typeface="Rubik"/>
                <a:ea typeface="Rubik"/>
                <a:cs typeface="Rubik"/>
                <a:sym typeface="Rubik"/>
              </a:rPr>
              <a:t>uses SUM across organisation units</a:t>
            </a:r>
            <a:endParaRPr sz="1700">
              <a:solidFill>
                <a:srgbClr val="011529"/>
              </a:solidFill>
              <a:latin typeface="Rubik"/>
              <a:ea typeface="Rubik"/>
              <a:cs typeface="Rubik"/>
              <a:sym typeface="Rubik"/>
            </a:endParaRPr>
          </a:p>
          <a:p>
            <a:pPr indent="0" lvl="0" marL="0" rtl="0" algn="l">
              <a:lnSpc>
                <a:spcPct val="120000"/>
              </a:lnSpc>
              <a:spcBef>
                <a:spcPts val="0"/>
              </a:spcBef>
              <a:spcAft>
                <a:spcPts val="0"/>
              </a:spcAft>
              <a:buNone/>
            </a:pPr>
            <a:r>
              <a:t/>
            </a:r>
            <a:endParaRPr sz="1700">
              <a:solidFill>
                <a:srgbClr val="011529"/>
              </a:solidFill>
              <a:latin typeface="Rubik"/>
              <a:ea typeface="Rubik"/>
              <a:cs typeface="Rubik"/>
              <a:sym typeface="Rubik"/>
            </a:endParaRPr>
          </a:p>
          <a:p>
            <a:pPr indent="0" lvl="0" marL="0" rtl="0" algn="l">
              <a:lnSpc>
                <a:spcPct val="120000"/>
              </a:lnSpc>
              <a:spcBef>
                <a:spcPts val="0"/>
              </a:spcBef>
              <a:spcAft>
                <a:spcPts val="0"/>
              </a:spcAft>
              <a:buNone/>
            </a:pPr>
            <a:r>
              <a:rPr lang="en" sz="1700">
                <a:solidFill>
                  <a:srgbClr val="011529"/>
                </a:solidFill>
                <a:latin typeface="Rubik"/>
                <a:ea typeface="Rubik"/>
                <a:cs typeface="Rubik"/>
                <a:sym typeface="Rubik"/>
              </a:rPr>
              <a:t>but can override:</a:t>
            </a:r>
            <a:endParaRPr sz="1700">
              <a:solidFill>
                <a:srgbClr val="011529"/>
              </a:solidFill>
              <a:latin typeface="Rubik"/>
              <a:ea typeface="Rubik"/>
              <a:cs typeface="Rubik"/>
              <a:sym typeface="Rubik"/>
            </a:endParaRPr>
          </a:p>
          <a:p>
            <a:pPr indent="0" lvl="0" marL="0" rtl="0" algn="l">
              <a:lnSpc>
                <a:spcPct val="120000"/>
              </a:lnSpc>
              <a:spcBef>
                <a:spcPts val="0"/>
              </a:spcBef>
              <a:spcAft>
                <a:spcPts val="0"/>
              </a:spcAft>
              <a:buNone/>
            </a:pPr>
            <a:r>
              <a:t/>
            </a:r>
            <a:endParaRPr sz="1700">
              <a:solidFill>
                <a:srgbClr val="011529"/>
              </a:solidFill>
              <a:latin typeface="Rubik"/>
              <a:ea typeface="Rubik"/>
              <a:cs typeface="Rubik"/>
              <a:sym typeface="Rubik"/>
            </a:endParaRPr>
          </a:p>
          <a:p>
            <a:pPr indent="457200" lvl="0" marL="0" rtl="0" algn="l">
              <a:lnSpc>
                <a:spcPct val="12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subExpression( #{URtu9deexeo} ).aggregationType(MIN)</a:t>
            </a:r>
            <a:endParaRPr sz="1700">
              <a:solidFill>
                <a:srgbClr val="38761D"/>
              </a:solidFill>
              <a:latin typeface="Roboto Mono SemiBold"/>
              <a:ea typeface="Roboto Mono SemiBold"/>
              <a:cs typeface="Roboto Mono SemiBold"/>
              <a:sym typeface="Roboto Mono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Facility reporting</a:t>
            </a:r>
            <a:r>
              <a:rPr lang="en"/>
              <a:t> consistency – building blocks</a:t>
            </a:r>
            <a:endParaRPr/>
          </a:p>
        </p:txBody>
      </p:sp>
      <p:sp>
        <p:nvSpPr>
          <p:cNvPr id="150" name="Google Shape;150;p25"/>
          <p:cNvSpPr txBox="1"/>
          <p:nvPr>
            <p:ph idx="1" type="body"/>
          </p:nvPr>
        </p:nvSpPr>
        <p:spPr>
          <a:xfrm>
            <a:off x="311700" y="1400525"/>
            <a:ext cx="8520600" cy="322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38761D"/>
                </a:solidFill>
                <a:latin typeface="Roboto Mono SemiBold"/>
                <a:ea typeface="Roboto Mono SemiBold"/>
                <a:cs typeface="Roboto Mono SemiBold"/>
                <a:sym typeface="Roboto Mono SemiBold"/>
              </a:rPr>
              <a:t>if(isNotNull(#{data_element_uid}), 1, </a:t>
            </a:r>
            <a:r>
              <a:rPr lang="en" sz="1600">
                <a:solidFill>
                  <a:srgbClr val="38761D"/>
                </a:solidFill>
                <a:latin typeface="Roboto Mono SemiBold"/>
                <a:ea typeface="Roboto Mono SemiBold"/>
                <a:cs typeface="Roboto Mono SemiBold"/>
                <a:sym typeface="Roboto Mono SemiBold"/>
              </a:rPr>
              <a:t>0)</a:t>
            </a:r>
            <a:r>
              <a:rPr lang="en"/>
              <a:t>  produces 1 if a value exists, 0 otherwise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sz="1600">
                <a:solidFill>
                  <a:srgbClr val="38761D"/>
                </a:solidFill>
                <a:latin typeface="Roboto Mono SemiBold"/>
                <a:ea typeface="Roboto Mono SemiBold"/>
                <a:cs typeface="Roboto Mono SemiBold"/>
                <a:sym typeface="Roboto Mono SemiBold"/>
              </a:rPr>
              <a:t>if(#{data_element_uid}==4,1,0)</a:t>
            </a:r>
            <a:r>
              <a:rPr lang="en"/>
              <a:t>  produces 1 if the value is 4, and 0 otherwise</a:t>
            </a:r>
            <a:endParaRPr sz="1600">
              <a:solidFill>
                <a:srgbClr val="38761D"/>
              </a:solidFill>
              <a:latin typeface="Roboto Mono SemiBold"/>
              <a:ea typeface="Roboto Mono SemiBold"/>
              <a:cs typeface="Roboto Mono SemiBold"/>
              <a:sym typeface="Roboto Mono SemiBold"/>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600">
                <a:solidFill>
                  <a:srgbClr val="38761D"/>
                </a:solidFill>
                <a:latin typeface="Roboto Mono SemiBold"/>
                <a:ea typeface="Roboto Mono SemiBold"/>
                <a:cs typeface="Roboto Mono SemiBold"/>
                <a:sym typeface="Roboto Mono SemiBold"/>
              </a:rPr>
              <a:t>#{data_element_uid}.periodOffset(-1)</a:t>
            </a:r>
            <a:r>
              <a:rPr lang="en"/>
              <a:t>  gives the value from the previous period</a:t>
            </a:r>
            <a:endParaRPr/>
          </a:p>
          <a:p>
            <a:pPr indent="0" lvl="0" marL="0" rtl="0" algn="l">
              <a:spcBef>
                <a:spcPts val="0"/>
              </a:spcBef>
              <a:spcAft>
                <a:spcPts val="0"/>
              </a:spcAft>
              <a:buNone/>
            </a:pPr>
            <a:r>
              <a:rPr lang="en" sz="1600">
                <a:solidFill>
                  <a:srgbClr val="38761D"/>
                </a:solidFill>
                <a:latin typeface="Roboto Mono SemiBold"/>
                <a:ea typeface="Roboto Mono SemiBold"/>
                <a:cs typeface="Roboto Mono SemiBold"/>
                <a:sym typeface="Roboto Mono SemiBold"/>
              </a:rPr>
              <a:t>#{data_element_uid}.periodOffset(-2)</a:t>
            </a:r>
            <a:r>
              <a:rPr lang="en"/>
              <a:t>  gives the value from two periods earlier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sz="1600">
                <a:solidFill>
                  <a:srgbClr val="38761D"/>
                </a:solidFill>
                <a:latin typeface="Roboto Mono SemiBold"/>
                <a:ea typeface="Roboto Mono SemiBold"/>
                <a:cs typeface="Roboto Mono SemiBold"/>
                <a:sym typeface="Roboto Mono SemiBold"/>
              </a:rPr>
              <a:t>#{data_element_uid}.aggregationType(COUNT)</a:t>
            </a:r>
            <a:r>
              <a:rPr lang="en"/>
              <a:t>  count of values (not sum, avg, etc.)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311700" y="445025"/>
            <a:ext cx="8749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Facilities with all disaggregations entered</a:t>
            </a:r>
            <a:endParaRPr/>
          </a:p>
          <a:p>
            <a:pPr indent="0" lvl="0" marL="0" rtl="0" algn="l">
              <a:spcBef>
                <a:spcPts val="0"/>
              </a:spcBef>
              <a:spcAft>
                <a:spcPts val="0"/>
              </a:spcAft>
              <a:buNone/>
            </a:pPr>
            <a:r>
              <a:rPr lang="en"/>
              <a:t>for the past 12 months</a:t>
            </a:r>
            <a:endParaRPr/>
          </a:p>
        </p:txBody>
      </p:sp>
      <p:sp>
        <p:nvSpPr>
          <p:cNvPr id="156" name="Google Shape;156;p26"/>
          <p:cNvSpPr txBox="1"/>
          <p:nvPr>
            <p:ph idx="1" type="body"/>
          </p:nvPr>
        </p:nvSpPr>
        <p:spPr>
          <a:xfrm>
            <a:off x="409650" y="1503750"/>
            <a:ext cx="8553300" cy="327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38761D"/>
                </a:solidFill>
                <a:latin typeface="Courier New"/>
                <a:ea typeface="Courier New"/>
                <a:cs typeface="Courier New"/>
                <a:sym typeface="Courier New"/>
              </a:rPr>
              <a:t>subExpression(if(#{P3jJH5Tu5VC}.periodOffset(-1)==4</a:t>
            </a:r>
            <a:endParaRPr b="1">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a:solidFill>
                  <a:srgbClr val="38761D"/>
                </a:solidFill>
                <a:latin typeface="Courier New"/>
                <a:ea typeface="Courier New"/>
                <a:cs typeface="Courier New"/>
                <a:sym typeface="Courier New"/>
              </a:rPr>
              <a:t>and #{P3jJH5Tu5VC}.periodOffset(-2)==4</a:t>
            </a:r>
            <a:endParaRPr b="1">
              <a:solidFill>
                <a:srgbClr val="38761D"/>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38761D"/>
                </a:solidFill>
                <a:latin typeface="Courier New"/>
                <a:ea typeface="Courier New"/>
                <a:cs typeface="Courier New"/>
                <a:sym typeface="Courier New"/>
              </a:rPr>
              <a:t>and #{P3jJH5Tu5VC}.periodOffset(-3)==4</a:t>
            </a:r>
            <a:endParaRPr b="1">
              <a:solidFill>
                <a:srgbClr val="38761D"/>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38761D"/>
                </a:solidFill>
                <a:latin typeface="Courier New"/>
                <a:ea typeface="Courier New"/>
                <a:cs typeface="Courier New"/>
                <a:sym typeface="Courier New"/>
              </a:rPr>
              <a:t>and #{P3jJH5Tu5VC}.periodOffset(-4)==4</a:t>
            </a:r>
            <a:endParaRPr b="1">
              <a:solidFill>
                <a:srgbClr val="38761D"/>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38761D"/>
                </a:solidFill>
                <a:latin typeface="Courier New"/>
                <a:ea typeface="Courier New"/>
                <a:cs typeface="Courier New"/>
                <a:sym typeface="Courier New"/>
              </a:rPr>
              <a:t>and #{P3jJH5Tu5VC}.periodOffset(-5)==4</a:t>
            </a:r>
            <a:endParaRPr b="1">
              <a:solidFill>
                <a:srgbClr val="38761D"/>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38761D"/>
                </a:solidFill>
                <a:latin typeface="Courier New"/>
                <a:ea typeface="Courier New"/>
                <a:cs typeface="Courier New"/>
                <a:sym typeface="Courier New"/>
              </a:rPr>
              <a:t>and #{P3jJH5Tu5VC}.periodOffset(-6)==4</a:t>
            </a:r>
            <a:endParaRPr b="1">
              <a:solidFill>
                <a:srgbClr val="38761D"/>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38761D"/>
                </a:solidFill>
                <a:latin typeface="Courier New"/>
                <a:ea typeface="Courier New"/>
                <a:cs typeface="Courier New"/>
                <a:sym typeface="Courier New"/>
              </a:rPr>
              <a:t>and #{P3jJH5Tu5VC}.periodOffset(-7)==4</a:t>
            </a:r>
            <a:endParaRPr b="1">
              <a:solidFill>
                <a:srgbClr val="38761D"/>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38761D"/>
                </a:solidFill>
                <a:latin typeface="Courier New"/>
                <a:ea typeface="Courier New"/>
                <a:cs typeface="Courier New"/>
                <a:sym typeface="Courier New"/>
              </a:rPr>
              <a:t>and #{P3jJH5Tu5VC}.periodOffset(-8)==4</a:t>
            </a:r>
            <a:endParaRPr b="1">
              <a:solidFill>
                <a:srgbClr val="38761D"/>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38761D"/>
                </a:solidFill>
                <a:latin typeface="Courier New"/>
                <a:ea typeface="Courier New"/>
                <a:cs typeface="Courier New"/>
                <a:sym typeface="Courier New"/>
              </a:rPr>
              <a:t>and #{P3jJH5Tu5VC}.periodOffset(-9)==4</a:t>
            </a:r>
            <a:endParaRPr b="1">
              <a:solidFill>
                <a:srgbClr val="38761D"/>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38761D"/>
                </a:solidFill>
                <a:latin typeface="Courier New"/>
                <a:ea typeface="Courier New"/>
                <a:cs typeface="Courier New"/>
                <a:sym typeface="Courier New"/>
              </a:rPr>
              <a:t>and #{P3jJH5Tu5VC}.periodOffset(-10)==4</a:t>
            </a:r>
            <a:endParaRPr b="1">
              <a:solidFill>
                <a:srgbClr val="38761D"/>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38761D"/>
                </a:solidFill>
                <a:latin typeface="Courier New"/>
                <a:ea typeface="Courier New"/>
                <a:cs typeface="Courier New"/>
                <a:sym typeface="Courier New"/>
              </a:rPr>
              <a:t>and #{P3jJH5Tu5VC}.periodOffset(-11)==4</a:t>
            </a:r>
            <a:endParaRPr b="1">
              <a:solidFill>
                <a:srgbClr val="38761D"/>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38761D"/>
                </a:solidFill>
                <a:latin typeface="Courier New"/>
                <a:ea typeface="Courier New"/>
                <a:cs typeface="Courier New"/>
                <a:sym typeface="Courier New"/>
              </a:rPr>
              <a:t>and #{P3jJH5Tu5VC}.periodOffset(-12)==4,1,0).aggregationType(COUNT))</a:t>
            </a:r>
            <a:endParaRPr b="1">
              <a:solidFill>
                <a:srgbClr val="38761D"/>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900">
              <a:solidFill>
                <a:srgbClr val="1D1C1D"/>
              </a:solidFill>
              <a:latin typeface="Courier New"/>
              <a:ea typeface="Courier New"/>
              <a:cs typeface="Courier New"/>
              <a:sym typeface="Courier New"/>
            </a:endParaRPr>
          </a:p>
          <a:p>
            <a:pPr indent="0" lvl="0" marL="0" rtl="0" algn="l">
              <a:spcBef>
                <a:spcPts val="0"/>
              </a:spcBef>
              <a:spcAft>
                <a:spcPts val="0"/>
              </a:spcAft>
              <a:buNone/>
            </a:pPr>
            <a:r>
              <a:t/>
            </a:r>
            <a:endParaRPr b="1" sz="900">
              <a:solidFill>
                <a:srgbClr val="1D1C1D"/>
              </a:solidFill>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311700" y="445025"/>
            <a:ext cx="8658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Facilities</a:t>
            </a:r>
            <a:r>
              <a:rPr lang="en"/>
              <a:t> with all disaggregations entered</a:t>
            </a:r>
            <a:endParaRPr/>
          </a:p>
          <a:p>
            <a:pPr indent="0" lvl="0" marL="0" rtl="0" algn="l">
              <a:spcBef>
                <a:spcPts val="0"/>
              </a:spcBef>
              <a:spcAft>
                <a:spcPts val="0"/>
              </a:spcAft>
              <a:buNone/>
            </a:pPr>
            <a:r>
              <a:rPr lang="en"/>
              <a:t>f</a:t>
            </a:r>
            <a:r>
              <a:rPr lang="en"/>
              <a:t>or at least 10 of the past 12 months</a:t>
            </a:r>
            <a:endParaRPr/>
          </a:p>
        </p:txBody>
      </p:sp>
      <p:sp>
        <p:nvSpPr>
          <p:cNvPr id="162" name="Google Shape;162;p27"/>
          <p:cNvSpPr txBox="1"/>
          <p:nvPr>
            <p:ph idx="1" type="body"/>
          </p:nvPr>
        </p:nvSpPr>
        <p:spPr>
          <a:xfrm>
            <a:off x="701200" y="1392275"/>
            <a:ext cx="8130900" cy="34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38761D"/>
                </a:solidFill>
                <a:latin typeface="Courier New"/>
                <a:ea typeface="Courier New"/>
                <a:cs typeface="Courier New"/>
                <a:sym typeface="Courier New"/>
              </a:rPr>
              <a:t>subExpression(if(</a:t>
            </a:r>
            <a:endParaRPr b="1" sz="13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300">
                <a:solidFill>
                  <a:srgbClr val="38761D"/>
                </a:solidFill>
                <a:latin typeface="Courier New"/>
                <a:ea typeface="Courier New"/>
                <a:cs typeface="Courier New"/>
                <a:sym typeface="Courier New"/>
              </a:rPr>
              <a:t>  if(#{P3jJH5Tu5VC}.periodOffset(-1)==4,1,0)</a:t>
            </a:r>
            <a:endParaRPr b="1" sz="13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300">
                <a:solidFill>
                  <a:srgbClr val="38761D"/>
                </a:solidFill>
                <a:latin typeface="Courier New"/>
                <a:ea typeface="Courier New"/>
                <a:cs typeface="Courier New"/>
                <a:sym typeface="Courier New"/>
              </a:rPr>
              <a:t>+ if(#{P3jJH5Tu5VC}.periodOffset(-2)==4,1,0)</a:t>
            </a:r>
            <a:endParaRPr b="1" sz="13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300">
                <a:solidFill>
                  <a:srgbClr val="38761D"/>
                </a:solidFill>
                <a:latin typeface="Courier New"/>
                <a:ea typeface="Courier New"/>
                <a:cs typeface="Courier New"/>
                <a:sym typeface="Courier New"/>
              </a:rPr>
              <a:t>+ if(#{P3jJH5Tu5VC}.periodOffset(-3)==4,1,0)</a:t>
            </a:r>
            <a:endParaRPr b="1" sz="13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300">
                <a:solidFill>
                  <a:srgbClr val="38761D"/>
                </a:solidFill>
                <a:latin typeface="Courier New"/>
                <a:ea typeface="Courier New"/>
                <a:cs typeface="Courier New"/>
                <a:sym typeface="Courier New"/>
              </a:rPr>
              <a:t>+ if(#{P3jJH5Tu5VC}.periodOffset(-4)==4,1,0)</a:t>
            </a:r>
            <a:endParaRPr b="1" sz="13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300">
                <a:solidFill>
                  <a:srgbClr val="38761D"/>
                </a:solidFill>
                <a:latin typeface="Courier New"/>
                <a:ea typeface="Courier New"/>
                <a:cs typeface="Courier New"/>
                <a:sym typeface="Courier New"/>
              </a:rPr>
              <a:t>+ if(#{P3jJH5Tu5VC}.periodOffset(-5)==4,1,0)</a:t>
            </a:r>
            <a:endParaRPr b="1" sz="13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300">
                <a:solidFill>
                  <a:srgbClr val="38761D"/>
                </a:solidFill>
                <a:latin typeface="Courier New"/>
                <a:ea typeface="Courier New"/>
                <a:cs typeface="Courier New"/>
                <a:sym typeface="Courier New"/>
              </a:rPr>
              <a:t>+ if(#{P3jJH5Tu5VC}.periodOffset(-6)==4,1,0)</a:t>
            </a:r>
            <a:endParaRPr b="1" sz="13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300">
                <a:solidFill>
                  <a:srgbClr val="38761D"/>
                </a:solidFill>
                <a:latin typeface="Courier New"/>
                <a:ea typeface="Courier New"/>
                <a:cs typeface="Courier New"/>
                <a:sym typeface="Courier New"/>
              </a:rPr>
              <a:t>+ if(#{P3jJH5Tu5VC}.periodOffset(-7)==4,1,0)</a:t>
            </a:r>
            <a:endParaRPr b="1" sz="13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300">
                <a:solidFill>
                  <a:srgbClr val="38761D"/>
                </a:solidFill>
                <a:latin typeface="Courier New"/>
                <a:ea typeface="Courier New"/>
                <a:cs typeface="Courier New"/>
                <a:sym typeface="Courier New"/>
              </a:rPr>
              <a:t>+ if(#{P3jJH5Tu5VC}.periodOffset(-8)==4,1,0)</a:t>
            </a:r>
            <a:endParaRPr b="1" sz="13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300">
                <a:solidFill>
                  <a:srgbClr val="38761D"/>
                </a:solidFill>
                <a:latin typeface="Courier New"/>
                <a:ea typeface="Courier New"/>
                <a:cs typeface="Courier New"/>
                <a:sym typeface="Courier New"/>
              </a:rPr>
              <a:t>+ if(#{P3jJH5Tu5VC}.periodOffset(-9)==4,1,0)</a:t>
            </a:r>
            <a:endParaRPr b="1" sz="13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300">
                <a:solidFill>
                  <a:srgbClr val="38761D"/>
                </a:solidFill>
                <a:latin typeface="Courier New"/>
                <a:ea typeface="Courier New"/>
                <a:cs typeface="Courier New"/>
                <a:sym typeface="Courier New"/>
              </a:rPr>
              <a:t>+ if(#{P3jJH5Tu5VC}.periodOffset(-10)==4,1,0)</a:t>
            </a:r>
            <a:endParaRPr b="1" sz="13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300">
                <a:solidFill>
                  <a:srgbClr val="38761D"/>
                </a:solidFill>
                <a:latin typeface="Courier New"/>
                <a:ea typeface="Courier New"/>
                <a:cs typeface="Courier New"/>
                <a:sym typeface="Courier New"/>
              </a:rPr>
              <a:t>+ if(#{P3jJH5Tu5VC}.periodOffset(-11)==4,1,0)</a:t>
            </a:r>
            <a:endParaRPr b="1" sz="1300">
              <a:solidFill>
                <a:srgbClr val="38761D"/>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300">
                <a:solidFill>
                  <a:srgbClr val="38761D"/>
                </a:solidFill>
                <a:latin typeface="Courier New"/>
                <a:ea typeface="Courier New"/>
                <a:cs typeface="Courier New"/>
                <a:sym typeface="Courier New"/>
              </a:rPr>
              <a:t>+ if(#{P3jJH5Tu5VC}.periodOffset(-12)==4,1,0)</a:t>
            </a:r>
            <a:endParaRPr b="1" sz="1300">
              <a:solidFill>
                <a:srgbClr val="38761D"/>
              </a:solidFill>
              <a:latin typeface="Courier New"/>
              <a:ea typeface="Courier New"/>
              <a:cs typeface="Courier New"/>
              <a:sym typeface="Courier New"/>
            </a:endParaRPr>
          </a:p>
          <a:p>
            <a:pPr indent="457200" lvl="0" marL="457200" rtl="0" algn="l">
              <a:spcBef>
                <a:spcPts val="0"/>
              </a:spcBef>
              <a:spcAft>
                <a:spcPts val="0"/>
              </a:spcAft>
              <a:buClr>
                <a:schemeClr val="dk1"/>
              </a:buClr>
              <a:buSzPts val="1100"/>
              <a:buFont typeface="Arial"/>
              <a:buNone/>
            </a:pPr>
            <a:r>
              <a:rPr b="1" lang="en" sz="1300">
                <a:solidFill>
                  <a:srgbClr val="38761D"/>
                </a:solidFill>
                <a:latin typeface="Courier New"/>
                <a:ea typeface="Courier New"/>
                <a:cs typeface="Courier New"/>
                <a:sym typeface="Courier New"/>
              </a:rPr>
              <a:t>&gt;= 10,1,0).aggregationType(COUNT))</a:t>
            </a:r>
            <a:endParaRPr b="1" sz="1300">
              <a:solidFill>
                <a:srgbClr val="38761D"/>
              </a:solidFill>
              <a:latin typeface="Courier New"/>
              <a:ea typeface="Courier New"/>
              <a:cs typeface="Courier New"/>
              <a:sym typeface="Courier New"/>
            </a:endParaRPr>
          </a:p>
          <a:p>
            <a:pPr indent="0" lvl="0" marL="0" rtl="0" algn="l">
              <a:spcBef>
                <a:spcPts val="0"/>
              </a:spcBef>
              <a:spcAft>
                <a:spcPts val="0"/>
              </a:spcAft>
              <a:buNone/>
            </a:pPr>
            <a:r>
              <a:t/>
            </a:r>
            <a:endParaRPr b="1" sz="1300">
              <a:solidFill>
                <a:srgbClr val="1D1C1D"/>
              </a:solidFill>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Outlier impact</a:t>
            </a:r>
            <a:endParaRPr/>
          </a:p>
        </p:txBody>
      </p:sp>
      <p:sp>
        <p:nvSpPr>
          <p:cNvPr id="168" name="Google Shape;168;p28"/>
          <p:cNvSpPr txBox="1"/>
          <p:nvPr>
            <p:ph idx="1" type="body"/>
          </p:nvPr>
        </p:nvSpPr>
        <p:spPr>
          <a:xfrm>
            <a:off x="311700" y="1152475"/>
            <a:ext cx="8520600" cy="322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highlight>
                  <a:srgbClr val="FFFFFF"/>
                </a:highlight>
                <a:latin typeface="Roboto"/>
                <a:ea typeface="Roboto"/>
                <a:cs typeface="Roboto"/>
                <a:sym typeface="Roboto"/>
              </a:rPr>
              <a:t>Outlier </a:t>
            </a:r>
            <a:r>
              <a:rPr lang="en" sz="1200">
                <a:solidFill>
                  <a:schemeClr val="dk1"/>
                </a:solidFill>
                <a:highlight>
                  <a:srgbClr val="FFFFFF"/>
                </a:highlight>
                <a:latin typeface="Roboto"/>
                <a:ea typeface="Roboto"/>
                <a:cs typeface="Roboto"/>
                <a:sym typeface="Roboto"/>
              </a:rPr>
              <a:t>threshold</a:t>
            </a:r>
            <a:r>
              <a:rPr lang="en" sz="1200">
                <a:solidFill>
                  <a:schemeClr val="dk1"/>
                </a:solidFill>
                <a:highlight>
                  <a:srgbClr val="FFFFFF"/>
                </a:highlight>
                <a:latin typeface="Roboto"/>
                <a:ea typeface="Roboto"/>
                <a:cs typeface="Roboto"/>
                <a:sym typeface="Roboto"/>
              </a:rPr>
              <a:t> expression for a predictor</a:t>
            </a:r>
            <a:r>
              <a:rPr i="1" lang="en" sz="1200">
                <a:solidFill>
                  <a:schemeClr val="dk1"/>
                </a:solidFill>
                <a:highlight>
                  <a:srgbClr val="FFFFFF"/>
                </a:highlight>
                <a:latin typeface="Roboto"/>
                <a:ea typeface="Roboto"/>
                <a:cs typeface="Roboto"/>
                <a:sym typeface="Roboto"/>
              </a:rPr>
              <a:t>: avg({data_element_uid}) + (3 * stddevPop({data_element_uid}))</a:t>
            </a:r>
            <a:endParaRPr/>
          </a:p>
        </p:txBody>
      </p:sp>
      <p:pic>
        <p:nvPicPr>
          <p:cNvPr id="169" name="Google Shape;169;p28"/>
          <p:cNvPicPr preferRelativeResize="0"/>
          <p:nvPr/>
        </p:nvPicPr>
        <p:blipFill>
          <a:blip r:embed="rId3">
            <a:alphaModFix/>
          </a:blip>
          <a:stretch>
            <a:fillRect/>
          </a:stretch>
        </p:blipFill>
        <p:spPr>
          <a:xfrm>
            <a:off x="285900" y="1628537"/>
            <a:ext cx="8572199" cy="2708075"/>
          </a:xfrm>
          <a:prstGeom prst="rect">
            <a:avLst/>
          </a:prstGeom>
          <a:noFill/>
          <a:ln>
            <a:noFill/>
          </a:ln>
        </p:spPr>
      </p:pic>
      <p:sp>
        <p:nvSpPr>
          <p:cNvPr id="170" name="Google Shape;170;p28"/>
          <p:cNvSpPr txBox="1"/>
          <p:nvPr/>
        </p:nvSpPr>
        <p:spPr>
          <a:xfrm>
            <a:off x="396478" y="1710122"/>
            <a:ext cx="1228800" cy="3231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 sz="900">
                <a:solidFill>
                  <a:schemeClr val="dk1"/>
                </a:solidFill>
                <a:highlight>
                  <a:schemeClr val="lt1"/>
                </a:highlight>
              </a:rPr>
              <a:t>Indicator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Outlier calculations</a:t>
            </a:r>
            <a:endParaRPr/>
          </a:p>
        </p:txBody>
      </p:sp>
      <p:sp>
        <p:nvSpPr>
          <p:cNvPr id="176" name="Google Shape;176;p29"/>
          <p:cNvSpPr txBox="1"/>
          <p:nvPr>
            <p:ph idx="1" type="body"/>
          </p:nvPr>
        </p:nvSpPr>
        <p:spPr>
          <a:xfrm>
            <a:off x="311700" y="997881"/>
            <a:ext cx="8520600" cy="3225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highlight>
                  <a:srgbClr val="FFFFFF"/>
                </a:highlight>
                <a:latin typeface="Roboto"/>
                <a:ea typeface="Roboto"/>
                <a:cs typeface="Roboto"/>
                <a:sym typeface="Roboto"/>
              </a:rPr>
              <a:t>Percentage of values that are outlier values</a:t>
            </a:r>
            <a:r>
              <a:rPr lang="en" sz="1200">
                <a:solidFill>
                  <a:schemeClr val="dk1"/>
                </a:solidFill>
                <a:highlight>
                  <a:srgbClr val="FFFFFF"/>
                </a:highlight>
                <a:latin typeface="Roboto"/>
                <a:ea typeface="Roboto"/>
                <a:cs typeface="Roboto"/>
                <a:sym typeface="Roboto"/>
              </a:rPr>
              <a:t> for a particular data element:</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Numerator: count of outlier values</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highlight>
                  <a:schemeClr val="lt1"/>
                </a:highlight>
                <a:latin typeface="Roboto"/>
                <a:ea typeface="Roboto"/>
                <a:cs typeface="Roboto"/>
                <a:sym typeface="Roboto"/>
              </a:rPr>
              <a:t>Denominator: all values for the data element</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Factor: 100</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Purpose: metric of the data quality, and can be used to look at geographical comparisons or changes over time</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highlight>
                  <a:srgbClr val="FFFFFF"/>
                </a:highlight>
                <a:latin typeface="Roboto"/>
                <a:ea typeface="Roboto"/>
                <a:cs typeface="Roboto"/>
                <a:sym typeface="Roboto"/>
              </a:rPr>
              <a:t>Value excluding outliers as a percentage of the overall value</a:t>
            </a:r>
            <a:r>
              <a:rPr lang="en" sz="1200">
                <a:solidFill>
                  <a:schemeClr val="dk1"/>
                </a:solidFill>
                <a:highlight>
                  <a:srgbClr val="FFFFFF"/>
                </a:highlight>
                <a:latin typeface="Roboto"/>
                <a:ea typeface="Roboto"/>
                <a:cs typeface="Roboto"/>
                <a:sym typeface="Roboto"/>
              </a:rPr>
              <a:t> for a particular data element:</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Numerator: the values for the data element that are not outliers</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Denominator: all values for the data element</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Factor: 100</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Purpose: metric for the </a:t>
            </a:r>
            <a:r>
              <a:rPr i="1" lang="en" sz="1200">
                <a:solidFill>
                  <a:schemeClr val="dk1"/>
                </a:solidFill>
                <a:highlight>
                  <a:srgbClr val="FFFFFF"/>
                </a:highlight>
                <a:latin typeface="Roboto"/>
                <a:ea typeface="Roboto"/>
                <a:cs typeface="Roboto"/>
                <a:sym typeface="Roboto"/>
              </a:rPr>
              <a:t>significance</a:t>
            </a:r>
            <a:r>
              <a:rPr lang="en" sz="1200">
                <a:solidFill>
                  <a:schemeClr val="dk1"/>
                </a:solidFill>
                <a:highlight>
                  <a:srgbClr val="FFFFFF"/>
                </a:highlight>
                <a:latin typeface="Roboto"/>
                <a:ea typeface="Roboto"/>
                <a:cs typeface="Roboto"/>
                <a:sym typeface="Roboto"/>
              </a:rPr>
              <a:t> the outlier values has on the overall value for a data element, and can be used both for time trends and geographical comparisons. Also gives an indication of how significantly outliers affect the overall data which is an important consideration when analyzing data.</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r>
              <a:rPr lang="en"/>
              <a:t>.	</a:t>
            </a:r>
            <a:r>
              <a:rPr lang="en"/>
              <a:t>Other advanced indicator calculations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82" name="Google Shape;182;p30"/>
          <p:cNvSpPr txBox="1"/>
          <p:nvPr>
            <p:ph idx="1" type="body"/>
          </p:nvPr>
        </p:nvSpPr>
        <p:spPr>
          <a:xfrm>
            <a:off x="1113200" y="1462475"/>
            <a:ext cx="6369600" cy="2091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AutoNum type="arabicPeriod"/>
            </a:pPr>
            <a:r>
              <a:rPr lang="en" sz="2200"/>
              <a:t>New this year</a:t>
            </a:r>
            <a:br>
              <a:rPr lang="en" sz="2200"/>
            </a:br>
            <a:endParaRPr sz="2200"/>
          </a:p>
          <a:p>
            <a:pPr indent="-368300" lvl="0" marL="457200" rtl="0" algn="l">
              <a:spcBef>
                <a:spcPts val="0"/>
              </a:spcBef>
              <a:spcAft>
                <a:spcPts val="0"/>
              </a:spcAft>
              <a:buSzPts val="2200"/>
              <a:buAutoNum type="arabicPeriod"/>
            </a:pPr>
            <a:r>
              <a:rPr lang="en" sz="2200"/>
              <a:t>Other notable indicator syntax</a:t>
            </a:r>
            <a:endParaRPr sz="2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indicator syntax since June 2023</a:t>
            </a:r>
            <a:endParaRPr/>
          </a:p>
        </p:txBody>
      </p:sp>
      <p:sp>
        <p:nvSpPr>
          <p:cNvPr id="188" name="Google Shape;188;p31"/>
          <p:cNvSpPr txBox="1"/>
          <p:nvPr>
            <p:ph idx="1" type="body"/>
          </p:nvPr>
        </p:nvSpPr>
        <p:spPr>
          <a:xfrm>
            <a:off x="311700" y="1112800"/>
            <a:ext cx="8520600" cy="356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periodOffset in subExpression – since 2.40.2  </a:t>
            </a:r>
            <a:r>
              <a:rPr lang="en" u="sng">
                <a:solidFill>
                  <a:schemeClr val="hlink"/>
                </a:solidFill>
                <a:hlinkClick r:id="rId3"/>
              </a:rPr>
              <a:t>DHIS2-15874</a:t>
            </a:r>
            <a:endParaRPr/>
          </a:p>
          <a:p>
            <a:pPr indent="0" lvl="0" marL="0" rtl="0" algn="l">
              <a:spcBef>
                <a:spcPts val="0"/>
              </a:spcBef>
              <a:spcAft>
                <a:spcPts val="0"/>
              </a:spcAft>
              <a:buNone/>
            </a:pPr>
            <a:r>
              <a:rPr lang="en"/>
              <a:t>	</a:t>
            </a:r>
            <a:r>
              <a:rPr b="1" lang="en">
                <a:solidFill>
                  <a:srgbClr val="38761D"/>
                </a:solidFill>
                <a:latin typeface="Courier New"/>
                <a:ea typeface="Courier New"/>
                <a:cs typeface="Courier New"/>
                <a:sym typeface="Courier New"/>
              </a:rPr>
              <a:t>subExpression(#{P3jJH5Tu5VC} + #{P3jJH5Tu5VC}.periodOffset(-1))</a:t>
            </a:r>
            <a:endParaRPr b="1">
              <a:solidFill>
                <a:srgbClr val="38761D"/>
              </a:solidFill>
              <a:latin typeface="Courier New"/>
              <a:ea typeface="Courier New"/>
              <a:cs typeface="Courier New"/>
              <a:sym typeface="Courier New"/>
            </a:endParaRPr>
          </a:p>
          <a:p>
            <a:pPr indent="0" lvl="0" marL="0" rtl="0" algn="l">
              <a:spcBef>
                <a:spcPts val="0"/>
              </a:spcBef>
              <a:spcAft>
                <a:spcPts val="0"/>
              </a:spcAft>
              <a:buNone/>
            </a:pPr>
            <a:r>
              <a:t/>
            </a:r>
            <a:endParaRPr b="1" sz="900">
              <a:solidFill>
                <a:srgbClr val="38761D"/>
              </a:solidFill>
              <a:latin typeface="Courier New"/>
              <a:ea typeface="Courier New"/>
              <a:cs typeface="Courier New"/>
              <a:sym typeface="Courier New"/>
            </a:endParaRPr>
          </a:p>
          <a:p>
            <a:pPr indent="0" lvl="0" marL="0" rtl="0" algn="l">
              <a:spcBef>
                <a:spcPts val="0"/>
              </a:spcBef>
              <a:spcAft>
                <a:spcPts val="0"/>
              </a:spcAft>
              <a:buNone/>
            </a:pPr>
            <a:r>
              <a:rPr lang="en"/>
              <a:t>counting boolean values in subExpression – since 2.40.3  </a:t>
            </a:r>
            <a:r>
              <a:rPr lang="en" u="sng">
                <a:solidFill>
                  <a:schemeClr val="hlink"/>
                </a:solidFill>
                <a:hlinkClick r:id="rId4"/>
              </a:rPr>
              <a:t>DHIS2-15936</a:t>
            </a:r>
            <a:endParaRPr/>
          </a:p>
          <a:p>
            <a:pPr indent="0" lvl="0" marL="0" rtl="0" algn="l">
              <a:spcBef>
                <a:spcPts val="0"/>
              </a:spcBef>
              <a:spcAft>
                <a:spcPts val="0"/>
              </a:spcAft>
              <a:buNone/>
            </a:pPr>
            <a:r>
              <a:rPr lang="en"/>
              <a:t>	</a:t>
            </a:r>
            <a:r>
              <a:rPr b="1" lang="en">
                <a:solidFill>
                  <a:srgbClr val="38761D"/>
                </a:solidFill>
                <a:latin typeface="Courier New"/>
                <a:ea typeface="Courier New"/>
                <a:cs typeface="Courier New"/>
                <a:sym typeface="Courier New"/>
              </a:rPr>
              <a:t>subExpression(#{LHXqz53TmPe}.aggregationType(COUNT))</a:t>
            </a:r>
            <a:endParaRPr b="1">
              <a:solidFill>
                <a:srgbClr val="38761D"/>
              </a:solidFill>
              <a:latin typeface="Courier New"/>
              <a:ea typeface="Courier New"/>
              <a:cs typeface="Courier New"/>
              <a:sym typeface="Courier New"/>
            </a:endParaRPr>
          </a:p>
          <a:p>
            <a:pPr indent="0" lvl="0" marL="0" rtl="0" algn="l">
              <a:spcBef>
                <a:spcPts val="0"/>
              </a:spcBef>
              <a:spcAft>
                <a:spcPts val="0"/>
              </a:spcAft>
              <a:buNone/>
            </a:pPr>
            <a:r>
              <a:t/>
            </a:r>
            <a:endParaRPr b="1" sz="900">
              <a:solidFill>
                <a:srgbClr val="38761D"/>
              </a:solidFill>
              <a:latin typeface="Courier New"/>
              <a:ea typeface="Courier New"/>
              <a:cs typeface="Courier New"/>
              <a:sym typeface="Courier New"/>
            </a:endParaRPr>
          </a:p>
          <a:p>
            <a:pPr indent="0" lvl="0" marL="0" rtl="0" algn="l">
              <a:spcBef>
                <a:spcPts val="0"/>
              </a:spcBef>
              <a:spcAft>
                <a:spcPts val="0"/>
              </a:spcAft>
              <a:buNone/>
            </a:pPr>
            <a:r>
              <a:rPr lang="en"/>
              <a:t>using nested indicators with periodOffset – since 2.40.3, 2.39.5, 2.38.7  </a:t>
            </a:r>
            <a:r>
              <a:rPr lang="en" u="sng">
                <a:solidFill>
                  <a:schemeClr val="hlink"/>
                </a:solidFill>
                <a:hlinkClick r:id="rId5"/>
              </a:rPr>
              <a:t>DHIS2-15434</a:t>
            </a:r>
            <a:endParaRPr/>
          </a:p>
          <a:p>
            <a:pPr indent="0" lvl="0" marL="0" rtl="0" algn="l">
              <a:spcBef>
                <a:spcPts val="0"/>
              </a:spcBef>
              <a:spcAft>
                <a:spcPts val="0"/>
              </a:spcAft>
              <a:buClr>
                <a:schemeClr val="dk1"/>
              </a:buClr>
              <a:buSzPts val="1100"/>
              <a:buFont typeface="Arial"/>
              <a:buNone/>
            </a:pPr>
            <a:r>
              <a:rPr lang="en"/>
              <a:t>	</a:t>
            </a:r>
            <a:r>
              <a:rPr b="1" lang="en">
                <a:solidFill>
                  <a:srgbClr val="38761D"/>
                </a:solidFill>
                <a:latin typeface="Courier New"/>
                <a:ea typeface="Courier New"/>
                <a:cs typeface="Courier New"/>
                <a:sym typeface="Courier New"/>
              </a:rPr>
              <a:t>N{AUqdhY4mpvp} + N{AUqdhY4mpvp}.periodOffset(-1)</a:t>
            </a:r>
            <a:endParaRPr b="1">
              <a:solidFill>
                <a:srgbClr val="38761D"/>
              </a:solidFill>
              <a:latin typeface="Courier New"/>
              <a:ea typeface="Courier New"/>
              <a:cs typeface="Courier New"/>
              <a:sym typeface="Courier New"/>
            </a:endParaRPr>
          </a:p>
          <a:p>
            <a:pPr indent="0" lvl="0" marL="0" rtl="0" algn="l">
              <a:spcBef>
                <a:spcPts val="0"/>
              </a:spcBef>
              <a:spcAft>
                <a:spcPts val="0"/>
              </a:spcAft>
              <a:buNone/>
            </a:pPr>
            <a:r>
              <a:t/>
            </a:r>
            <a:endParaRPr sz="900"/>
          </a:p>
          <a:p>
            <a:pPr indent="0" lvl="0" marL="0" rtl="0" algn="l">
              <a:spcBef>
                <a:spcPts val="0"/>
              </a:spcBef>
              <a:spcAft>
                <a:spcPts val="0"/>
              </a:spcAft>
              <a:buNone/>
            </a:pPr>
            <a:r>
              <a:rPr lang="en"/>
              <a:t>contains and containsItems for multi-select (and text) data </a:t>
            </a:r>
            <a:r>
              <a:rPr lang="en"/>
              <a:t>elements </a:t>
            </a:r>
            <a:r>
              <a:rPr lang="en"/>
              <a:t>– since 2.41  </a:t>
            </a:r>
            <a:r>
              <a:rPr lang="en" u="sng">
                <a:solidFill>
                  <a:schemeClr val="hlink"/>
                </a:solidFill>
                <a:hlinkClick r:id="rId6"/>
              </a:rPr>
              <a:t>DHIS2-16211</a:t>
            </a:r>
            <a:endParaRPr/>
          </a:p>
          <a:p>
            <a:pPr indent="0" lvl="0" marL="0" rtl="0" algn="l">
              <a:spcBef>
                <a:spcPts val="0"/>
              </a:spcBef>
              <a:spcAft>
                <a:spcPts val="0"/>
              </a:spcAft>
              <a:buNone/>
            </a:pPr>
            <a:r>
              <a:rPr lang="en"/>
              <a:t>	</a:t>
            </a:r>
            <a:r>
              <a:rPr b="1" lang="en">
                <a:solidFill>
                  <a:srgbClr val="38761D"/>
                </a:solidFill>
                <a:latin typeface="Courier New"/>
                <a:ea typeface="Courier New"/>
                <a:cs typeface="Courier New"/>
                <a:sym typeface="Courier New"/>
              </a:rPr>
              <a:t>contains(#{uid},'ALLERGY')</a:t>
            </a:r>
            <a:r>
              <a:rPr lang="en"/>
              <a:t> </a:t>
            </a:r>
            <a:r>
              <a:rPr lang="en"/>
              <a:t>–  matches any substring</a:t>
            </a:r>
            <a:endParaRPr b="1">
              <a:solidFill>
                <a:srgbClr val="38761D"/>
              </a:solidFill>
              <a:latin typeface="Courier New"/>
              <a:ea typeface="Courier New"/>
              <a:cs typeface="Courier New"/>
              <a:sym typeface="Courier New"/>
            </a:endParaRPr>
          </a:p>
          <a:p>
            <a:pPr indent="0" lvl="0" marL="0" rtl="0" algn="l">
              <a:spcBef>
                <a:spcPts val="0"/>
              </a:spcBef>
              <a:spcAft>
                <a:spcPts val="0"/>
              </a:spcAft>
              <a:buNone/>
            </a:pPr>
            <a:r>
              <a:rPr b="1" lang="en">
                <a:solidFill>
                  <a:srgbClr val="38761D"/>
                </a:solidFill>
                <a:latin typeface="Courier New"/>
                <a:ea typeface="Courier New"/>
                <a:cs typeface="Courier New"/>
                <a:sym typeface="Courier New"/>
              </a:rPr>
              <a:t>	containsItems(#{uid},'LATEX_ALLERGY','MOLD_ALLERGY')</a:t>
            </a:r>
            <a:r>
              <a:rPr lang="en"/>
              <a:t> –  matches whole items</a:t>
            </a:r>
            <a:endParaRPr b="1">
              <a:solidFill>
                <a:srgbClr val="38761D"/>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900">
              <a:solidFill>
                <a:srgbClr val="38761D"/>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t>comments – since 2.41  </a:t>
            </a:r>
            <a:r>
              <a:rPr lang="en" u="sng">
                <a:solidFill>
                  <a:schemeClr val="hlink"/>
                </a:solidFill>
                <a:hlinkClick r:id="rId7"/>
              </a:rPr>
              <a:t>DHIS2-15035</a:t>
            </a:r>
            <a:endParaRPr/>
          </a:p>
          <a:p>
            <a:pPr indent="0" lvl="0" marL="0" rtl="0" algn="l">
              <a:spcBef>
                <a:spcPts val="0"/>
              </a:spcBef>
              <a:spcAft>
                <a:spcPts val="0"/>
              </a:spcAft>
              <a:buClr>
                <a:schemeClr val="dk1"/>
              </a:buClr>
              <a:buSzPts val="1100"/>
              <a:buFont typeface="Arial"/>
              <a:buNone/>
            </a:pPr>
            <a:r>
              <a:rPr lang="en"/>
              <a:t>	</a:t>
            </a:r>
            <a:r>
              <a:rPr b="1" lang="en">
                <a:solidFill>
                  <a:srgbClr val="38761D"/>
                </a:solidFill>
                <a:latin typeface="Courier New"/>
                <a:ea typeface="Courier New"/>
                <a:cs typeface="Courier New"/>
                <a:sym typeface="Courier New"/>
              </a:rPr>
              <a:t>#{fbfJHSPpUQD} /* ANC 1st visit */</a:t>
            </a:r>
            <a:endParaRPr b="1">
              <a:solidFill>
                <a:srgbClr val="38761D"/>
              </a:solidFill>
              <a:latin typeface="Courier New"/>
              <a:ea typeface="Courier New"/>
              <a:cs typeface="Courier New"/>
              <a:sym typeface="Courier New"/>
            </a:endParaRPr>
          </a:p>
          <a:p>
            <a:pPr indent="0" lvl="0" marL="0" rtl="0" algn="l">
              <a:spcBef>
                <a:spcPts val="0"/>
              </a:spcBef>
              <a:spcAft>
                <a:spcPts val="0"/>
              </a:spcAft>
              <a:buNone/>
            </a:pPr>
            <a:r>
              <a:t/>
            </a:r>
            <a:endParaRPr b="1">
              <a:solidFill>
                <a:srgbClr val="38761D"/>
              </a:solidFill>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notable indicator syntax (1 of 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94" name="Google Shape;194;p32"/>
          <p:cNvSpPr txBox="1"/>
          <p:nvPr>
            <p:ph idx="1" type="body"/>
          </p:nvPr>
        </p:nvSpPr>
        <p:spPr>
          <a:xfrm>
            <a:off x="406400" y="1313625"/>
            <a:ext cx="8644200" cy="3542100"/>
          </a:xfrm>
          <a:prstGeom prst="rect">
            <a:avLst/>
          </a:prstGeom>
        </p:spPr>
        <p:txBody>
          <a:bodyPr anchorCtr="0" anchor="t" bIns="91425" lIns="91425" spcFirstLastPara="1" rIns="91425" wrap="square" tIns="91425">
            <a:noAutofit/>
          </a:bodyPr>
          <a:lstStyle/>
          <a:p>
            <a:pPr indent="0" lvl="0" marL="0" rtl="0" algn="l">
              <a:lnSpc>
                <a:spcPct val="175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if()				</a:t>
            </a:r>
            <a:r>
              <a:rPr lang="en" sz="1700"/>
              <a:t>Returns values depending on whether test is true or false</a:t>
            </a:r>
            <a:endParaRPr sz="1700"/>
          </a:p>
          <a:p>
            <a:pPr indent="0" lvl="0" marL="0" rtl="0" algn="l">
              <a:lnSpc>
                <a:spcPct val="175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is([value] in …)	</a:t>
            </a:r>
            <a:r>
              <a:rPr lang="en" sz="1700"/>
              <a:t>Is value equal to any of several values</a:t>
            </a:r>
            <a:endParaRPr sz="1700"/>
          </a:p>
          <a:p>
            <a:pPr indent="0" lvl="0" marL="0" rtl="0" algn="l">
              <a:lnSpc>
                <a:spcPct val="175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isNull()			</a:t>
            </a:r>
            <a:r>
              <a:rPr lang="en" sz="1700"/>
              <a:t>Returns true if a value is absent (null)</a:t>
            </a:r>
            <a:endParaRPr sz="1700">
              <a:solidFill>
                <a:srgbClr val="38761D"/>
              </a:solidFill>
              <a:latin typeface="Roboto Mono SemiBold"/>
              <a:ea typeface="Roboto Mono SemiBold"/>
              <a:cs typeface="Roboto Mono SemiBold"/>
              <a:sym typeface="Roboto Mono SemiBold"/>
            </a:endParaRPr>
          </a:p>
          <a:p>
            <a:pPr indent="0" lvl="0" marL="0" rtl="0" algn="l">
              <a:lnSpc>
                <a:spcPct val="175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isNotNull()		</a:t>
            </a:r>
            <a:r>
              <a:rPr lang="en" sz="1700"/>
              <a:t>Returns true if a value is present (not null)</a:t>
            </a:r>
            <a:endParaRPr sz="1700">
              <a:solidFill>
                <a:srgbClr val="38761D"/>
              </a:solidFill>
              <a:latin typeface="Roboto Mono SemiBold"/>
              <a:ea typeface="Roboto Mono SemiBold"/>
              <a:cs typeface="Roboto Mono SemiBold"/>
              <a:sym typeface="Roboto Mono SemiBold"/>
            </a:endParaRPr>
          </a:p>
          <a:p>
            <a:pPr indent="0" lvl="0" marL="0" rtl="0" algn="l">
              <a:lnSpc>
                <a:spcPct val="175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firstNonNull()		</a:t>
            </a:r>
            <a:r>
              <a:rPr lang="en" sz="1700"/>
              <a:t>Returns first non-null value from a variable number of values</a:t>
            </a:r>
            <a:endParaRPr sz="1700">
              <a:solidFill>
                <a:srgbClr val="38761D"/>
              </a:solidFill>
              <a:latin typeface="Roboto Mono SemiBold"/>
              <a:ea typeface="Roboto Mono SemiBold"/>
              <a:cs typeface="Roboto Mono SemiBold"/>
              <a:sym typeface="Roboto Mono SemiBold"/>
            </a:endParaRPr>
          </a:p>
          <a:p>
            <a:pPr indent="0" lvl="0" marL="0" rtl="0" algn="l">
              <a:lnSpc>
                <a:spcPct val="175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null				</a:t>
            </a:r>
            <a:r>
              <a:rPr lang="en" sz="1700"/>
              <a:t>A null value</a:t>
            </a:r>
            <a:endParaRPr sz="1700"/>
          </a:p>
          <a:p>
            <a:pPr indent="0" lvl="0" marL="0" rtl="0" algn="l">
              <a:lnSpc>
                <a:spcPct val="175000"/>
              </a:lnSpc>
              <a:spcBef>
                <a:spcPts val="0"/>
              </a:spcBef>
              <a:spcAft>
                <a:spcPts val="0"/>
              </a:spcAft>
              <a:buClr>
                <a:schemeClr val="dk1"/>
              </a:buClr>
              <a:buSzPts val="1100"/>
              <a:buFont typeface="Arial"/>
              <a:buNone/>
            </a:pPr>
            <a:r>
              <a:rPr lang="en" sz="1700">
                <a:solidFill>
                  <a:srgbClr val="38761D"/>
                </a:solidFill>
                <a:latin typeface="Roboto Mono SemiBold"/>
                <a:ea typeface="Roboto Mono SemiBold"/>
                <a:cs typeface="Roboto Mono SemiBold"/>
                <a:sym typeface="Roboto Mono SemiBold"/>
              </a:rPr>
              <a:t>removeZeros()		</a:t>
            </a:r>
            <a:r>
              <a:rPr lang="en" sz="1700"/>
              <a:t>Same logic as</a:t>
            </a:r>
            <a:r>
              <a:rPr lang="en" sz="1700">
                <a:solidFill>
                  <a:srgbClr val="38761D"/>
                </a:solidFill>
                <a:latin typeface="Roboto Mono SemiBold"/>
                <a:ea typeface="Roboto Mono SemiBold"/>
                <a:cs typeface="Roboto Mono SemiBold"/>
                <a:sym typeface="Roboto Mono SemiBold"/>
              </a:rPr>
              <a:t> if(</a:t>
            </a:r>
            <a:r>
              <a:rPr i="1" lang="en" sz="1700">
                <a:solidFill>
                  <a:srgbClr val="38761D"/>
                </a:solidFill>
                <a:latin typeface="Roboto Mono SemiBold"/>
                <a:ea typeface="Roboto Mono SemiBold"/>
                <a:cs typeface="Roboto Mono SemiBold"/>
                <a:sym typeface="Roboto Mono SemiBold"/>
              </a:rPr>
              <a:t>value</a:t>
            </a:r>
            <a:r>
              <a:rPr lang="en" sz="1700">
                <a:solidFill>
                  <a:srgbClr val="38761D"/>
                </a:solidFill>
                <a:latin typeface="Roboto Mono SemiBold"/>
                <a:ea typeface="Roboto Mono SemiBold"/>
                <a:cs typeface="Roboto Mono SemiBold"/>
                <a:sym typeface="Roboto Mono SemiBold"/>
              </a:rPr>
              <a:t> == 0, null, </a:t>
            </a:r>
            <a:r>
              <a:rPr i="1" lang="en" sz="1700">
                <a:solidFill>
                  <a:srgbClr val="38761D"/>
                </a:solidFill>
                <a:latin typeface="Roboto Mono SemiBold"/>
                <a:ea typeface="Roboto Mono SemiBold"/>
                <a:cs typeface="Roboto Mono SemiBold"/>
                <a:sym typeface="Roboto Mono SemiBold"/>
              </a:rPr>
              <a:t>value</a:t>
            </a:r>
            <a:r>
              <a:rPr lang="en" sz="1700">
                <a:solidFill>
                  <a:srgbClr val="38761D"/>
                </a:solidFill>
                <a:latin typeface="Roboto Mono SemiBold"/>
                <a:ea typeface="Roboto Mono SemiBold"/>
                <a:cs typeface="Roboto Mono SemiBold"/>
                <a:sym typeface="Roboto Mono SemiBold"/>
              </a:rPr>
              <a:t>)</a:t>
            </a:r>
            <a:endParaRPr sz="1700"/>
          </a:p>
          <a:p>
            <a:pPr indent="0" lvl="0" marL="0" rtl="0" algn="l">
              <a:spcBef>
                <a:spcPts val="0"/>
              </a:spcBef>
              <a:spcAft>
                <a:spcPts val="0"/>
              </a:spcAft>
              <a:buClr>
                <a:schemeClr val="dk1"/>
              </a:buClr>
              <a:buSzPts val="1100"/>
              <a:buFont typeface="Arial"/>
              <a:buNone/>
            </a:pPr>
            <a:r>
              <a:t/>
            </a:r>
            <a:endParaRPr sz="2200"/>
          </a:p>
          <a:p>
            <a:pPr indent="0" lvl="0" marL="0" rtl="0" algn="l">
              <a:spcBef>
                <a:spcPts val="0"/>
              </a:spcBef>
              <a:spcAft>
                <a:spcPts val="0"/>
              </a:spcAft>
              <a:buNone/>
            </a:pPr>
            <a:r>
              <a:t/>
            </a:r>
            <a:endParaRPr sz="2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notable indicator syntax (2 of 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00" name="Google Shape;200;p33"/>
          <p:cNvSpPr txBox="1"/>
          <p:nvPr>
            <p:ph idx="1" type="body"/>
          </p:nvPr>
        </p:nvSpPr>
        <p:spPr>
          <a:xfrm>
            <a:off x="406400" y="1224350"/>
            <a:ext cx="8624400" cy="3631500"/>
          </a:xfrm>
          <a:prstGeom prst="rect">
            <a:avLst/>
          </a:prstGeom>
        </p:spPr>
        <p:txBody>
          <a:bodyPr anchorCtr="0" anchor="t" bIns="91425" lIns="91425" spcFirstLastPara="1" rIns="91425" wrap="square" tIns="91425">
            <a:noAutofit/>
          </a:bodyPr>
          <a:lstStyle/>
          <a:p>
            <a:pPr indent="0" lvl="0" marL="0" rtl="0" algn="l">
              <a:lnSpc>
                <a:spcPct val="16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greatest()				</a:t>
            </a:r>
            <a:r>
              <a:rPr lang="en" sz="1700"/>
              <a:t>Greatest of a variable number of values</a:t>
            </a:r>
            <a:endParaRPr sz="1700">
              <a:solidFill>
                <a:srgbClr val="38761D"/>
              </a:solidFill>
              <a:latin typeface="Roboto Mono SemiBold"/>
              <a:ea typeface="Roboto Mono SemiBold"/>
              <a:cs typeface="Roboto Mono SemiBold"/>
              <a:sym typeface="Roboto Mono SemiBold"/>
            </a:endParaRPr>
          </a:p>
          <a:p>
            <a:pPr indent="0" lvl="0" marL="0" rtl="0" algn="l">
              <a:lnSpc>
                <a:spcPct val="16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least()					</a:t>
            </a:r>
            <a:r>
              <a:rPr lang="en" sz="1700"/>
              <a:t>Least of a variable number of values</a:t>
            </a:r>
            <a:endParaRPr sz="1700"/>
          </a:p>
          <a:p>
            <a:pPr indent="0" lvl="0" marL="0" rtl="0" algn="l">
              <a:lnSpc>
                <a:spcPct val="16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.minDate()				</a:t>
            </a:r>
            <a:r>
              <a:rPr lang="en" sz="1700"/>
              <a:t>Return data on or after a start date</a:t>
            </a:r>
            <a:endParaRPr sz="1700"/>
          </a:p>
          <a:p>
            <a:pPr indent="0" lvl="0" marL="0" rtl="0" algn="l">
              <a:lnSpc>
                <a:spcPct val="16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.maxDate()				</a:t>
            </a:r>
            <a:r>
              <a:rPr lang="en" sz="1700"/>
              <a:t>Return data on or before an end date</a:t>
            </a:r>
            <a:endParaRPr sz="2200"/>
          </a:p>
          <a:p>
            <a:pPr indent="0" lvl="0" marL="0" rtl="0" algn="l">
              <a:lnSpc>
                <a:spcPct val="16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.yearToDate()			</a:t>
            </a:r>
            <a:r>
              <a:rPr lang="en" sz="1700"/>
              <a:t>Sums data from start of calendar year</a:t>
            </a:r>
            <a:endParaRPr sz="1700"/>
          </a:p>
          <a:p>
            <a:pPr indent="0" lvl="0" marL="0" rtl="0" algn="l">
              <a:lnSpc>
                <a:spcPct val="16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[periodInYear]			</a:t>
            </a:r>
            <a:r>
              <a:rPr lang="en" sz="1700"/>
              <a:t>Index of the reporting period in the calendar year</a:t>
            </a:r>
            <a:endParaRPr sz="2200"/>
          </a:p>
          <a:p>
            <a:pPr indent="0" lvl="0" marL="0" rtl="0" algn="l">
              <a:lnSpc>
                <a:spcPct val="16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[yearlyPeriodCount]	</a:t>
            </a:r>
            <a:r>
              <a:rPr lang="en" sz="1700"/>
              <a:t>Number reporting periods in the calendar year</a:t>
            </a:r>
            <a:endParaRPr sz="2200"/>
          </a:p>
          <a:p>
            <a:pPr indent="0" lvl="0" marL="0" rtl="0" algn="l">
              <a:lnSpc>
                <a:spcPct val="16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[days]					</a:t>
            </a:r>
            <a:r>
              <a:rPr lang="en" sz="1700"/>
              <a:t>Number of days in the reporting period</a:t>
            </a: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type="ctrTitle"/>
          </p:nvPr>
        </p:nvSpPr>
        <p:spPr>
          <a:xfrm>
            <a:off x="1504565" y="1177714"/>
            <a:ext cx="6219300" cy="177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Advanced Indicator Calculations</a:t>
            </a:r>
            <a:endParaRPr/>
          </a:p>
        </p:txBody>
      </p:sp>
      <p:sp>
        <p:nvSpPr>
          <p:cNvPr id="206" name="Google Shape;206;p34"/>
          <p:cNvSpPr txBox="1"/>
          <p:nvPr/>
        </p:nvSpPr>
        <p:spPr>
          <a:xfrm>
            <a:off x="1428375" y="3453825"/>
            <a:ext cx="1945500" cy="976800"/>
          </a:xfrm>
          <a:prstGeom prst="rect">
            <a:avLst/>
          </a:prstGeom>
          <a:noFill/>
          <a:ln>
            <a:noFill/>
          </a:ln>
        </p:spPr>
        <p:txBody>
          <a:bodyPr anchorCtr="0" anchor="t" bIns="0" lIns="0" spcFirstLastPara="1" rIns="0" wrap="square" tIns="0">
            <a:noAutofit/>
          </a:bodyPr>
          <a:lstStyle/>
          <a:p>
            <a:pPr indent="0" lvl="0" marL="114300" rtl="0" algn="l">
              <a:lnSpc>
                <a:spcPct val="115000"/>
              </a:lnSpc>
              <a:spcBef>
                <a:spcPts val="0"/>
              </a:spcBef>
              <a:spcAft>
                <a:spcPts val="0"/>
              </a:spcAft>
              <a:buNone/>
            </a:pPr>
            <a:r>
              <a:rPr lang="en" sz="1700">
                <a:solidFill>
                  <a:srgbClr val="011529"/>
                </a:solidFill>
                <a:latin typeface="Rubik"/>
                <a:ea typeface="Rubik"/>
                <a:cs typeface="Rubik"/>
                <a:sym typeface="Rubik"/>
              </a:rPr>
              <a:t>Jim Grace	       </a:t>
            </a:r>
            <a:endParaRPr sz="1700">
              <a:solidFill>
                <a:srgbClr val="011529"/>
              </a:solidFill>
              <a:latin typeface="Rubik"/>
              <a:ea typeface="Rubik"/>
              <a:cs typeface="Rubik"/>
              <a:sym typeface="Rubik"/>
            </a:endParaRPr>
          </a:p>
          <a:p>
            <a:pPr indent="0" lvl="0" marL="114300" rtl="0" algn="l">
              <a:lnSpc>
                <a:spcPct val="115000"/>
              </a:lnSpc>
              <a:spcBef>
                <a:spcPts val="0"/>
              </a:spcBef>
              <a:spcAft>
                <a:spcPts val="0"/>
              </a:spcAft>
              <a:buNone/>
            </a:pPr>
            <a:r>
              <a:rPr lang="en" sz="1700">
                <a:solidFill>
                  <a:srgbClr val="011529"/>
                </a:solidFill>
                <a:latin typeface="Rubik"/>
                <a:ea typeface="Rubik"/>
                <a:cs typeface="Rubik"/>
                <a:sym typeface="Rubik"/>
              </a:rPr>
              <a:t>Scott Russpatrick</a:t>
            </a:r>
            <a:endParaRPr sz="1700">
              <a:solidFill>
                <a:srgbClr val="011529"/>
              </a:solidFill>
              <a:latin typeface="Rubik"/>
              <a:ea typeface="Rubik"/>
              <a:cs typeface="Rubik"/>
              <a:sym typeface="Rubik"/>
            </a:endParaRPr>
          </a:p>
        </p:txBody>
      </p:sp>
      <p:sp>
        <p:nvSpPr>
          <p:cNvPr id="207" name="Google Shape;207;p34"/>
          <p:cNvSpPr txBox="1"/>
          <p:nvPr/>
        </p:nvSpPr>
        <p:spPr>
          <a:xfrm>
            <a:off x="5231471" y="3453825"/>
            <a:ext cx="3393300" cy="9768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0"/>
              </a:spcAft>
              <a:buNone/>
            </a:pPr>
            <a:r>
              <a:rPr lang="en" sz="1700">
                <a:solidFill>
                  <a:srgbClr val="011529"/>
                </a:solidFill>
                <a:latin typeface="Rubik"/>
                <a:ea typeface="Rubik"/>
                <a:cs typeface="Rubik"/>
                <a:sym typeface="Rubik"/>
              </a:rPr>
              <a:t>DHIS2 Annual Conference</a:t>
            </a:r>
            <a:endParaRPr sz="1700">
              <a:solidFill>
                <a:srgbClr val="011529"/>
              </a:solidFill>
              <a:latin typeface="Rubik"/>
              <a:ea typeface="Rubik"/>
              <a:cs typeface="Rubik"/>
              <a:sym typeface="Rubik"/>
            </a:endParaRPr>
          </a:p>
          <a:p>
            <a:pPr indent="0" lvl="0" marL="0" rtl="0" algn="r">
              <a:lnSpc>
                <a:spcPct val="115000"/>
              </a:lnSpc>
              <a:spcBef>
                <a:spcPts val="0"/>
              </a:spcBef>
              <a:spcAft>
                <a:spcPts val="0"/>
              </a:spcAft>
              <a:buNone/>
            </a:pPr>
            <a:r>
              <a:rPr lang="en" sz="1700">
                <a:solidFill>
                  <a:srgbClr val="011529"/>
                </a:solidFill>
                <a:latin typeface="Rubik"/>
                <a:ea typeface="Rubik"/>
                <a:cs typeface="Rubik"/>
                <a:sym typeface="Rubik"/>
              </a:rPr>
              <a:t>June 12, 2024</a:t>
            </a:r>
            <a:endParaRPr sz="1700">
              <a:solidFill>
                <a:srgbClr val="011529"/>
              </a:solidFill>
              <a:latin typeface="Rubik"/>
              <a:ea typeface="Rubik"/>
              <a:cs typeface="Rubik"/>
              <a:sym typeface="Rubik"/>
            </a:endParaRPr>
          </a:p>
        </p:txBody>
      </p:sp>
      <p:sp>
        <p:nvSpPr>
          <p:cNvPr id="208" name="Google Shape;208;p34"/>
          <p:cNvSpPr txBox="1"/>
          <p:nvPr/>
        </p:nvSpPr>
        <p:spPr>
          <a:xfrm>
            <a:off x="3379125" y="3453825"/>
            <a:ext cx="1945500" cy="976800"/>
          </a:xfrm>
          <a:prstGeom prst="rect">
            <a:avLst/>
          </a:prstGeom>
          <a:noFill/>
          <a:ln>
            <a:noFill/>
          </a:ln>
        </p:spPr>
        <p:txBody>
          <a:bodyPr anchorCtr="0" anchor="t" bIns="0" lIns="0" spcFirstLastPara="1" rIns="0" wrap="square" tIns="0">
            <a:noAutofit/>
          </a:bodyPr>
          <a:lstStyle/>
          <a:p>
            <a:pPr indent="0" lvl="0" marL="114300" rtl="0" algn="r">
              <a:lnSpc>
                <a:spcPct val="115000"/>
              </a:lnSpc>
              <a:spcBef>
                <a:spcPts val="0"/>
              </a:spcBef>
              <a:spcAft>
                <a:spcPts val="0"/>
              </a:spcAft>
              <a:buNone/>
            </a:pPr>
            <a:r>
              <a:rPr lang="en" sz="1700">
                <a:solidFill>
                  <a:srgbClr val="0080D4"/>
                </a:solidFill>
                <a:latin typeface="Rubik"/>
                <a:ea typeface="Rubik"/>
                <a:cs typeface="Rubik"/>
                <a:sym typeface="Rubik"/>
              </a:rPr>
              <a:t>jim@dhis2.org</a:t>
            </a:r>
            <a:endParaRPr sz="1700">
              <a:solidFill>
                <a:srgbClr val="0080D4"/>
              </a:solidFill>
              <a:latin typeface="Rubik"/>
              <a:ea typeface="Rubik"/>
              <a:cs typeface="Rubik"/>
              <a:sym typeface="Rubik"/>
            </a:endParaRPr>
          </a:p>
          <a:p>
            <a:pPr indent="0" lvl="0" marL="114300" rtl="0" algn="r">
              <a:lnSpc>
                <a:spcPct val="115000"/>
              </a:lnSpc>
              <a:spcBef>
                <a:spcPts val="0"/>
              </a:spcBef>
              <a:spcAft>
                <a:spcPts val="0"/>
              </a:spcAft>
              <a:buNone/>
            </a:pPr>
            <a:r>
              <a:rPr lang="en" sz="1700">
                <a:solidFill>
                  <a:srgbClr val="0080D4"/>
                </a:solidFill>
                <a:latin typeface="Rubik"/>
                <a:ea typeface="Rubik"/>
                <a:cs typeface="Rubik"/>
                <a:sym typeface="Rubik"/>
              </a:rPr>
              <a:t>scott@dhis2.org</a:t>
            </a:r>
            <a:endParaRPr sz="1700">
              <a:solidFill>
                <a:srgbClr val="0080D4"/>
              </a:solidFill>
              <a:latin typeface="Rubik"/>
              <a:ea typeface="Rubik"/>
              <a:cs typeface="Rubik"/>
              <a:sym typeface="Rubik"/>
            </a:endParaRPr>
          </a:p>
        </p:txBody>
      </p:sp>
      <p:sp>
        <p:nvSpPr>
          <p:cNvPr id="209" name="Google Shape;209;p34"/>
          <p:cNvSpPr txBox="1"/>
          <p:nvPr/>
        </p:nvSpPr>
        <p:spPr>
          <a:xfrm>
            <a:off x="2951550" y="2226525"/>
            <a:ext cx="3393300" cy="604200"/>
          </a:xfrm>
          <a:prstGeom prst="rect">
            <a:avLst/>
          </a:prstGeom>
          <a:noFill/>
          <a:ln>
            <a:noFill/>
          </a:ln>
        </p:spPr>
        <p:txBody>
          <a:bodyPr anchorCtr="0" anchor="t" bIns="0" lIns="0" spcFirstLastPara="1" rIns="0" wrap="square" tIns="0">
            <a:noAutofit/>
          </a:bodyPr>
          <a:lstStyle/>
          <a:p>
            <a:pPr indent="0" lvl="0" marL="114300" marR="0" rtl="0" algn="ctr">
              <a:lnSpc>
                <a:spcPct val="115000"/>
              </a:lnSpc>
              <a:spcBef>
                <a:spcPts val="0"/>
              </a:spcBef>
              <a:spcAft>
                <a:spcPts val="0"/>
              </a:spcAft>
              <a:buNone/>
            </a:pPr>
            <a:r>
              <a:rPr i="1" lang="en" sz="2900">
                <a:solidFill>
                  <a:srgbClr val="011529"/>
                </a:solidFill>
                <a:latin typeface="Rubik"/>
                <a:ea typeface="Rubik"/>
                <a:cs typeface="Rubik"/>
                <a:sym typeface="Rubik"/>
              </a:rPr>
              <a:t>The end!</a:t>
            </a:r>
            <a:endParaRPr i="1" sz="2900">
              <a:solidFill>
                <a:srgbClr val="011529"/>
              </a:solidFill>
              <a:latin typeface="Rubik"/>
              <a:ea typeface="Rubik"/>
              <a:cs typeface="Rubik"/>
              <a:sym typeface="Rubik"/>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5"/>
          <p:cNvSpPr txBox="1"/>
          <p:nvPr>
            <p:ph type="ctrTitle"/>
          </p:nvPr>
        </p:nvSpPr>
        <p:spPr>
          <a:xfrm>
            <a:off x="1504565" y="1177714"/>
            <a:ext cx="6219300" cy="177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Advanced Indicator Calculations</a:t>
            </a:r>
            <a:endParaRPr/>
          </a:p>
        </p:txBody>
      </p:sp>
      <p:sp>
        <p:nvSpPr>
          <p:cNvPr id="215" name="Google Shape;215;p35"/>
          <p:cNvSpPr txBox="1"/>
          <p:nvPr/>
        </p:nvSpPr>
        <p:spPr>
          <a:xfrm>
            <a:off x="1428375" y="3453825"/>
            <a:ext cx="1945500" cy="976800"/>
          </a:xfrm>
          <a:prstGeom prst="rect">
            <a:avLst/>
          </a:prstGeom>
          <a:noFill/>
          <a:ln>
            <a:noFill/>
          </a:ln>
        </p:spPr>
        <p:txBody>
          <a:bodyPr anchorCtr="0" anchor="t" bIns="0" lIns="0" spcFirstLastPara="1" rIns="0" wrap="square" tIns="0">
            <a:noAutofit/>
          </a:bodyPr>
          <a:lstStyle/>
          <a:p>
            <a:pPr indent="0" lvl="0" marL="114300" rtl="0" algn="l">
              <a:lnSpc>
                <a:spcPct val="115000"/>
              </a:lnSpc>
              <a:spcBef>
                <a:spcPts val="0"/>
              </a:spcBef>
              <a:spcAft>
                <a:spcPts val="0"/>
              </a:spcAft>
              <a:buNone/>
            </a:pPr>
            <a:r>
              <a:rPr lang="en" sz="1700">
                <a:solidFill>
                  <a:srgbClr val="011529"/>
                </a:solidFill>
                <a:latin typeface="Rubik"/>
                <a:ea typeface="Rubik"/>
                <a:cs typeface="Rubik"/>
                <a:sym typeface="Rubik"/>
              </a:rPr>
              <a:t>Jim Grace	       </a:t>
            </a:r>
            <a:endParaRPr sz="1700">
              <a:solidFill>
                <a:srgbClr val="011529"/>
              </a:solidFill>
              <a:latin typeface="Rubik"/>
              <a:ea typeface="Rubik"/>
              <a:cs typeface="Rubik"/>
              <a:sym typeface="Rubik"/>
            </a:endParaRPr>
          </a:p>
          <a:p>
            <a:pPr indent="0" lvl="0" marL="114300" rtl="0" algn="l">
              <a:lnSpc>
                <a:spcPct val="115000"/>
              </a:lnSpc>
              <a:spcBef>
                <a:spcPts val="0"/>
              </a:spcBef>
              <a:spcAft>
                <a:spcPts val="0"/>
              </a:spcAft>
              <a:buNone/>
            </a:pPr>
            <a:r>
              <a:rPr lang="en" sz="1700">
                <a:solidFill>
                  <a:srgbClr val="011529"/>
                </a:solidFill>
                <a:latin typeface="Rubik"/>
                <a:ea typeface="Rubik"/>
                <a:cs typeface="Rubik"/>
                <a:sym typeface="Rubik"/>
              </a:rPr>
              <a:t>Scott Russpatrick</a:t>
            </a:r>
            <a:endParaRPr sz="1700">
              <a:solidFill>
                <a:srgbClr val="011529"/>
              </a:solidFill>
              <a:latin typeface="Rubik"/>
              <a:ea typeface="Rubik"/>
              <a:cs typeface="Rubik"/>
              <a:sym typeface="Rubik"/>
            </a:endParaRPr>
          </a:p>
        </p:txBody>
      </p:sp>
      <p:sp>
        <p:nvSpPr>
          <p:cNvPr id="216" name="Google Shape;216;p35"/>
          <p:cNvSpPr txBox="1"/>
          <p:nvPr/>
        </p:nvSpPr>
        <p:spPr>
          <a:xfrm>
            <a:off x="5231471" y="3453825"/>
            <a:ext cx="3393300" cy="9768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0"/>
              </a:spcAft>
              <a:buNone/>
            </a:pPr>
            <a:r>
              <a:rPr lang="en" sz="1700">
                <a:solidFill>
                  <a:srgbClr val="011529"/>
                </a:solidFill>
                <a:latin typeface="Rubik"/>
                <a:ea typeface="Rubik"/>
                <a:cs typeface="Rubik"/>
                <a:sym typeface="Rubik"/>
              </a:rPr>
              <a:t>DHIS2 Annual Conference</a:t>
            </a:r>
            <a:endParaRPr sz="1700">
              <a:solidFill>
                <a:srgbClr val="011529"/>
              </a:solidFill>
              <a:latin typeface="Rubik"/>
              <a:ea typeface="Rubik"/>
              <a:cs typeface="Rubik"/>
              <a:sym typeface="Rubik"/>
            </a:endParaRPr>
          </a:p>
          <a:p>
            <a:pPr indent="0" lvl="0" marL="0" rtl="0" algn="r">
              <a:lnSpc>
                <a:spcPct val="115000"/>
              </a:lnSpc>
              <a:spcBef>
                <a:spcPts val="0"/>
              </a:spcBef>
              <a:spcAft>
                <a:spcPts val="0"/>
              </a:spcAft>
              <a:buNone/>
            </a:pPr>
            <a:r>
              <a:rPr lang="en" sz="1700">
                <a:solidFill>
                  <a:srgbClr val="011529"/>
                </a:solidFill>
                <a:latin typeface="Rubik"/>
                <a:ea typeface="Rubik"/>
                <a:cs typeface="Rubik"/>
                <a:sym typeface="Rubik"/>
              </a:rPr>
              <a:t>June 12, 2024</a:t>
            </a:r>
            <a:endParaRPr sz="1700">
              <a:solidFill>
                <a:srgbClr val="011529"/>
              </a:solidFill>
              <a:latin typeface="Rubik"/>
              <a:ea typeface="Rubik"/>
              <a:cs typeface="Rubik"/>
              <a:sym typeface="Rubik"/>
            </a:endParaRPr>
          </a:p>
        </p:txBody>
      </p:sp>
      <p:sp>
        <p:nvSpPr>
          <p:cNvPr id="217" name="Google Shape;217;p35"/>
          <p:cNvSpPr txBox="1"/>
          <p:nvPr/>
        </p:nvSpPr>
        <p:spPr>
          <a:xfrm>
            <a:off x="3379125" y="3453825"/>
            <a:ext cx="1945500" cy="976800"/>
          </a:xfrm>
          <a:prstGeom prst="rect">
            <a:avLst/>
          </a:prstGeom>
          <a:noFill/>
          <a:ln>
            <a:noFill/>
          </a:ln>
        </p:spPr>
        <p:txBody>
          <a:bodyPr anchorCtr="0" anchor="t" bIns="0" lIns="0" spcFirstLastPara="1" rIns="0" wrap="square" tIns="0">
            <a:noAutofit/>
          </a:bodyPr>
          <a:lstStyle/>
          <a:p>
            <a:pPr indent="0" lvl="0" marL="114300" rtl="0" algn="r">
              <a:lnSpc>
                <a:spcPct val="115000"/>
              </a:lnSpc>
              <a:spcBef>
                <a:spcPts val="0"/>
              </a:spcBef>
              <a:spcAft>
                <a:spcPts val="0"/>
              </a:spcAft>
              <a:buNone/>
            </a:pPr>
            <a:r>
              <a:rPr lang="en" sz="1700">
                <a:solidFill>
                  <a:srgbClr val="0080D4"/>
                </a:solidFill>
                <a:latin typeface="Rubik"/>
                <a:ea typeface="Rubik"/>
                <a:cs typeface="Rubik"/>
                <a:sym typeface="Rubik"/>
              </a:rPr>
              <a:t>jim@dhis2.org</a:t>
            </a:r>
            <a:endParaRPr sz="1700">
              <a:solidFill>
                <a:srgbClr val="0080D4"/>
              </a:solidFill>
              <a:latin typeface="Rubik"/>
              <a:ea typeface="Rubik"/>
              <a:cs typeface="Rubik"/>
              <a:sym typeface="Rubik"/>
            </a:endParaRPr>
          </a:p>
          <a:p>
            <a:pPr indent="0" lvl="0" marL="114300" rtl="0" algn="r">
              <a:lnSpc>
                <a:spcPct val="115000"/>
              </a:lnSpc>
              <a:spcBef>
                <a:spcPts val="0"/>
              </a:spcBef>
              <a:spcAft>
                <a:spcPts val="0"/>
              </a:spcAft>
              <a:buNone/>
            </a:pPr>
            <a:r>
              <a:rPr lang="en" sz="1700">
                <a:solidFill>
                  <a:srgbClr val="0080D4"/>
                </a:solidFill>
                <a:latin typeface="Rubik"/>
                <a:ea typeface="Rubik"/>
                <a:cs typeface="Rubik"/>
                <a:sym typeface="Rubik"/>
              </a:rPr>
              <a:t>scott@dhis2.org</a:t>
            </a:r>
            <a:endParaRPr sz="1700">
              <a:solidFill>
                <a:srgbClr val="0080D4"/>
              </a:solidFill>
              <a:latin typeface="Rubik"/>
              <a:ea typeface="Rubik"/>
              <a:cs typeface="Rubik"/>
              <a:sym typeface="Rubik"/>
            </a:endParaRPr>
          </a:p>
        </p:txBody>
      </p:sp>
      <p:sp>
        <p:nvSpPr>
          <p:cNvPr id="218" name="Google Shape;218;p35"/>
          <p:cNvSpPr txBox="1"/>
          <p:nvPr/>
        </p:nvSpPr>
        <p:spPr>
          <a:xfrm>
            <a:off x="2951550" y="2226525"/>
            <a:ext cx="3393300" cy="604200"/>
          </a:xfrm>
          <a:prstGeom prst="rect">
            <a:avLst/>
          </a:prstGeom>
          <a:noFill/>
          <a:ln>
            <a:noFill/>
          </a:ln>
        </p:spPr>
        <p:txBody>
          <a:bodyPr anchorCtr="0" anchor="t" bIns="0" lIns="0" spcFirstLastPara="1" rIns="0" wrap="square" tIns="0">
            <a:noAutofit/>
          </a:bodyPr>
          <a:lstStyle/>
          <a:p>
            <a:pPr indent="0" lvl="0" marL="114300" marR="0" rtl="0" algn="ctr">
              <a:lnSpc>
                <a:spcPct val="115000"/>
              </a:lnSpc>
              <a:spcBef>
                <a:spcPts val="0"/>
              </a:spcBef>
              <a:spcAft>
                <a:spcPts val="0"/>
              </a:spcAft>
              <a:buNone/>
            </a:pPr>
            <a:r>
              <a:rPr i="1" lang="en" sz="2900">
                <a:solidFill>
                  <a:srgbClr val="011529"/>
                </a:solidFill>
                <a:latin typeface="Rubik"/>
                <a:ea typeface="Rubik"/>
                <a:cs typeface="Rubik"/>
                <a:sym typeface="Rubik"/>
              </a:rPr>
              <a:t>Extra content</a:t>
            </a:r>
            <a:endParaRPr i="1" sz="2900">
              <a:solidFill>
                <a:srgbClr val="011529"/>
              </a:solidFill>
              <a:latin typeface="Rubik"/>
              <a:ea typeface="Rubik"/>
              <a:cs typeface="Rubik"/>
              <a:sym typeface="Rubik"/>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224" name="Google Shape;224;p36"/>
          <p:cNvSpPr txBox="1"/>
          <p:nvPr>
            <p:ph type="title"/>
          </p:nvPr>
        </p:nvSpPr>
        <p:spPr>
          <a:xfrm>
            <a:off x="995650" y="445025"/>
            <a:ext cx="7836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Annualized indicators are not ideal</a:t>
            </a:r>
            <a:endParaRPr/>
          </a:p>
        </p:txBody>
      </p:sp>
      <p:sp>
        <p:nvSpPr>
          <p:cNvPr id="225" name="Google Shape;225;p36"/>
          <p:cNvSpPr txBox="1"/>
          <p:nvPr>
            <p:ph idx="1" type="body"/>
          </p:nvPr>
        </p:nvSpPr>
        <p:spPr>
          <a:xfrm>
            <a:off x="995650" y="1152475"/>
            <a:ext cx="3042900" cy="75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Numbertor: BCG doses given &lt;1 yr </a:t>
            </a:r>
            <a:endParaRPr/>
          </a:p>
          <a:p>
            <a:pPr indent="0" lvl="0" marL="0" rtl="0" algn="l">
              <a:spcBef>
                <a:spcPts val="0"/>
              </a:spcBef>
              <a:spcAft>
                <a:spcPts val="0"/>
              </a:spcAft>
              <a:buClr>
                <a:schemeClr val="dk1"/>
              </a:buClr>
              <a:buSzPts val="1100"/>
              <a:buFont typeface="Arial"/>
              <a:buNone/>
            </a:pPr>
            <a:r>
              <a:rPr lang="en"/>
              <a:t>Usually captured monthly </a:t>
            </a:r>
            <a:endParaRPr/>
          </a:p>
          <a:p>
            <a:pPr indent="0" lvl="0" marL="0" rtl="0" algn="l">
              <a:spcBef>
                <a:spcPts val="0"/>
              </a:spcBef>
              <a:spcAft>
                <a:spcPts val="0"/>
              </a:spcAft>
              <a:buNone/>
            </a:pPr>
            <a:r>
              <a:t/>
            </a:r>
            <a:endParaRPr/>
          </a:p>
        </p:txBody>
      </p:sp>
      <p:sp>
        <p:nvSpPr>
          <p:cNvPr id="226" name="Google Shape;226;p36"/>
          <p:cNvSpPr txBox="1"/>
          <p:nvPr>
            <p:ph idx="1" type="body"/>
          </p:nvPr>
        </p:nvSpPr>
        <p:spPr>
          <a:xfrm>
            <a:off x="995650" y="2349650"/>
            <a:ext cx="4630200" cy="75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Denominator: Live births or Target </a:t>
            </a:r>
            <a:endParaRPr/>
          </a:p>
          <a:p>
            <a:pPr indent="0" lvl="0" marL="0" rtl="0" algn="l">
              <a:spcBef>
                <a:spcPts val="0"/>
              </a:spcBef>
              <a:spcAft>
                <a:spcPts val="0"/>
              </a:spcAft>
              <a:buNone/>
            </a:pPr>
            <a:r>
              <a:rPr lang="en"/>
              <a:t>Usually captured annually; alternative denominators may include 'live births' reported routinely from health facilities and/or community sources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27" name="Google Shape;227;p36"/>
          <p:cNvSpPr txBox="1"/>
          <p:nvPr>
            <p:ph idx="1" type="body"/>
          </p:nvPr>
        </p:nvSpPr>
        <p:spPr>
          <a:xfrm>
            <a:off x="4101650" y="1152475"/>
            <a:ext cx="37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X</a:t>
            </a:r>
            <a:endParaRPr sz="2700"/>
          </a:p>
        </p:txBody>
      </p:sp>
      <p:sp>
        <p:nvSpPr>
          <p:cNvPr id="228" name="Google Shape;228;p36"/>
          <p:cNvSpPr txBox="1"/>
          <p:nvPr/>
        </p:nvSpPr>
        <p:spPr>
          <a:xfrm>
            <a:off x="4661225" y="1169425"/>
            <a:ext cx="2210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Rubik"/>
                <a:ea typeface="Rubik"/>
                <a:cs typeface="Rubik"/>
                <a:sym typeface="Rubik"/>
              </a:rPr>
              <a:t>12 </a:t>
            </a:r>
            <a:r>
              <a:rPr lang="en" sz="1200">
                <a:latin typeface="Rubik"/>
                <a:ea typeface="Rubik"/>
                <a:cs typeface="Rubik"/>
                <a:sym typeface="Rubik"/>
              </a:rPr>
              <a:t>(annualized tick box)</a:t>
            </a:r>
            <a:endParaRPr sz="1200">
              <a:latin typeface="Rubik"/>
              <a:ea typeface="Rubik"/>
              <a:cs typeface="Rubik"/>
              <a:sym typeface="Rubik"/>
            </a:endParaRPr>
          </a:p>
        </p:txBody>
      </p:sp>
      <p:cxnSp>
        <p:nvCxnSpPr>
          <p:cNvPr id="229" name="Google Shape;229;p36"/>
          <p:cNvCxnSpPr/>
          <p:nvPr/>
        </p:nvCxnSpPr>
        <p:spPr>
          <a:xfrm>
            <a:off x="1084950" y="2089550"/>
            <a:ext cx="5655900" cy="20100"/>
          </a:xfrm>
          <a:prstGeom prst="straightConnector1">
            <a:avLst/>
          </a:prstGeom>
          <a:noFill/>
          <a:ln cap="flat" cmpd="sng" w="38100">
            <a:solidFill>
              <a:schemeClr val="dk2"/>
            </a:solidFill>
            <a:prstDash val="solid"/>
            <a:round/>
            <a:headEnd len="med" w="med" type="none"/>
            <a:tailEnd len="med" w="med" type="none"/>
          </a:ln>
        </p:spPr>
      </p:cxnSp>
      <p:sp>
        <p:nvSpPr>
          <p:cNvPr id="230" name="Google Shape;230;p36"/>
          <p:cNvSpPr txBox="1"/>
          <p:nvPr/>
        </p:nvSpPr>
        <p:spPr>
          <a:xfrm>
            <a:off x="1095000" y="4098725"/>
            <a:ext cx="6509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Rubik"/>
                <a:ea typeface="Rubik"/>
                <a:cs typeface="Rubik"/>
                <a:sym typeface="Rubik"/>
              </a:rPr>
              <a:t>Assumes values each month are similar. </a:t>
            </a:r>
            <a:endParaRPr sz="1700">
              <a:latin typeface="Rubik"/>
              <a:ea typeface="Rubik"/>
              <a:cs typeface="Rubik"/>
              <a:sym typeface="Rubik"/>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236" name="Google Shape;236;p37"/>
          <p:cNvSpPr txBox="1"/>
          <p:nvPr>
            <p:ph type="title"/>
          </p:nvPr>
        </p:nvSpPr>
        <p:spPr>
          <a:xfrm>
            <a:off x="995650" y="445025"/>
            <a:ext cx="7836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Period offset coverage indicators </a:t>
            </a:r>
            <a:endParaRPr/>
          </a:p>
        </p:txBody>
      </p:sp>
      <p:sp>
        <p:nvSpPr>
          <p:cNvPr id="237" name="Google Shape;237;p37"/>
          <p:cNvSpPr txBox="1"/>
          <p:nvPr>
            <p:ph idx="1" type="body"/>
          </p:nvPr>
        </p:nvSpPr>
        <p:spPr>
          <a:xfrm>
            <a:off x="995650" y="1152475"/>
            <a:ext cx="7836600" cy="10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Month BCG coverage: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June + May + April + March + February + January + December + November + October + September + August + July</a:t>
            </a:r>
            <a:br>
              <a:rPr lang="en"/>
            </a:br>
            <a:endParaRPr/>
          </a:p>
        </p:txBody>
      </p:sp>
      <p:sp>
        <p:nvSpPr>
          <p:cNvPr id="238" name="Google Shape;238;p37"/>
          <p:cNvSpPr txBox="1"/>
          <p:nvPr>
            <p:ph idx="1" type="body"/>
          </p:nvPr>
        </p:nvSpPr>
        <p:spPr>
          <a:xfrm>
            <a:off x="995650" y="2349650"/>
            <a:ext cx="4630200" cy="75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Annual Live births  or Annual Targets </a:t>
            </a:r>
            <a:endParaRPr/>
          </a:p>
          <a:p>
            <a:pPr indent="0" lvl="0" marL="0" rtl="0" algn="l">
              <a:spcBef>
                <a:spcPts val="0"/>
              </a:spcBef>
              <a:spcAft>
                <a:spcPts val="0"/>
              </a:spcAft>
              <a:buNone/>
            </a:pPr>
            <a:r>
              <a:t/>
            </a:r>
            <a:endParaRPr/>
          </a:p>
        </p:txBody>
      </p:sp>
      <p:cxnSp>
        <p:nvCxnSpPr>
          <p:cNvPr id="239" name="Google Shape;239;p37"/>
          <p:cNvCxnSpPr/>
          <p:nvPr/>
        </p:nvCxnSpPr>
        <p:spPr>
          <a:xfrm>
            <a:off x="995650" y="2334813"/>
            <a:ext cx="5655900" cy="20100"/>
          </a:xfrm>
          <a:prstGeom prst="straightConnector1">
            <a:avLst/>
          </a:prstGeom>
          <a:noFill/>
          <a:ln cap="flat" cmpd="sng" w="38100">
            <a:solidFill>
              <a:schemeClr val="dk2"/>
            </a:solidFill>
            <a:prstDash val="solid"/>
            <a:round/>
            <a:headEnd len="med" w="med" type="none"/>
            <a:tailEnd len="med" w="med" type="none"/>
          </a:ln>
        </p:spPr>
      </p:cxnSp>
      <p:sp>
        <p:nvSpPr>
          <p:cNvPr id="240" name="Google Shape;240;p37"/>
          <p:cNvSpPr txBox="1"/>
          <p:nvPr/>
        </p:nvSpPr>
        <p:spPr>
          <a:xfrm>
            <a:off x="995650" y="3754538"/>
            <a:ext cx="6509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Rubik"/>
                <a:ea typeface="Rubik"/>
                <a:cs typeface="Rubik"/>
                <a:sym typeface="Rubik"/>
              </a:rPr>
              <a:t>More accurate. Uses actual values! </a:t>
            </a:r>
            <a:endParaRPr sz="1700">
              <a:latin typeface="Rubik"/>
              <a:ea typeface="Rubik"/>
              <a:cs typeface="Rubik"/>
              <a:sym typeface="Rubik"/>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246" name="Google Shape;246;p38"/>
          <p:cNvSpPr txBox="1"/>
          <p:nvPr>
            <p:ph type="title"/>
          </p:nvPr>
        </p:nvSpPr>
        <p:spPr>
          <a:xfrm>
            <a:off x="919450" y="445025"/>
            <a:ext cx="7836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.periodOffset()</a:t>
            </a:r>
            <a:endParaRPr/>
          </a:p>
        </p:txBody>
      </p:sp>
      <p:sp>
        <p:nvSpPr>
          <p:cNvPr id="247" name="Google Shape;247;p38"/>
          <p:cNvSpPr txBox="1"/>
          <p:nvPr>
            <p:ph idx="1" type="body"/>
          </p:nvPr>
        </p:nvSpPr>
        <p:spPr>
          <a:xfrm>
            <a:off x="913050" y="1262050"/>
            <a:ext cx="8230800" cy="364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Example 1: Find the change from last month to this month</a:t>
            </a:r>
            <a:endParaRPr sz="1700"/>
          </a:p>
          <a:p>
            <a:pPr indent="0" lvl="0" marL="0" rtl="0" algn="l">
              <a:spcBef>
                <a:spcPts val="0"/>
              </a:spcBef>
              <a:spcAft>
                <a:spcPts val="0"/>
              </a:spcAft>
              <a:buNone/>
            </a:pPr>
            <a:r>
              <a:t/>
            </a:r>
            <a:endParaRPr sz="1200"/>
          </a:p>
          <a:p>
            <a:pPr indent="457200" lvl="0" marL="0" rtl="0" algn="l">
              <a:spcBef>
                <a:spcPts val="0"/>
              </a:spcBef>
              <a:spcAft>
                <a:spcPts val="0"/>
              </a:spcAft>
              <a:buNone/>
            </a:pPr>
            <a:r>
              <a:rPr lang="en" sz="1700">
                <a:solidFill>
                  <a:srgbClr val="38761D"/>
                </a:solidFill>
                <a:latin typeface="Roboto Mono SemiBold"/>
                <a:ea typeface="Roboto Mono SemiBold"/>
                <a:cs typeface="Roboto Mono SemiBold"/>
                <a:sym typeface="Roboto Mono SemiBold"/>
              </a:rPr>
              <a:t>#{DiexouTeWi8} - #{DiexouTeWi8}.periodOffset(-1)</a:t>
            </a:r>
            <a:endParaRPr sz="1700">
              <a:solidFill>
                <a:srgbClr val="38761D"/>
              </a:solidFill>
              <a:latin typeface="Roboto Mono SemiBold"/>
              <a:ea typeface="Roboto Mono SemiBold"/>
              <a:cs typeface="Roboto Mono SemiBold"/>
              <a:sym typeface="Roboto Mono SemiBold"/>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700"/>
              <a:t>Example 2: Rolling annual count – current month plus last 11 months</a:t>
            </a:r>
            <a:endParaRPr sz="1700"/>
          </a:p>
          <a:p>
            <a:pPr indent="0" lvl="0" marL="0" rtl="0" algn="l">
              <a:spcBef>
                <a:spcPts val="0"/>
              </a:spcBef>
              <a:spcAft>
                <a:spcPts val="0"/>
              </a:spcAft>
              <a:buNone/>
            </a:pPr>
            <a:r>
              <a:t/>
            </a:r>
            <a:endParaRPr sz="1200"/>
          </a:p>
          <a:p>
            <a:pPr indent="0" lvl="0" marL="0" rtl="0" algn="l">
              <a:spcBef>
                <a:spcPts val="0"/>
              </a:spcBef>
              <a:spcAft>
                <a:spcPts val="0"/>
              </a:spcAft>
              <a:buNone/>
            </a:pPr>
            <a:r>
              <a:rPr lang="en" sz="1550">
                <a:solidFill>
                  <a:srgbClr val="38761D"/>
                </a:solidFill>
                <a:latin typeface="Roboto Mono SemiBold"/>
                <a:ea typeface="Roboto Mono SemiBold"/>
                <a:cs typeface="Roboto Mono SemiBold"/>
                <a:sym typeface="Roboto Mono SemiBold"/>
              </a:rPr>
              <a:t>#{WSy7zOZx1Wl} + #{WSy7zOZx1Wl}.periodOffset(-1) + #{WSy7zOZx1Wl}.periodOffset(-2) + #{WSy7zOZx1Wl}.periodOffset(-3) + #{WSy7zOZx1Wl}.periodOffset(-4) + #{WSy7zOZx1Wl}.periodOffset(-5) + #{WSy7zOZx1Wl}.periodOffset(-6) + #{WSy7zOZx1Wl}.periodOffset(-7) + #{WSy7zOZx1Wl}.periodOffset(-8) + #{WSy7zOZx1Wl}.periodOffset(-9) + #{WSy7zOZx1Wl}.periodOffset(-10) + #{WSy7zOZx1Wl}.periodOffset(-11)</a:t>
            </a:r>
            <a:endParaRPr sz="1550">
              <a:solidFill>
                <a:srgbClr val="38761D"/>
              </a:solidFill>
              <a:latin typeface="Roboto Mono SemiBold"/>
              <a:ea typeface="Roboto Mono SemiBold"/>
              <a:cs typeface="Roboto Mono SemiBold"/>
              <a:sym typeface="Roboto Mono SemiBold"/>
            </a:endParaRPr>
          </a:p>
          <a:p>
            <a:pPr indent="0" lvl="0" marL="0" rtl="0" algn="l">
              <a:spcBef>
                <a:spcPts val="0"/>
              </a:spcBef>
              <a:spcAft>
                <a:spcPts val="0"/>
              </a:spcAft>
              <a:buNone/>
            </a:pPr>
            <a:r>
              <a:t/>
            </a:r>
            <a:endParaRPr sz="1700"/>
          </a:p>
        </p:txBody>
      </p:sp>
      <p:sp>
        <p:nvSpPr>
          <p:cNvPr id="248" name="Google Shape;248;p38"/>
          <p:cNvSpPr txBox="1"/>
          <p:nvPr/>
        </p:nvSpPr>
        <p:spPr>
          <a:xfrm>
            <a:off x="2693700" y="794400"/>
            <a:ext cx="563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0080D4"/>
                </a:solidFill>
              </a:rPr>
              <a:t>since 2.35</a:t>
            </a:r>
            <a:endParaRPr>
              <a:solidFill>
                <a:srgbClr val="0080D4"/>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254" name="Google Shape;254;p39"/>
          <p:cNvSpPr txBox="1"/>
          <p:nvPr>
            <p:ph type="title"/>
          </p:nvPr>
        </p:nvSpPr>
        <p:spPr>
          <a:xfrm>
            <a:off x="995650" y="445025"/>
            <a:ext cx="7836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EPI Categories</a:t>
            </a:r>
            <a:endParaRPr/>
          </a:p>
        </p:txBody>
      </p:sp>
      <p:sp>
        <p:nvSpPr>
          <p:cNvPr id="255" name="Google Shape;255;p39"/>
          <p:cNvSpPr txBox="1"/>
          <p:nvPr>
            <p:ph idx="1" type="body"/>
          </p:nvPr>
        </p:nvSpPr>
        <p:spPr>
          <a:xfrm>
            <a:off x="995650" y="1152475"/>
            <a:ext cx="5465100" cy="322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Relationship  between DPT 1 to 3 dropout rate  and DPT coverage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Category 1: Cov &gt;= 90 &amp; DR &lt;=10</a:t>
            </a:r>
            <a:endParaRPr/>
          </a:p>
          <a:p>
            <a:pPr indent="0" lvl="0" marL="0" rtl="0" algn="l">
              <a:spcBef>
                <a:spcPts val="0"/>
              </a:spcBef>
              <a:spcAft>
                <a:spcPts val="0"/>
              </a:spcAft>
              <a:buNone/>
            </a:pPr>
            <a:r>
              <a:rPr lang="en"/>
              <a:t>Category 2: Cov &gt;= 90 &amp; DR &gt; 10</a:t>
            </a:r>
            <a:br>
              <a:rPr lang="en"/>
            </a:br>
            <a:r>
              <a:rPr lang="en"/>
              <a:t>Category 3: Cov &lt; 90 &amp; DR &lt; 10</a:t>
            </a:r>
            <a:endParaRPr/>
          </a:p>
          <a:p>
            <a:pPr indent="0" lvl="0" marL="0" rtl="0" algn="l">
              <a:spcBef>
                <a:spcPts val="0"/>
              </a:spcBef>
              <a:spcAft>
                <a:spcPts val="0"/>
              </a:spcAft>
              <a:buClr>
                <a:schemeClr val="dk1"/>
              </a:buClr>
              <a:buSzPts val="1100"/>
              <a:buFont typeface="Arial"/>
              <a:buNone/>
            </a:pPr>
            <a:r>
              <a:rPr lang="en"/>
              <a:t>Category 4: Cov &lt; 90 &amp; DR &gt;= 10</a:t>
            </a:r>
            <a:endParaRPr/>
          </a:p>
        </p:txBody>
      </p:sp>
      <p:pic>
        <p:nvPicPr>
          <p:cNvPr id="256" name="Google Shape;256;p39"/>
          <p:cNvPicPr preferRelativeResize="0"/>
          <p:nvPr/>
        </p:nvPicPr>
        <p:blipFill rotWithShape="1">
          <a:blip r:embed="rId3">
            <a:alphaModFix/>
          </a:blip>
          <a:srcRect b="0" l="0" r="12157" t="0"/>
          <a:stretch/>
        </p:blipFill>
        <p:spPr>
          <a:xfrm>
            <a:off x="799700" y="3209250"/>
            <a:ext cx="8032548" cy="1763600"/>
          </a:xfrm>
          <a:prstGeom prst="rect">
            <a:avLst/>
          </a:prstGeom>
          <a:noFill/>
          <a:ln>
            <a:noFill/>
          </a:ln>
          <a:effectLst>
            <a:outerShdw blurRad="57150" rotWithShape="0" algn="bl" dir="5400000" dist="19050">
              <a:srgbClr val="000000">
                <a:alpha val="50000"/>
              </a:srgbClr>
            </a:outerShdw>
          </a:effectLst>
        </p:spPr>
      </p:pic>
      <p:pic>
        <p:nvPicPr>
          <p:cNvPr id="257" name="Google Shape;257;p39"/>
          <p:cNvPicPr preferRelativeResize="0"/>
          <p:nvPr/>
        </p:nvPicPr>
        <p:blipFill>
          <a:blip r:embed="rId4">
            <a:alphaModFix/>
          </a:blip>
          <a:stretch>
            <a:fillRect/>
          </a:stretch>
        </p:blipFill>
        <p:spPr>
          <a:xfrm>
            <a:off x="4261600" y="1692549"/>
            <a:ext cx="4631725" cy="2551676"/>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263" name="Google Shape;263;p40"/>
          <p:cNvSpPr txBox="1"/>
          <p:nvPr>
            <p:ph type="title"/>
          </p:nvPr>
        </p:nvSpPr>
        <p:spPr>
          <a:xfrm>
            <a:off x="919450" y="445025"/>
            <a:ext cx="7836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a:t>
            </a:r>
            <a:endParaRPr/>
          </a:p>
        </p:txBody>
      </p:sp>
      <p:sp>
        <p:nvSpPr>
          <p:cNvPr id="264" name="Google Shape;264;p40"/>
          <p:cNvSpPr txBox="1"/>
          <p:nvPr>
            <p:ph idx="1" type="body"/>
          </p:nvPr>
        </p:nvSpPr>
        <p:spPr>
          <a:xfrm>
            <a:off x="928700" y="1281400"/>
            <a:ext cx="8034300" cy="37296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Clr>
                <a:schemeClr val="dk1"/>
              </a:buClr>
              <a:buSzPts val="1100"/>
              <a:buFont typeface="Arial"/>
              <a:buNone/>
            </a:pPr>
            <a:r>
              <a:rPr lang="en" sz="1700">
                <a:solidFill>
                  <a:srgbClr val="38761D"/>
                </a:solidFill>
                <a:latin typeface="Roboto Mono SemiBold"/>
                <a:ea typeface="Roboto Mono SemiBold"/>
                <a:cs typeface="Roboto Mono SemiBold"/>
                <a:sym typeface="Roboto Mono SemiBold"/>
              </a:rPr>
              <a:t>if( test, resultIfTrue, resultIfFalse )</a:t>
            </a:r>
            <a:endParaRPr sz="1700">
              <a:solidFill>
                <a:srgbClr val="38761D"/>
              </a:solidFill>
              <a:latin typeface="Roboto Mono SemiBold"/>
              <a:ea typeface="Roboto Mono SemiBold"/>
              <a:cs typeface="Roboto Mono SemiBold"/>
              <a:sym typeface="Roboto Mono SemiBold"/>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700"/>
              <a:t>Example 1: return 1 if positive, else 0</a:t>
            </a:r>
            <a:endParaRPr sz="1700"/>
          </a:p>
          <a:p>
            <a:pPr indent="0" lvl="0" marL="0" rtl="0" algn="l">
              <a:spcBef>
                <a:spcPts val="0"/>
              </a:spcBef>
              <a:spcAft>
                <a:spcPts val="0"/>
              </a:spcAft>
              <a:buNone/>
            </a:pPr>
            <a:r>
              <a:t/>
            </a:r>
            <a:endParaRPr sz="1200"/>
          </a:p>
          <a:p>
            <a:pPr indent="457200" lvl="0" marL="0" rtl="0" algn="l">
              <a:spcBef>
                <a:spcPts val="0"/>
              </a:spcBef>
              <a:spcAft>
                <a:spcPts val="0"/>
              </a:spcAft>
              <a:buClr>
                <a:schemeClr val="dk1"/>
              </a:buClr>
              <a:buSzPts val="1100"/>
              <a:buFont typeface="Arial"/>
              <a:buNone/>
            </a:pPr>
            <a:r>
              <a:rPr lang="en" sz="1700">
                <a:solidFill>
                  <a:srgbClr val="38761D"/>
                </a:solidFill>
                <a:latin typeface="Roboto Mono SemiBold"/>
                <a:ea typeface="Roboto Mono SemiBold"/>
                <a:cs typeface="Roboto Mono SemiBold"/>
                <a:sym typeface="Roboto Mono SemiBold"/>
              </a:rPr>
              <a:t>if( #{Emah4iezieW} &gt; 0, 1, 0 )</a:t>
            </a:r>
            <a:endParaRPr sz="1700"/>
          </a:p>
          <a:p>
            <a:pPr indent="0" lvl="0" marL="0" rtl="0" algn="l">
              <a:spcBef>
                <a:spcPts val="0"/>
              </a:spcBef>
              <a:spcAft>
                <a:spcPts val="0"/>
              </a:spcAft>
              <a:buNone/>
            </a:pPr>
            <a:r>
              <a:t/>
            </a:r>
            <a:endParaRPr sz="1200"/>
          </a:p>
          <a:p>
            <a:pPr indent="0" lvl="0" marL="0" rtl="0" algn="l">
              <a:spcBef>
                <a:spcPts val="0"/>
              </a:spcBef>
              <a:spcAft>
                <a:spcPts val="0"/>
              </a:spcAft>
              <a:buClr>
                <a:schemeClr val="dk1"/>
              </a:buClr>
              <a:buSzPts val="1100"/>
              <a:buFont typeface="Arial"/>
              <a:buNone/>
            </a:pPr>
            <a:r>
              <a:rPr lang="en" sz="1700"/>
              <a:t>Example 2: EPI Categories relating dropout rate and coverage</a:t>
            </a:r>
            <a:endParaRPr sz="17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lang="en" sz="1700">
                <a:solidFill>
                  <a:srgbClr val="38761D"/>
                </a:solidFill>
                <a:latin typeface="Roboto Mono SemiBold"/>
                <a:ea typeface="Roboto Mono SemiBold"/>
                <a:cs typeface="Roboto Mono SemiBold"/>
                <a:sym typeface="Roboto Mono SemiBold"/>
              </a:rPr>
              <a:t>if(N{ccFcqCkznCR} &lt;= 10 &amp;&amp; N{qLpl4igiQWk} &gt;= 90, 1, if(N{ccFcqCkznCR} &gt;  10 &amp;&amp; N{qLpl4igiQWk} &gt;= 90, 2, if(N{ccFcqCkznCR} &lt;  10 &amp;&amp; N{qLpl4igiQWk}  &lt; 90, 3, if(N{ccFcqCkznCR} &gt;= 10 &amp;&amp; N{qLpl4igiQWk}  &lt; 90, 4, 0) ) ) )</a:t>
            </a:r>
            <a:endParaRPr sz="1700">
              <a:solidFill>
                <a:srgbClr val="38761D"/>
              </a:solidFill>
              <a:latin typeface="Roboto Mono SemiBold"/>
              <a:ea typeface="Roboto Mono SemiBold"/>
              <a:cs typeface="Roboto Mono SemiBold"/>
              <a:sym typeface="Roboto Mono SemiBold"/>
            </a:endParaRPr>
          </a:p>
          <a:p>
            <a:pPr indent="0" lvl="0" marL="0" rtl="0" algn="l">
              <a:spcBef>
                <a:spcPts val="0"/>
              </a:spcBef>
              <a:spcAft>
                <a:spcPts val="0"/>
              </a:spcAft>
              <a:buNone/>
            </a:pPr>
            <a:r>
              <a:t/>
            </a:r>
            <a:endParaRPr sz="1700"/>
          </a:p>
        </p:txBody>
      </p:sp>
      <p:sp>
        <p:nvSpPr>
          <p:cNvPr id="265" name="Google Shape;265;p40"/>
          <p:cNvSpPr txBox="1"/>
          <p:nvPr/>
        </p:nvSpPr>
        <p:spPr>
          <a:xfrm>
            <a:off x="2130650" y="779175"/>
            <a:ext cx="563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0080D4"/>
                </a:solidFill>
              </a:rPr>
              <a:t>since 2.34 </a:t>
            </a:r>
            <a:endParaRPr>
              <a:solidFill>
                <a:srgbClr val="0080D4"/>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271" name="Google Shape;271;p41"/>
          <p:cNvSpPr txBox="1"/>
          <p:nvPr>
            <p:ph type="title"/>
          </p:nvPr>
        </p:nvSpPr>
        <p:spPr>
          <a:xfrm>
            <a:off x="919450" y="445025"/>
            <a:ext cx="7836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.yearToDate</a:t>
            </a:r>
            <a:endParaRPr/>
          </a:p>
        </p:txBody>
      </p:sp>
      <p:sp>
        <p:nvSpPr>
          <p:cNvPr id="272" name="Google Shape;272;p41"/>
          <p:cNvSpPr txBox="1"/>
          <p:nvPr>
            <p:ph idx="1" type="body"/>
          </p:nvPr>
        </p:nvSpPr>
        <p:spPr>
          <a:xfrm>
            <a:off x="919450" y="1322625"/>
            <a:ext cx="3477600" cy="3485700"/>
          </a:xfrm>
          <a:prstGeom prst="rect">
            <a:avLst/>
          </a:prstGeom>
        </p:spPr>
        <p:txBody>
          <a:bodyPr anchorCtr="0" anchor="t" bIns="91425" lIns="91425" spcFirstLastPara="1" rIns="91425" wrap="square" tIns="91425">
            <a:noAutofit/>
          </a:bodyPr>
          <a:lstStyle/>
          <a:p>
            <a:pPr indent="0" lvl="0" marL="0" rtl="0" algn="l">
              <a:lnSpc>
                <a:spcPct val="19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How do you know if you are on track to deliver your vaccination targets for the year? </a:t>
            </a:r>
            <a:endParaRPr sz="1700">
              <a:solidFill>
                <a:srgbClr val="38761D"/>
              </a:solidFill>
              <a:latin typeface="Roboto Mono SemiBold"/>
              <a:ea typeface="Roboto Mono SemiBold"/>
              <a:cs typeface="Roboto Mono SemiBold"/>
              <a:sym typeface="Roboto Mono SemiBold"/>
            </a:endParaRPr>
          </a:p>
          <a:p>
            <a:pPr indent="0" lvl="0" marL="0" rtl="0" algn="l">
              <a:lnSpc>
                <a:spcPct val="190000"/>
              </a:lnSpc>
              <a:spcBef>
                <a:spcPts val="0"/>
              </a:spcBef>
              <a:spcAft>
                <a:spcPts val="0"/>
              </a:spcAft>
              <a:buNone/>
            </a:pPr>
            <a:r>
              <a:t/>
            </a:r>
            <a:endParaRPr sz="1700">
              <a:solidFill>
                <a:srgbClr val="38761D"/>
              </a:solidFill>
              <a:latin typeface="Roboto Mono SemiBold"/>
              <a:ea typeface="Roboto Mono SemiBold"/>
              <a:cs typeface="Roboto Mono SemiBold"/>
              <a:sym typeface="Roboto Mono SemiBold"/>
            </a:endParaRPr>
          </a:p>
        </p:txBody>
      </p:sp>
      <p:sp>
        <p:nvSpPr>
          <p:cNvPr id="273" name="Google Shape;273;p41"/>
          <p:cNvSpPr txBox="1"/>
          <p:nvPr/>
        </p:nvSpPr>
        <p:spPr>
          <a:xfrm>
            <a:off x="3121250" y="824700"/>
            <a:ext cx="563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0080D4"/>
                </a:solidFill>
              </a:rPr>
              <a:t>indicators since 2.39</a:t>
            </a:r>
            <a:endParaRPr>
              <a:solidFill>
                <a:srgbClr val="0080D4"/>
              </a:solidFill>
            </a:endParaRPr>
          </a:p>
        </p:txBody>
      </p:sp>
      <p:pic>
        <p:nvPicPr>
          <p:cNvPr id="274" name="Google Shape;274;p41"/>
          <p:cNvPicPr preferRelativeResize="0"/>
          <p:nvPr/>
        </p:nvPicPr>
        <p:blipFill>
          <a:blip r:embed="rId3">
            <a:alphaModFix/>
          </a:blip>
          <a:stretch>
            <a:fillRect/>
          </a:stretch>
        </p:blipFill>
        <p:spPr>
          <a:xfrm>
            <a:off x="4545150" y="1386975"/>
            <a:ext cx="4475999" cy="33569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280" name="Google Shape;280;p42"/>
          <p:cNvSpPr txBox="1"/>
          <p:nvPr>
            <p:ph type="title"/>
          </p:nvPr>
        </p:nvSpPr>
        <p:spPr>
          <a:xfrm>
            <a:off x="919450" y="445025"/>
            <a:ext cx="7836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.yearToDate</a:t>
            </a:r>
            <a:endParaRPr/>
          </a:p>
        </p:txBody>
      </p:sp>
      <p:sp>
        <p:nvSpPr>
          <p:cNvPr id="281" name="Google Shape;281;p42"/>
          <p:cNvSpPr txBox="1"/>
          <p:nvPr>
            <p:ph idx="1" type="body"/>
          </p:nvPr>
        </p:nvSpPr>
        <p:spPr>
          <a:xfrm>
            <a:off x="919450" y="1322625"/>
            <a:ext cx="8230800" cy="3485700"/>
          </a:xfrm>
          <a:prstGeom prst="rect">
            <a:avLst/>
          </a:prstGeom>
        </p:spPr>
        <p:txBody>
          <a:bodyPr anchorCtr="0" anchor="t" bIns="91425" lIns="91425" spcFirstLastPara="1" rIns="91425" wrap="square" tIns="91425">
            <a:noAutofit/>
          </a:bodyPr>
          <a:lstStyle/>
          <a:p>
            <a:pPr indent="0" lvl="0" marL="0" rtl="0" algn="l">
              <a:lnSpc>
                <a:spcPct val="190000"/>
              </a:lnSpc>
              <a:spcBef>
                <a:spcPts val="0"/>
              </a:spcBef>
              <a:spcAft>
                <a:spcPts val="0"/>
              </a:spcAft>
              <a:buNone/>
            </a:pPr>
            <a:r>
              <a:rPr lang="en" sz="1700"/>
              <a:t>Sums data within calendar year</a:t>
            </a:r>
            <a:endParaRPr sz="1700"/>
          </a:p>
          <a:p>
            <a:pPr indent="0" lvl="0" marL="0" rtl="0" algn="l">
              <a:lnSpc>
                <a:spcPct val="190000"/>
              </a:lnSpc>
              <a:spcBef>
                <a:spcPts val="0"/>
              </a:spcBef>
              <a:spcAft>
                <a:spcPts val="0"/>
              </a:spcAft>
              <a:buNone/>
            </a:pPr>
            <a:r>
              <a:rPr lang="en" sz="1700"/>
              <a:t>Example 1: Sum year to date</a:t>
            </a:r>
            <a:endParaRPr sz="1700"/>
          </a:p>
          <a:p>
            <a:pPr indent="457200" lvl="0" marL="0" rtl="0" algn="l">
              <a:lnSpc>
                <a:spcPct val="19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#{gaph0mia8Io}.yearToDate()</a:t>
            </a:r>
            <a:endParaRPr sz="1700"/>
          </a:p>
          <a:p>
            <a:pPr indent="0" lvl="0" marL="0" rtl="0" algn="l">
              <a:lnSpc>
                <a:spcPct val="190000"/>
              </a:lnSpc>
              <a:spcBef>
                <a:spcPts val="0"/>
              </a:spcBef>
              <a:spcAft>
                <a:spcPts val="0"/>
              </a:spcAft>
              <a:buNone/>
            </a:pPr>
            <a:r>
              <a:rPr lang="en" sz="1700"/>
              <a:t>Example 2: Average year to date</a:t>
            </a:r>
            <a:endParaRPr sz="1700"/>
          </a:p>
          <a:p>
            <a:pPr indent="457200" lvl="0" marL="0" rtl="0" algn="l">
              <a:lnSpc>
                <a:spcPct val="19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#{gaph0mia8Io}.yearToDate() / [periodInYear]</a:t>
            </a:r>
            <a:endParaRPr sz="1700"/>
          </a:p>
          <a:p>
            <a:pPr indent="0" lvl="0" marL="0" rtl="0" algn="l">
              <a:lnSpc>
                <a:spcPct val="190000"/>
              </a:lnSpc>
              <a:spcBef>
                <a:spcPts val="0"/>
              </a:spcBef>
              <a:spcAft>
                <a:spcPts val="0"/>
              </a:spcAft>
              <a:buNone/>
            </a:pPr>
            <a:r>
              <a:rPr lang="en" sz="1700"/>
              <a:t>Example 3: Expected year to date </a:t>
            </a:r>
            <a:r>
              <a:rPr i="1" lang="en" sz="1700"/>
              <a:t>(e.g. 1/12th of population each month)</a:t>
            </a:r>
            <a:endParaRPr i="1" sz="1700"/>
          </a:p>
          <a:p>
            <a:pPr indent="457200" lvl="0" marL="0" rtl="0" algn="l">
              <a:lnSpc>
                <a:spcPct val="190000"/>
              </a:lnSpc>
              <a:spcBef>
                <a:spcPts val="0"/>
              </a:spcBef>
              <a:spcAft>
                <a:spcPts val="0"/>
              </a:spcAft>
              <a:buNone/>
            </a:pPr>
            <a:r>
              <a:rPr lang="en" sz="1700">
                <a:solidFill>
                  <a:srgbClr val="38761D"/>
                </a:solidFill>
                <a:latin typeface="Roboto Mono SemiBold"/>
                <a:ea typeface="Roboto Mono SemiBold"/>
                <a:cs typeface="Roboto Mono SemiBold"/>
                <a:sym typeface="Roboto Mono SemiBold"/>
              </a:rPr>
              <a:t>#{TYaw1AiBa7x} * [periodInYear] / [yearlyPeriodCount]</a:t>
            </a:r>
            <a:endParaRPr sz="1700">
              <a:solidFill>
                <a:srgbClr val="38761D"/>
              </a:solidFill>
              <a:latin typeface="Roboto Mono SemiBold"/>
              <a:ea typeface="Roboto Mono SemiBold"/>
              <a:cs typeface="Roboto Mono SemiBold"/>
              <a:sym typeface="Roboto Mono SemiBold"/>
            </a:endParaRPr>
          </a:p>
        </p:txBody>
      </p:sp>
      <p:sp>
        <p:nvSpPr>
          <p:cNvPr id="282" name="Google Shape;282;p42"/>
          <p:cNvSpPr txBox="1"/>
          <p:nvPr/>
        </p:nvSpPr>
        <p:spPr>
          <a:xfrm>
            <a:off x="3121250" y="824700"/>
            <a:ext cx="563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0080D4"/>
                </a:solidFill>
              </a:rPr>
              <a:t>indicators since 2.39</a:t>
            </a:r>
            <a:endParaRPr>
              <a:solidFill>
                <a:srgbClr val="0080D4"/>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3"/>
          <p:cNvSpPr txBox="1"/>
          <p:nvPr>
            <p:ph type="ctrTitle"/>
          </p:nvPr>
        </p:nvSpPr>
        <p:spPr>
          <a:xfrm>
            <a:off x="1504565" y="1177714"/>
            <a:ext cx="6219300" cy="177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Advanced Indicator Calculations</a:t>
            </a:r>
            <a:endParaRPr/>
          </a:p>
        </p:txBody>
      </p:sp>
      <p:sp>
        <p:nvSpPr>
          <p:cNvPr id="288" name="Google Shape;288;p43"/>
          <p:cNvSpPr txBox="1"/>
          <p:nvPr/>
        </p:nvSpPr>
        <p:spPr>
          <a:xfrm>
            <a:off x="1428375" y="3453825"/>
            <a:ext cx="1945500" cy="976800"/>
          </a:xfrm>
          <a:prstGeom prst="rect">
            <a:avLst/>
          </a:prstGeom>
          <a:noFill/>
          <a:ln>
            <a:noFill/>
          </a:ln>
        </p:spPr>
        <p:txBody>
          <a:bodyPr anchorCtr="0" anchor="t" bIns="0" lIns="0" spcFirstLastPara="1" rIns="0" wrap="square" tIns="0">
            <a:noAutofit/>
          </a:bodyPr>
          <a:lstStyle/>
          <a:p>
            <a:pPr indent="0" lvl="0" marL="114300" rtl="0" algn="l">
              <a:lnSpc>
                <a:spcPct val="115000"/>
              </a:lnSpc>
              <a:spcBef>
                <a:spcPts val="0"/>
              </a:spcBef>
              <a:spcAft>
                <a:spcPts val="0"/>
              </a:spcAft>
              <a:buNone/>
            </a:pPr>
            <a:r>
              <a:rPr lang="en" sz="1700">
                <a:solidFill>
                  <a:srgbClr val="011529"/>
                </a:solidFill>
                <a:latin typeface="Rubik"/>
                <a:ea typeface="Rubik"/>
                <a:cs typeface="Rubik"/>
                <a:sym typeface="Rubik"/>
              </a:rPr>
              <a:t>Jim Grace	       </a:t>
            </a:r>
            <a:endParaRPr sz="1700">
              <a:solidFill>
                <a:srgbClr val="011529"/>
              </a:solidFill>
              <a:latin typeface="Rubik"/>
              <a:ea typeface="Rubik"/>
              <a:cs typeface="Rubik"/>
              <a:sym typeface="Rubik"/>
            </a:endParaRPr>
          </a:p>
          <a:p>
            <a:pPr indent="0" lvl="0" marL="114300" rtl="0" algn="l">
              <a:lnSpc>
                <a:spcPct val="115000"/>
              </a:lnSpc>
              <a:spcBef>
                <a:spcPts val="0"/>
              </a:spcBef>
              <a:spcAft>
                <a:spcPts val="0"/>
              </a:spcAft>
              <a:buNone/>
            </a:pPr>
            <a:r>
              <a:rPr lang="en" sz="1700">
                <a:solidFill>
                  <a:srgbClr val="011529"/>
                </a:solidFill>
                <a:latin typeface="Rubik"/>
                <a:ea typeface="Rubik"/>
                <a:cs typeface="Rubik"/>
                <a:sym typeface="Rubik"/>
              </a:rPr>
              <a:t>Scott Russpatrick</a:t>
            </a:r>
            <a:endParaRPr sz="1700">
              <a:solidFill>
                <a:srgbClr val="011529"/>
              </a:solidFill>
              <a:latin typeface="Rubik"/>
              <a:ea typeface="Rubik"/>
              <a:cs typeface="Rubik"/>
              <a:sym typeface="Rubik"/>
            </a:endParaRPr>
          </a:p>
        </p:txBody>
      </p:sp>
      <p:sp>
        <p:nvSpPr>
          <p:cNvPr id="289" name="Google Shape;289;p43"/>
          <p:cNvSpPr txBox="1"/>
          <p:nvPr/>
        </p:nvSpPr>
        <p:spPr>
          <a:xfrm>
            <a:off x="5231471" y="3453825"/>
            <a:ext cx="3393300" cy="9768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0"/>
              </a:spcAft>
              <a:buNone/>
            </a:pPr>
            <a:r>
              <a:rPr lang="en" sz="1700">
                <a:solidFill>
                  <a:srgbClr val="011529"/>
                </a:solidFill>
                <a:latin typeface="Rubik"/>
                <a:ea typeface="Rubik"/>
                <a:cs typeface="Rubik"/>
                <a:sym typeface="Rubik"/>
              </a:rPr>
              <a:t>DHIS2 Annual Conference</a:t>
            </a:r>
            <a:endParaRPr sz="1700">
              <a:solidFill>
                <a:srgbClr val="011529"/>
              </a:solidFill>
              <a:latin typeface="Rubik"/>
              <a:ea typeface="Rubik"/>
              <a:cs typeface="Rubik"/>
              <a:sym typeface="Rubik"/>
            </a:endParaRPr>
          </a:p>
          <a:p>
            <a:pPr indent="0" lvl="0" marL="0" rtl="0" algn="r">
              <a:lnSpc>
                <a:spcPct val="115000"/>
              </a:lnSpc>
              <a:spcBef>
                <a:spcPts val="0"/>
              </a:spcBef>
              <a:spcAft>
                <a:spcPts val="0"/>
              </a:spcAft>
              <a:buNone/>
            </a:pPr>
            <a:r>
              <a:rPr lang="en" sz="1700">
                <a:solidFill>
                  <a:srgbClr val="011529"/>
                </a:solidFill>
                <a:latin typeface="Rubik"/>
                <a:ea typeface="Rubik"/>
                <a:cs typeface="Rubik"/>
                <a:sym typeface="Rubik"/>
              </a:rPr>
              <a:t>June 12, 2024</a:t>
            </a:r>
            <a:endParaRPr sz="1700">
              <a:solidFill>
                <a:srgbClr val="011529"/>
              </a:solidFill>
              <a:latin typeface="Rubik"/>
              <a:ea typeface="Rubik"/>
              <a:cs typeface="Rubik"/>
              <a:sym typeface="Rubik"/>
            </a:endParaRPr>
          </a:p>
        </p:txBody>
      </p:sp>
      <p:sp>
        <p:nvSpPr>
          <p:cNvPr id="290" name="Google Shape;290;p43"/>
          <p:cNvSpPr txBox="1"/>
          <p:nvPr/>
        </p:nvSpPr>
        <p:spPr>
          <a:xfrm>
            <a:off x="3379125" y="3453825"/>
            <a:ext cx="1945500" cy="976800"/>
          </a:xfrm>
          <a:prstGeom prst="rect">
            <a:avLst/>
          </a:prstGeom>
          <a:noFill/>
          <a:ln>
            <a:noFill/>
          </a:ln>
        </p:spPr>
        <p:txBody>
          <a:bodyPr anchorCtr="0" anchor="t" bIns="0" lIns="0" spcFirstLastPara="1" rIns="0" wrap="square" tIns="0">
            <a:noAutofit/>
          </a:bodyPr>
          <a:lstStyle/>
          <a:p>
            <a:pPr indent="0" lvl="0" marL="114300" rtl="0" algn="r">
              <a:lnSpc>
                <a:spcPct val="115000"/>
              </a:lnSpc>
              <a:spcBef>
                <a:spcPts val="0"/>
              </a:spcBef>
              <a:spcAft>
                <a:spcPts val="0"/>
              </a:spcAft>
              <a:buNone/>
            </a:pPr>
            <a:r>
              <a:rPr lang="en" sz="1700">
                <a:solidFill>
                  <a:srgbClr val="0080D4"/>
                </a:solidFill>
                <a:latin typeface="Rubik"/>
                <a:ea typeface="Rubik"/>
                <a:cs typeface="Rubik"/>
                <a:sym typeface="Rubik"/>
              </a:rPr>
              <a:t>jim@dhis2.org</a:t>
            </a:r>
            <a:endParaRPr sz="1700">
              <a:solidFill>
                <a:srgbClr val="0080D4"/>
              </a:solidFill>
              <a:latin typeface="Rubik"/>
              <a:ea typeface="Rubik"/>
              <a:cs typeface="Rubik"/>
              <a:sym typeface="Rubik"/>
            </a:endParaRPr>
          </a:p>
          <a:p>
            <a:pPr indent="0" lvl="0" marL="114300" rtl="0" algn="r">
              <a:lnSpc>
                <a:spcPct val="115000"/>
              </a:lnSpc>
              <a:spcBef>
                <a:spcPts val="0"/>
              </a:spcBef>
              <a:spcAft>
                <a:spcPts val="0"/>
              </a:spcAft>
              <a:buNone/>
            </a:pPr>
            <a:r>
              <a:rPr lang="en" sz="1700">
                <a:solidFill>
                  <a:srgbClr val="0080D4"/>
                </a:solidFill>
                <a:latin typeface="Rubik"/>
                <a:ea typeface="Rubik"/>
                <a:cs typeface="Rubik"/>
                <a:sym typeface="Rubik"/>
              </a:rPr>
              <a:t>scott@dhis2.org</a:t>
            </a:r>
            <a:endParaRPr sz="1700">
              <a:solidFill>
                <a:srgbClr val="0080D4"/>
              </a:solidFill>
              <a:latin typeface="Rubik"/>
              <a:ea typeface="Rubik"/>
              <a:cs typeface="Rubik"/>
              <a:sym typeface="Rubik"/>
            </a:endParaRPr>
          </a:p>
        </p:txBody>
      </p:sp>
      <p:sp>
        <p:nvSpPr>
          <p:cNvPr id="291" name="Google Shape;291;p43"/>
          <p:cNvSpPr txBox="1"/>
          <p:nvPr/>
        </p:nvSpPr>
        <p:spPr>
          <a:xfrm>
            <a:off x="2373300" y="2226525"/>
            <a:ext cx="4464900" cy="604200"/>
          </a:xfrm>
          <a:prstGeom prst="rect">
            <a:avLst/>
          </a:prstGeom>
          <a:noFill/>
          <a:ln>
            <a:noFill/>
          </a:ln>
        </p:spPr>
        <p:txBody>
          <a:bodyPr anchorCtr="0" anchor="t" bIns="0" lIns="0" spcFirstLastPara="1" rIns="0" wrap="square" tIns="0">
            <a:noAutofit/>
          </a:bodyPr>
          <a:lstStyle/>
          <a:p>
            <a:pPr indent="0" lvl="0" marL="114300" marR="0" rtl="0" algn="ctr">
              <a:lnSpc>
                <a:spcPct val="115000"/>
              </a:lnSpc>
              <a:spcBef>
                <a:spcPts val="0"/>
              </a:spcBef>
              <a:spcAft>
                <a:spcPts val="0"/>
              </a:spcAft>
              <a:buNone/>
            </a:pPr>
            <a:r>
              <a:rPr i="1" lang="en" sz="2900">
                <a:solidFill>
                  <a:srgbClr val="011529"/>
                </a:solidFill>
                <a:latin typeface="Rubik"/>
                <a:ea typeface="Rubik"/>
                <a:cs typeface="Rubik"/>
                <a:sym typeface="Rubik"/>
              </a:rPr>
              <a:t>End of e</a:t>
            </a:r>
            <a:r>
              <a:rPr i="1" lang="en" sz="2900">
                <a:solidFill>
                  <a:srgbClr val="011529"/>
                </a:solidFill>
                <a:latin typeface="Rubik"/>
                <a:ea typeface="Rubik"/>
                <a:cs typeface="Rubik"/>
                <a:sym typeface="Rubik"/>
              </a:rPr>
              <a:t>xtra content</a:t>
            </a:r>
            <a:endParaRPr i="1" sz="2900">
              <a:solidFill>
                <a:srgbClr val="011529"/>
              </a:solidFill>
              <a:latin typeface="Rubik"/>
              <a:ea typeface="Rubik"/>
              <a:cs typeface="Rubik"/>
              <a:sym typeface="Rubik"/>
            </a:endParaRPr>
          </a:p>
        </p:txBody>
      </p:sp>
    </p:spTree>
  </p:cSld>
  <p:clrMapOvr>
    <a:masterClrMapping/>
  </p:clrMapOvr>
</p:sld>
</file>

<file path=ppt/theme/theme1.xml><?xml version="1.0" encoding="utf-8"?>
<a:theme xmlns:a="http://schemas.openxmlformats.org/drawingml/2006/main" xmlns:r="http://schemas.openxmlformats.org/officeDocument/2006/relationships" name="DAC with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